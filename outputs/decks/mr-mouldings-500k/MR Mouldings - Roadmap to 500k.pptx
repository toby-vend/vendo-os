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822960"/>
            <a:ext cx="7315200" cy="182880"/>
          </a:xfrm>
          <a:prstGeom prst="rect">
            <a:avLst/>
          </a:prstGeom>
          <a:noFill/>
        </p:spPr>
        <p:txBody>
          <a:bodyPr wrap="square" lIns="0" rIns="0" tIns="0" bIns="0" anchor="t">
            <a:spAutoFit/>
          </a:bodyPr>
          <a:lstStyle/>
          <a:p>
            <a:pPr algn="l"/>
            <a:r>
              <a:rPr sz="1000" b="1" i="0" spc="160">
                <a:solidFill>
                  <a:srgbClr val="8EFEBB"/>
                </a:solidFill>
                <a:latin typeface="Manrope"/>
              </a:rPr>
              <a:t>STRATEGY PRESENTATION · 25 SEPTEMBER 2026</a:t>
            </a:r>
          </a:p>
        </p:txBody>
      </p:sp>
      <p:sp>
        <p:nvSpPr>
          <p:cNvPr id="5" name="TextBox 4"/>
          <p:cNvSpPr txBox="1"/>
          <p:nvPr/>
        </p:nvSpPr>
        <p:spPr>
          <a:xfrm>
            <a:off x="749808" y="1234440"/>
            <a:ext cx="10424160" cy="1737360"/>
          </a:xfrm>
          <a:prstGeom prst="rect">
            <a:avLst/>
          </a:prstGeom>
          <a:noFill/>
        </p:spPr>
        <p:txBody>
          <a:bodyPr wrap="square" lIns="0" rIns="0" tIns="0" bIns="0" anchor="t">
            <a:spAutoFit/>
          </a:bodyPr>
          <a:lstStyle/>
          <a:p>
            <a:pPr algn="l"/>
            <a:r>
              <a:rPr sz="5400" b="1" i="0" spc="-140">
                <a:solidFill>
                  <a:srgbClr val="FFFFFF"/>
                </a:solidFill>
                <a:latin typeface="Manrope"/>
              </a:rPr>
              <a:t>Roadmap to £500k </a:t>
            </a:r>
            <a:r>
              <a:rPr sz="5400" b="1" i="1" spc="-140">
                <a:solidFill>
                  <a:srgbClr val="8EFEBB"/>
                </a:solidFill>
                <a:latin typeface="Instrument Serif"/>
              </a:rPr>
              <a:t>a month</a:t>
            </a:r>
          </a:p>
        </p:txBody>
      </p:sp>
      <p:sp>
        <p:nvSpPr>
          <p:cNvPr id="6" name="TextBox 5"/>
          <p:cNvSpPr txBox="1"/>
          <p:nvPr/>
        </p:nvSpPr>
        <p:spPr>
          <a:xfrm>
            <a:off x="749808" y="3063240"/>
            <a:ext cx="8778240" cy="822960"/>
          </a:xfrm>
          <a:prstGeom prst="rect">
            <a:avLst/>
          </a:prstGeom>
          <a:noFill/>
        </p:spPr>
        <p:txBody>
          <a:bodyPr wrap="square" lIns="0" rIns="0" tIns="0" bIns="0">
            <a:spAutoFit/>
          </a:bodyPr>
          <a:lstStyle/>
          <a:p>
            <a:pPr>
              <a:lnSpc>
                <a:spcPct val="140000"/>
              </a:lnSpc>
              <a:spcAft>
                <a:spcPts val="0"/>
              </a:spcAft>
            </a:pPr>
            <a:r>
              <a:rPr sz="1450" b="0" i="0">
                <a:solidFill>
                  <a:srgbClr val="B9C7C0"/>
                </a:solidFill>
                <a:latin typeface="Manrope"/>
              </a:rPr>
              <a:t>The business has grown 4.36× year on year and the current trajectory reaches £500,000 a month on its own. This is how we protect that trend, then beat it.</a:t>
            </a:r>
          </a:p>
        </p:txBody>
      </p:sp>
      <p:sp>
        <p:nvSpPr>
          <p:cNvPr id="7" name="Rectangle 6"/>
          <p:cNvSpPr/>
          <p:nvPr/>
        </p:nvSpPr>
        <p:spPr>
          <a:xfrm>
            <a:off x="749808" y="4160520"/>
            <a:ext cx="10881360"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389120"/>
            <a:ext cx="2468880" cy="182880"/>
          </a:xfrm>
          <a:prstGeom prst="rect">
            <a:avLst/>
          </a:prstGeom>
          <a:noFill/>
        </p:spPr>
        <p:txBody>
          <a:bodyPr wrap="square" lIns="0" rIns="0" tIns="0" bIns="0" anchor="t">
            <a:spAutoFit/>
          </a:bodyPr>
          <a:lstStyle/>
          <a:p>
            <a:pPr algn="l"/>
            <a:r>
              <a:rPr sz="850" b="1" i="0" spc="160">
                <a:solidFill>
                  <a:srgbClr val="6B7B74"/>
                </a:solidFill>
                <a:latin typeface="Manrope"/>
              </a:rPr>
              <a:t>GROWTH, YEAR ON YEAR</a:t>
            </a:r>
          </a:p>
        </p:txBody>
      </p:sp>
      <p:sp>
        <p:nvSpPr>
          <p:cNvPr id="9" name="TextBox 8"/>
          <p:cNvSpPr txBox="1"/>
          <p:nvPr/>
        </p:nvSpPr>
        <p:spPr>
          <a:xfrm>
            <a:off x="749808" y="4663440"/>
            <a:ext cx="2560320" cy="502920"/>
          </a:xfrm>
          <a:prstGeom prst="rect">
            <a:avLst/>
          </a:prstGeom>
          <a:noFill/>
        </p:spPr>
        <p:txBody>
          <a:bodyPr wrap="square" lIns="0" rIns="0" tIns="0" bIns="0" anchor="t">
            <a:spAutoFit/>
          </a:bodyPr>
          <a:lstStyle/>
          <a:p>
            <a:pPr algn="l"/>
            <a:r>
              <a:rPr sz="2600" b="1" i="0" spc="-60">
                <a:solidFill>
                  <a:srgbClr val="8EFEBB"/>
                </a:solidFill>
                <a:latin typeface="Manrope"/>
              </a:rPr>
              <a:t>4.36×</a:t>
            </a:r>
          </a:p>
        </p:txBody>
      </p:sp>
      <p:sp>
        <p:nvSpPr>
          <p:cNvPr id="10" name="Rectangle 9"/>
          <p:cNvSpPr/>
          <p:nvPr/>
        </p:nvSpPr>
        <p:spPr>
          <a:xfrm>
            <a:off x="3291840" y="4343400"/>
            <a:ext cx="7315" cy="777240"/>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93008" y="4389120"/>
            <a:ext cx="2468880" cy="182880"/>
          </a:xfrm>
          <a:prstGeom prst="rect">
            <a:avLst/>
          </a:prstGeom>
          <a:noFill/>
        </p:spPr>
        <p:txBody>
          <a:bodyPr wrap="square" lIns="0" rIns="0" tIns="0" bIns="0" anchor="t">
            <a:spAutoFit/>
          </a:bodyPr>
          <a:lstStyle/>
          <a:p>
            <a:pPr algn="l"/>
            <a:r>
              <a:rPr sz="850" b="1" i="0" spc="160">
                <a:solidFill>
                  <a:srgbClr val="6B7B74"/>
                </a:solidFill>
                <a:latin typeface="Manrope"/>
              </a:rPr>
              <a:t>AUGUST 2026</a:t>
            </a:r>
          </a:p>
        </p:txBody>
      </p:sp>
      <p:sp>
        <p:nvSpPr>
          <p:cNvPr id="12" name="TextBox 11"/>
          <p:cNvSpPr txBox="1"/>
          <p:nvPr/>
        </p:nvSpPr>
        <p:spPr>
          <a:xfrm>
            <a:off x="3493008" y="4663440"/>
            <a:ext cx="2560320" cy="502920"/>
          </a:xfrm>
          <a:prstGeom prst="rect">
            <a:avLst/>
          </a:prstGeom>
          <a:noFill/>
        </p:spPr>
        <p:txBody>
          <a:bodyPr wrap="square" lIns="0" rIns="0" tIns="0" bIns="0" anchor="t">
            <a:spAutoFit/>
          </a:bodyPr>
          <a:lstStyle/>
          <a:p>
            <a:pPr algn="l"/>
            <a:r>
              <a:rPr sz="2600" b="1" i="0" spc="-60">
                <a:solidFill>
                  <a:srgbClr val="FFFFFF"/>
                </a:solidFill>
                <a:latin typeface="Manrope"/>
              </a:rPr>
              <a:t>£285,850</a:t>
            </a:r>
          </a:p>
        </p:txBody>
      </p:sp>
      <p:sp>
        <p:nvSpPr>
          <p:cNvPr id="13" name="Rectangle 12"/>
          <p:cNvSpPr/>
          <p:nvPr/>
        </p:nvSpPr>
        <p:spPr>
          <a:xfrm>
            <a:off x="6035040" y="4343400"/>
            <a:ext cx="7315" cy="777240"/>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36208" y="4389120"/>
            <a:ext cx="2468880" cy="182880"/>
          </a:xfrm>
          <a:prstGeom prst="rect">
            <a:avLst/>
          </a:prstGeom>
          <a:noFill/>
        </p:spPr>
        <p:txBody>
          <a:bodyPr wrap="square" lIns="0" rIns="0" tIns="0" bIns="0" anchor="t">
            <a:spAutoFit/>
          </a:bodyPr>
          <a:lstStyle/>
          <a:p>
            <a:pPr algn="l"/>
            <a:r>
              <a:rPr sz="850" b="1" i="0" spc="160">
                <a:solidFill>
                  <a:srgbClr val="6B7B74"/>
                </a:solidFill>
                <a:latin typeface="Manrope"/>
              </a:rPr>
              <a:t>TO £500K ON TREND</a:t>
            </a:r>
          </a:p>
        </p:txBody>
      </p:sp>
      <p:sp>
        <p:nvSpPr>
          <p:cNvPr id="15" name="TextBox 14"/>
          <p:cNvSpPr txBox="1"/>
          <p:nvPr/>
        </p:nvSpPr>
        <p:spPr>
          <a:xfrm>
            <a:off x="6236208" y="4663440"/>
            <a:ext cx="2560320" cy="502920"/>
          </a:xfrm>
          <a:prstGeom prst="rect">
            <a:avLst/>
          </a:prstGeom>
          <a:noFill/>
        </p:spPr>
        <p:txBody>
          <a:bodyPr wrap="square" lIns="0" rIns="0" tIns="0" bIns="0" anchor="t">
            <a:spAutoFit/>
          </a:bodyPr>
          <a:lstStyle/>
          <a:p>
            <a:pPr algn="l"/>
            <a:r>
              <a:rPr sz="2600" b="1" i="0" spc="-60">
                <a:solidFill>
                  <a:srgbClr val="FFFFFF"/>
                </a:solidFill>
                <a:latin typeface="Manrope"/>
              </a:rPr>
              <a:t>~14 mths</a:t>
            </a:r>
          </a:p>
        </p:txBody>
      </p:sp>
      <p:sp>
        <p:nvSpPr>
          <p:cNvPr id="16" name="Rectangle 15"/>
          <p:cNvSpPr/>
          <p:nvPr/>
        </p:nvSpPr>
        <p:spPr>
          <a:xfrm>
            <a:off x="8778240" y="4343400"/>
            <a:ext cx="7315" cy="777240"/>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8" y="4389120"/>
            <a:ext cx="2468880" cy="182880"/>
          </a:xfrm>
          <a:prstGeom prst="rect">
            <a:avLst/>
          </a:prstGeom>
          <a:noFill/>
        </p:spPr>
        <p:txBody>
          <a:bodyPr wrap="square" lIns="0" rIns="0" tIns="0" bIns="0" anchor="t">
            <a:spAutoFit/>
          </a:bodyPr>
          <a:lstStyle/>
          <a:p>
            <a:pPr algn="l"/>
            <a:r>
              <a:rPr sz="850" b="1" i="0" spc="160">
                <a:solidFill>
                  <a:srgbClr val="6B7B74"/>
                </a:solidFill>
                <a:latin typeface="Manrope"/>
              </a:rPr>
              <a:t>REPORTED TRAFFIC THAT IS REAL</a:t>
            </a:r>
          </a:p>
        </p:txBody>
      </p:sp>
      <p:sp>
        <p:nvSpPr>
          <p:cNvPr id="18" name="TextBox 17"/>
          <p:cNvSpPr txBox="1"/>
          <p:nvPr/>
        </p:nvSpPr>
        <p:spPr>
          <a:xfrm>
            <a:off x="8979408" y="4663440"/>
            <a:ext cx="2560320" cy="502920"/>
          </a:xfrm>
          <a:prstGeom prst="rect">
            <a:avLst/>
          </a:prstGeom>
          <a:noFill/>
        </p:spPr>
        <p:txBody>
          <a:bodyPr wrap="square" lIns="0" rIns="0" tIns="0" bIns="0" anchor="t">
            <a:spAutoFit/>
          </a:bodyPr>
          <a:lstStyle/>
          <a:p>
            <a:pPr algn="l"/>
            <a:r>
              <a:rPr sz="2600" b="1" i="0" spc="-60">
                <a:solidFill>
                  <a:srgbClr val="8EFEBB"/>
                </a:solidFill>
                <a:latin typeface="Manrope"/>
              </a:rPr>
              <a:t>8%</a:t>
            </a:r>
          </a:p>
        </p:txBody>
      </p:sp>
      <p:sp>
        <p:nvSpPr>
          <p:cNvPr id="19" name="TextBox 18"/>
          <p:cNvSpPr txBox="1"/>
          <p:nvPr/>
        </p:nvSpPr>
        <p:spPr>
          <a:xfrm>
            <a:off x="749808" y="6035040"/>
            <a:ext cx="6400800" cy="274320"/>
          </a:xfrm>
          <a:prstGeom prst="rect">
            <a:avLst/>
          </a:prstGeom>
          <a:noFill/>
        </p:spPr>
        <p:txBody>
          <a:bodyPr wrap="square" lIns="0" rIns="0" tIns="0" bIns="0" anchor="t">
            <a:spAutoFit/>
          </a:bodyPr>
          <a:lstStyle/>
          <a:p>
            <a:pPr algn="l"/>
            <a:r>
              <a:rPr sz="900" b="1" i="0" spc="160">
                <a:solidFill>
                  <a:srgbClr val="6B7B74"/>
                </a:solidFill>
                <a:latin typeface="Manrope"/>
              </a:rPr>
              <a:t>PREPARED FOR ADAM MCGRORY · MR MOULDINGS LTD</a:t>
            </a:r>
          </a:p>
        </p:txBody>
      </p:sp>
      <p:sp>
        <p:nvSpPr>
          <p:cNvPr id="20" name="TextBox 19"/>
          <p:cNvSpPr txBox="1"/>
          <p:nvPr/>
        </p:nvSpPr>
        <p:spPr>
          <a:xfrm>
            <a:off x="10527487" y="6035040"/>
            <a:ext cx="1097280" cy="274320"/>
          </a:xfrm>
          <a:prstGeom prst="rect">
            <a:avLst/>
          </a:prstGeom>
          <a:noFill/>
        </p:spPr>
        <p:txBody>
          <a:bodyPr wrap="square" lIns="0" rIns="0" tIns="0" bIns="0" anchor="t">
            <a:spAutoFit/>
          </a:bodyPr>
          <a:lstStyle/>
          <a:p>
            <a:pPr algn="r"/>
            <a:r>
              <a:rPr sz="900" b="1" i="0">
                <a:solidFill>
                  <a:srgbClr val="6B7B74"/>
                </a:solidFill>
                <a:latin typeface="Manrope"/>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01 · WHERE THE BUSINESS IS</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The business has grown </a:t>
            </a:r>
            <a:r>
              <a:rPr sz="2700" b="1" i="1" spc="-70">
                <a:solidFill>
                  <a:srgbClr val="8EFEBB"/>
                </a:solidFill>
                <a:latin typeface="Instrument Serif"/>
              </a:rPr>
              <a:t>4.36×</a:t>
            </a:r>
            <a:r>
              <a:rPr sz="2700" b="1" i="0" spc="-70">
                <a:solidFill>
                  <a:srgbClr val="FFFFFF"/>
                </a:solidFill>
                <a:latin typeface="Manrope"/>
              </a:rPr>
              <a:t> year on year</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£2,304,842 in the twelve months to August, against £528,534 the year before. Read from 24 months of sales data that was not available at the first pull.</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02</a:t>
            </a:r>
          </a:p>
        </p:txBody>
      </p:sp>
      <p:sp>
        <p:nvSpPr>
          <p:cNvPr id="9" name="Rounded Rectangle 8"/>
          <p:cNvSpPr/>
          <p:nvPr/>
        </p:nvSpPr>
        <p:spPr>
          <a:xfrm>
            <a:off x="566928" y="2029968"/>
            <a:ext cx="6675120" cy="27432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2249424"/>
            <a:ext cx="6217920" cy="182880"/>
          </a:xfrm>
          <a:prstGeom prst="rect">
            <a:avLst/>
          </a:prstGeom>
          <a:noFill/>
        </p:spPr>
        <p:txBody>
          <a:bodyPr wrap="square" lIns="0" rIns="0" tIns="0" bIns="0" anchor="t">
            <a:spAutoFit/>
          </a:bodyPr>
          <a:lstStyle/>
          <a:p>
            <a:pPr algn="l"/>
            <a:r>
              <a:rPr sz="850" b="1" i="0" spc="160">
                <a:solidFill>
                  <a:srgbClr val="6B7B74"/>
                </a:solidFill>
                <a:latin typeface="Manrope"/>
              </a:rPr>
              <a:t>NET SALES PER MONTH · SEP 2024 – AUG 2026</a:t>
            </a:r>
          </a:p>
        </p:txBody>
      </p:sp>
      <p:sp>
        <p:nvSpPr>
          <p:cNvPr id="11" name="Rectangle 10"/>
          <p:cNvSpPr/>
          <p:nvPr/>
        </p:nvSpPr>
        <p:spPr>
          <a:xfrm>
            <a:off x="950976" y="4471416"/>
            <a:ext cx="6035040"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50976" y="4401281"/>
            <a:ext cx="170992" cy="70134"/>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2436" y="4410791"/>
            <a:ext cx="170992" cy="60624"/>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53895" y="4356704"/>
            <a:ext cx="170992" cy="114711"/>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05356" y="4324014"/>
            <a:ext cx="170992" cy="147401"/>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56815" y="4279437"/>
            <a:ext cx="170992" cy="191978"/>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08276" y="4307372"/>
            <a:ext cx="170992" cy="164043"/>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59736" y="4124904"/>
            <a:ext cx="170992" cy="346511"/>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11196" y="4093403"/>
            <a:ext cx="170992" cy="37801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2656" y="4141546"/>
            <a:ext cx="170992" cy="329869"/>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14115" y="4132036"/>
            <a:ext cx="170992" cy="339379"/>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65575" y="3913311"/>
            <a:ext cx="170992" cy="558104"/>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717035" y="4051203"/>
            <a:ext cx="170992" cy="42021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8496" y="3726088"/>
            <a:ext cx="170992" cy="745327"/>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19956" y="3733220"/>
            <a:ext cx="170992" cy="738195"/>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71416" y="3545997"/>
            <a:ext cx="170992" cy="925418"/>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22875" y="3806921"/>
            <a:ext cx="170992" cy="664494"/>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74336" y="3698153"/>
            <a:ext cx="170992" cy="77326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25796" y="3320140"/>
            <a:ext cx="170992" cy="1151275"/>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77255" y="3090717"/>
            <a:ext cx="170992" cy="1380698"/>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28716" y="3165012"/>
            <a:ext cx="170992" cy="1306403"/>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80175" y="3072292"/>
            <a:ext cx="170992" cy="1399123"/>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124596"/>
            <a:ext cx="170992" cy="1346819"/>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83095" y="2989082"/>
            <a:ext cx="170992" cy="1482333"/>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34555" y="2772140"/>
            <a:ext cx="170992" cy="1699275"/>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0976" y="4572000"/>
            <a:ext cx="2743200" cy="182880"/>
          </a:xfrm>
          <a:prstGeom prst="rect">
            <a:avLst/>
          </a:prstGeom>
          <a:noFill/>
        </p:spPr>
        <p:txBody>
          <a:bodyPr wrap="square" lIns="0" rIns="0" tIns="0" bIns="0" anchor="t">
            <a:spAutoFit/>
          </a:bodyPr>
          <a:lstStyle/>
          <a:p>
            <a:pPr algn="l"/>
            <a:r>
              <a:rPr sz="800" b="1" i="0" spc="120">
                <a:solidFill>
                  <a:srgbClr val="6B7B74"/>
                </a:solidFill>
                <a:latin typeface="Manrope"/>
              </a:rPr>
              <a:t>SEP 2024</a:t>
            </a:r>
          </a:p>
        </p:txBody>
      </p:sp>
      <p:sp>
        <p:nvSpPr>
          <p:cNvPr id="37" name="TextBox 36"/>
          <p:cNvSpPr txBox="1"/>
          <p:nvPr/>
        </p:nvSpPr>
        <p:spPr>
          <a:xfrm>
            <a:off x="4224528" y="4572000"/>
            <a:ext cx="2743200" cy="182880"/>
          </a:xfrm>
          <a:prstGeom prst="rect">
            <a:avLst/>
          </a:prstGeom>
          <a:noFill/>
        </p:spPr>
        <p:txBody>
          <a:bodyPr wrap="square" lIns="0" rIns="0" tIns="0" bIns="0" anchor="t">
            <a:spAutoFit/>
          </a:bodyPr>
          <a:lstStyle/>
          <a:p>
            <a:pPr algn="r"/>
            <a:r>
              <a:rPr sz="800" b="1" i="0" spc="120">
                <a:solidFill>
                  <a:srgbClr val="8EFEBB"/>
                </a:solidFill>
                <a:latin typeface="Manrope"/>
              </a:rPr>
              <a:t>AUG 2026 · £285,850</a:t>
            </a:r>
          </a:p>
        </p:txBody>
      </p:sp>
      <p:sp>
        <p:nvSpPr>
          <p:cNvPr id="38" name="TextBox 37"/>
          <p:cNvSpPr txBox="1"/>
          <p:nvPr/>
        </p:nvSpPr>
        <p:spPr>
          <a:xfrm>
            <a:off x="566928" y="4882896"/>
            <a:ext cx="6675120" cy="548640"/>
          </a:xfrm>
          <a:prstGeom prst="rect">
            <a:avLst/>
          </a:prstGeom>
          <a:noFill/>
        </p:spPr>
        <p:txBody>
          <a:bodyPr wrap="square" lIns="0" rIns="0" tIns="0" bIns="0">
            <a:spAutoFit/>
          </a:bodyPr>
          <a:lstStyle/>
          <a:p>
            <a:pPr>
              <a:lnSpc>
                <a:spcPct val="135000"/>
              </a:lnSpc>
              <a:spcAft>
                <a:spcPts val="0"/>
              </a:spcAft>
            </a:pPr>
            <a:r>
              <a:rPr sz="1000" b="0" i="0">
                <a:solidFill>
                  <a:srgbClr val="6B7B74"/>
                </a:solidFill>
                <a:latin typeface="Manrope"/>
              </a:rPr>
              <a:t>Average order value rose alongside volume, from £305 to £408 across the two twelve-month periods — growth is coming from bigger baskets as well as more of them.</a:t>
            </a:r>
          </a:p>
        </p:txBody>
      </p:sp>
      <p:sp>
        <p:nvSpPr>
          <p:cNvPr id="39" name="Rounded Rectangle 38"/>
          <p:cNvSpPr/>
          <p:nvPr/>
        </p:nvSpPr>
        <p:spPr>
          <a:xfrm>
            <a:off x="7516367" y="2029968"/>
            <a:ext cx="1939899" cy="1042415"/>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17536" y="2194560"/>
            <a:ext cx="1574139" cy="182880"/>
          </a:xfrm>
          <a:prstGeom prst="rect">
            <a:avLst/>
          </a:prstGeom>
          <a:noFill/>
        </p:spPr>
        <p:txBody>
          <a:bodyPr wrap="square" lIns="0" rIns="0" tIns="0" bIns="0" anchor="t">
            <a:spAutoFit/>
          </a:bodyPr>
          <a:lstStyle/>
          <a:p>
            <a:pPr algn="l"/>
            <a:r>
              <a:rPr sz="850" b="1" i="0" spc="160">
                <a:solidFill>
                  <a:srgbClr val="6B7B74"/>
                </a:solidFill>
                <a:latin typeface="Manrope"/>
              </a:rPr>
              <a:t>GROWTH, YEAR ON YEAR</a:t>
            </a:r>
          </a:p>
        </p:txBody>
      </p:sp>
      <p:sp>
        <p:nvSpPr>
          <p:cNvPr id="41" name="TextBox 40"/>
          <p:cNvSpPr txBox="1"/>
          <p:nvPr/>
        </p:nvSpPr>
        <p:spPr>
          <a:xfrm>
            <a:off x="7717536" y="2414016"/>
            <a:ext cx="1574139" cy="502920"/>
          </a:xfrm>
          <a:prstGeom prst="rect">
            <a:avLst/>
          </a:prstGeom>
          <a:noFill/>
        </p:spPr>
        <p:txBody>
          <a:bodyPr wrap="square" lIns="0" rIns="0" tIns="0" bIns="0" anchor="t">
            <a:spAutoFit/>
          </a:bodyPr>
          <a:lstStyle/>
          <a:p>
            <a:pPr algn="l"/>
            <a:r>
              <a:rPr sz="2300" b="1" i="0" spc="-60">
                <a:solidFill>
                  <a:srgbClr val="8EFEBB"/>
                </a:solidFill>
                <a:latin typeface="Manrope"/>
              </a:rPr>
              <a:t>4.36×</a:t>
            </a:r>
          </a:p>
        </p:txBody>
      </p:sp>
      <p:sp>
        <p:nvSpPr>
          <p:cNvPr id="42" name="TextBox 41"/>
          <p:cNvSpPr txBox="1"/>
          <p:nvPr/>
        </p:nvSpPr>
        <p:spPr>
          <a:xfrm>
            <a:off x="7717536" y="2779776"/>
            <a:ext cx="1574139" cy="256032"/>
          </a:xfrm>
          <a:prstGeom prst="rect">
            <a:avLst/>
          </a:prstGeom>
          <a:noFill/>
        </p:spPr>
        <p:txBody>
          <a:bodyPr wrap="square" lIns="0" rIns="0" tIns="0" bIns="0">
            <a:spAutoFit/>
          </a:bodyPr>
          <a:lstStyle/>
          <a:p>
            <a:pPr>
              <a:lnSpc>
                <a:spcPct val="135000"/>
              </a:lnSpc>
              <a:spcAft>
                <a:spcPts val="0"/>
              </a:spcAft>
            </a:pPr>
            <a:r>
              <a:rPr sz="880" b="0" i="0">
                <a:solidFill>
                  <a:srgbClr val="6B7B74"/>
                </a:solidFill>
                <a:latin typeface="Manrope"/>
              </a:rPr>
              <a:t>£2.30m against £528k the year before</a:t>
            </a:r>
          </a:p>
        </p:txBody>
      </p:sp>
      <p:sp>
        <p:nvSpPr>
          <p:cNvPr id="43" name="Rounded Rectangle 42"/>
          <p:cNvSpPr/>
          <p:nvPr/>
        </p:nvSpPr>
        <p:spPr>
          <a:xfrm>
            <a:off x="9684867" y="2029968"/>
            <a:ext cx="1939899" cy="1042415"/>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886035" y="2194560"/>
            <a:ext cx="1574139" cy="182880"/>
          </a:xfrm>
          <a:prstGeom prst="rect">
            <a:avLst/>
          </a:prstGeom>
          <a:noFill/>
        </p:spPr>
        <p:txBody>
          <a:bodyPr wrap="square" lIns="0" rIns="0" tIns="0" bIns="0" anchor="t">
            <a:spAutoFit/>
          </a:bodyPr>
          <a:lstStyle/>
          <a:p>
            <a:pPr algn="l"/>
            <a:r>
              <a:rPr sz="850" b="1" i="0" spc="160">
                <a:solidFill>
                  <a:srgbClr val="6B7B74"/>
                </a:solidFill>
                <a:latin typeface="Manrope"/>
              </a:rPr>
              <a:t>AUGUST 2026</a:t>
            </a:r>
          </a:p>
        </p:txBody>
      </p:sp>
      <p:sp>
        <p:nvSpPr>
          <p:cNvPr id="45" name="TextBox 44"/>
          <p:cNvSpPr txBox="1"/>
          <p:nvPr/>
        </p:nvSpPr>
        <p:spPr>
          <a:xfrm>
            <a:off x="9886035" y="2414016"/>
            <a:ext cx="1574139" cy="502920"/>
          </a:xfrm>
          <a:prstGeom prst="rect">
            <a:avLst/>
          </a:prstGeom>
          <a:noFill/>
        </p:spPr>
        <p:txBody>
          <a:bodyPr wrap="square" lIns="0" rIns="0" tIns="0" bIns="0" anchor="t">
            <a:spAutoFit/>
          </a:bodyPr>
          <a:lstStyle/>
          <a:p>
            <a:pPr algn="l"/>
            <a:r>
              <a:rPr sz="2300" b="1" i="0" spc="-60">
                <a:solidFill>
                  <a:srgbClr val="FFFFFF"/>
                </a:solidFill>
                <a:latin typeface="Manrope"/>
              </a:rPr>
              <a:t>£285,850</a:t>
            </a:r>
          </a:p>
        </p:txBody>
      </p:sp>
      <p:sp>
        <p:nvSpPr>
          <p:cNvPr id="46" name="TextBox 45"/>
          <p:cNvSpPr txBox="1"/>
          <p:nvPr/>
        </p:nvSpPr>
        <p:spPr>
          <a:xfrm>
            <a:off x="9886035" y="2779776"/>
            <a:ext cx="1574139" cy="256032"/>
          </a:xfrm>
          <a:prstGeom prst="rect">
            <a:avLst/>
          </a:prstGeom>
          <a:noFill/>
        </p:spPr>
        <p:txBody>
          <a:bodyPr wrap="square" lIns="0" rIns="0" tIns="0" bIns="0">
            <a:spAutoFit/>
          </a:bodyPr>
          <a:lstStyle/>
          <a:p>
            <a:pPr>
              <a:lnSpc>
                <a:spcPct val="135000"/>
              </a:lnSpc>
              <a:spcAft>
                <a:spcPts val="0"/>
              </a:spcAft>
            </a:pPr>
            <a:r>
              <a:rPr sz="880" b="0" i="0">
                <a:solidFill>
                  <a:srgbClr val="6B7B74"/>
                </a:solidFill>
                <a:latin typeface="Manrope"/>
              </a:rPr>
              <a:t>656 orders. AOV up from £305 to £408</a:t>
            </a:r>
          </a:p>
        </p:txBody>
      </p:sp>
      <p:sp>
        <p:nvSpPr>
          <p:cNvPr id="47" name="Rounded Rectangle 46"/>
          <p:cNvSpPr/>
          <p:nvPr/>
        </p:nvSpPr>
        <p:spPr>
          <a:xfrm>
            <a:off x="7516367" y="3236976"/>
            <a:ext cx="1939899" cy="1042415"/>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17536" y="3401568"/>
            <a:ext cx="1574139" cy="182880"/>
          </a:xfrm>
          <a:prstGeom prst="rect">
            <a:avLst/>
          </a:prstGeom>
          <a:noFill/>
        </p:spPr>
        <p:txBody>
          <a:bodyPr wrap="square" lIns="0" rIns="0" tIns="0" bIns="0" anchor="t">
            <a:spAutoFit/>
          </a:bodyPr>
          <a:lstStyle/>
          <a:p>
            <a:pPr algn="l"/>
            <a:r>
              <a:rPr sz="850" b="1" i="0" spc="160">
                <a:solidFill>
                  <a:srgbClr val="6B7B74"/>
                </a:solidFill>
                <a:latin typeface="Manrope"/>
              </a:rPr>
              <a:t>ORDERS, 12 MONTHS</a:t>
            </a:r>
          </a:p>
        </p:txBody>
      </p:sp>
      <p:sp>
        <p:nvSpPr>
          <p:cNvPr id="49" name="TextBox 48"/>
          <p:cNvSpPr txBox="1"/>
          <p:nvPr/>
        </p:nvSpPr>
        <p:spPr>
          <a:xfrm>
            <a:off x="7717536" y="3621024"/>
            <a:ext cx="1574139" cy="502920"/>
          </a:xfrm>
          <a:prstGeom prst="rect">
            <a:avLst/>
          </a:prstGeom>
          <a:noFill/>
        </p:spPr>
        <p:txBody>
          <a:bodyPr wrap="square" lIns="0" rIns="0" tIns="0" bIns="0" anchor="t">
            <a:spAutoFit/>
          </a:bodyPr>
          <a:lstStyle/>
          <a:p>
            <a:pPr algn="l"/>
            <a:r>
              <a:rPr sz="2300" b="1" i="0" spc="-60">
                <a:solidFill>
                  <a:srgbClr val="FFFFFF"/>
                </a:solidFill>
                <a:latin typeface="Manrope"/>
              </a:rPr>
              <a:t>5,652</a:t>
            </a:r>
          </a:p>
        </p:txBody>
      </p:sp>
      <p:sp>
        <p:nvSpPr>
          <p:cNvPr id="50" name="TextBox 49"/>
          <p:cNvSpPr txBox="1"/>
          <p:nvPr/>
        </p:nvSpPr>
        <p:spPr>
          <a:xfrm>
            <a:off x="7717536" y="3986784"/>
            <a:ext cx="1574139" cy="256032"/>
          </a:xfrm>
          <a:prstGeom prst="rect">
            <a:avLst/>
          </a:prstGeom>
          <a:noFill/>
        </p:spPr>
        <p:txBody>
          <a:bodyPr wrap="square" lIns="0" rIns="0" tIns="0" bIns="0">
            <a:spAutoFit/>
          </a:bodyPr>
          <a:lstStyle/>
          <a:p>
            <a:pPr>
              <a:lnSpc>
                <a:spcPct val="135000"/>
              </a:lnSpc>
              <a:spcAft>
                <a:spcPts val="0"/>
              </a:spcAft>
            </a:pPr>
            <a:r>
              <a:rPr sz="880" b="0" i="0">
                <a:solidFill>
                  <a:srgbClr val="6B7B74"/>
                </a:solidFill>
                <a:latin typeface="Manrope"/>
              </a:rPr>
              <a:t>Against 1,733 the twelve months before</a:t>
            </a:r>
          </a:p>
        </p:txBody>
      </p:sp>
      <p:sp>
        <p:nvSpPr>
          <p:cNvPr id="51" name="Rounded Rectangle 50"/>
          <p:cNvSpPr/>
          <p:nvPr/>
        </p:nvSpPr>
        <p:spPr>
          <a:xfrm>
            <a:off x="9684867" y="3236976"/>
            <a:ext cx="1939899" cy="1042415"/>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886035" y="3401568"/>
            <a:ext cx="1574139" cy="182880"/>
          </a:xfrm>
          <a:prstGeom prst="rect">
            <a:avLst/>
          </a:prstGeom>
          <a:noFill/>
        </p:spPr>
        <p:txBody>
          <a:bodyPr wrap="square" lIns="0" rIns="0" tIns="0" bIns="0" anchor="t">
            <a:spAutoFit/>
          </a:bodyPr>
          <a:lstStyle/>
          <a:p>
            <a:pPr algn="l"/>
            <a:r>
              <a:rPr sz="850" b="1" i="0" spc="160">
                <a:solidFill>
                  <a:srgbClr val="6B7B74"/>
                </a:solidFill>
                <a:latin typeface="Manrope"/>
              </a:rPr>
              <a:t>TO £500K ON TREND</a:t>
            </a:r>
          </a:p>
        </p:txBody>
      </p:sp>
      <p:sp>
        <p:nvSpPr>
          <p:cNvPr id="53" name="TextBox 52"/>
          <p:cNvSpPr txBox="1"/>
          <p:nvPr/>
        </p:nvSpPr>
        <p:spPr>
          <a:xfrm>
            <a:off x="9886035" y="3621024"/>
            <a:ext cx="1574139" cy="502920"/>
          </a:xfrm>
          <a:prstGeom prst="rect">
            <a:avLst/>
          </a:prstGeom>
          <a:noFill/>
        </p:spPr>
        <p:txBody>
          <a:bodyPr wrap="square" lIns="0" rIns="0" tIns="0" bIns="0" anchor="t">
            <a:spAutoFit/>
          </a:bodyPr>
          <a:lstStyle/>
          <a:p>
            <a:pPr algn="l"/>
            <a:r>
              <a:rPr sz="2300" b="1" i="0" spc="-60">
                <a:solidFill>
                  <a:srgbClr val="8EFEBB"/>
                </a:solidFill>
                <a:latin typeface="Manrope"/>
              </a:rPr>
              <a:t>~14 mths</a:t>
            </a:r>
          </a:p>
        </p:txBody>
      </p:sp>
      <p:sp>
        <p:nvSpPr>
          <p:cNvPr id="54" name="TextBox 53"/>
          <p:cNvSpPr txBox="1"/>
          <p:nvPr/>
        </p:nvSpPr>
        <p:spPr>
          <a:xfrm>
            <a:off x="9886035" y="3986784"/>
            <a:ext cx="1574139" cy="256032"/>
          </a:xfrm>
          <a:prstGeom prst="rect">
            <a:avLst/>
          </a:prstGeom>
          <a:noFill/>
        </p:spPr>
        <p:txBody>
          <a:bodyPr wrap="square" lIns="0" rIns="0" tIns="0" bIns="0">
            <a:spAutoFit/>
          </a:bodyPr>
          <a:lstStyle/>
          <a:p>
            <a:pPr>
              <a:lnSpc>
                <a:spcPct val="135000"/>
              </a:lnSpc>
              <a:spcAft>
                <a:spcPts val="0"/>
              </a:spcAft>
            </a:pPr>
            <a:r>
              <a:rPr sz="880" b="0" i="0">
                <a:solidFill>
                  <a:srgbClr val="6B7B74"/>
                </a:solidFill>
                <a:latin typeface="Manrope"/>
              </a:rPr>
              <a:t>At the last six months' rate of 62%/yr</a:t>
            </a:r>
          </a:p>
        </p:txBody>
      </p:sp>
      <p:sp>
        <p:nvSpPr>
          <p:cNvPr id="55" name="Rounded Rectangle 54"/>
          <p:cNvSpPr/>
          <p:nvPr/>
        </p:nvSpPr>
        <p:spPr>
          <a:xfrm>
            <a:off x="7516367" y="4498848"/>
            <a:ext cx="4108399" cy="96012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735823" y="4681728"/>
            <a:ext cx="3651199" cy="685800"/>
          </a:xfrm>
          <a:prstGeom prst="rect">
            <a:avLst/>
          </a:prstGeom>
          <a:noFill/>
        </p:spPr>
        <p:txBody>
          <a:bodyPr wrap="square" lIns="0" rIns="0" tIns="0" bIns="0">
            <a:spAutoFit/>
          </a:bodyPr>
          <a:lstStyle/>
          <a:p>
            <a:pPr>
              <a:lnSpc>
                <a:spcPct val="140000"/>
              </a:lnSpc>
              <a:spcAft>
                <a:spcPts val="0"/>
              </a:spcAft>
            </a:pPr>
            <a:r>
              <a:rPr sz="1150" b="1" i="0">
                <a:solidFill>
                  <a:srgbClr val="8EFEBB"/>
                </a:solidFill>
                <a:latin typeface="Manrope"/>
              </a:rPr>
              <a:t>This reframes the brief. </a:t>
            </a:r>
            <a:r>
              <a:rPr sz="1150" b="0" i="0">
                <a:solidFill>
                  <a:srgbClr val="B9C7C0"/>
                </a:solidFill>
                <a:latin typeface="Manrope"/>
              </a:rPr>
              <a:t>£500,000 a month is not a 1.76× leap engineered from a standing start. It is roughly where the existing trajectory arrives — and the strategy's real job is to stop growth decelerating, then beat the trend.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02 · THE TRAJECTORY</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£500k is roughly where the current trend </a:t>
            </a:r>
            <a:r>
              <a:rPr sz="2700" b="1" i="1" spc="-70">
                <a:solidFill>
                  <a:srgbClr val="8EFEBB"/>
                </a:solidFill>
                <a:latin typeface="Instrument Serif"/>
              </a:rPr>
              <a:t>arrives</a:t>
            </a:r>
            <a:r>
              <a:rPr sz="2700" b="1" i="0" spc="-70">
                <a:solidFill>
                  <a:srgbClr val="FFFFFF"/>
                </a:solidFill>
                <a:latin typeface="Manrope"/>
              </a:rPr>
              <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About fourteen months out on the last six months' growth rate — which lands almost exactly on the timeline in your brief.</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03</a:t>
            </a:r>
          </a:p>
        </p:txBody>
      </p:sp>
      <p:graphicFrame>
        <p:nvGraphicFramePr>
          <p:cNvPr id="9" name="Table 8"/>
          <p:cNvGraphicFramePr>
            <a:graphicFrameLocks noGrp="1"/>
          </p:cNvGraphicFramePr>
          <p:nvPr/>
        </p:nvGraphicFramePr>
        <p:xfrm>
          <a:off x="566928" y="2029968"/>
          <a:ext cx="5029199" cy="1737360"/>
        </p:xfrm>
        <a:graphic>
          <a:graphicData uri="http://schemas.openxmlformats.org/drawingml/2006/table">
            <a:tbl>
              <a:tblPr firstRow="1" bandRow="1">
                <a:tableStyleId>{5C22544A-7EE6-4342-B048-85BDC9FD1C3A}</a:tableStyleId>
              </a:tblPr>
              <a:tblGrid>
                <a:gridCol w="3166533"/>
                <a:gridCol w="931333"/>
                <a:gridCol w="931333"/>
              </a:tblGrid>
              <a:tr h="274320">
                <a:tc>
                  <a:txBody>
                    <a:bodyPr wrap="square"/>
                    <a:lstStyle/>
                    <a:p>
                      <a:pPr algn="l"/>
                      <a:r>
                        <a:rPr sz="780" b="1">
                          <a:solidFill>
                            <a:srgbClr val="6B7B74"/>
                          </a:solidFill>
                          <a:latin typeface="Manrope"/>
                        </a:rPr>
                        <a:t>GROWTH ASSUMPTION</a:t>
                      </a:r>
                    </a:p>
                  </a:txBody>
                  <a:tcPr marL="45720" marR="45720" marT="18288" marB="18288" anchor="ctr">
                    <a:solidFill>
                      <a:srgbClr val="051412"/>
                    </a:solidFill>
                  </a:tcPr>
                </a:tc>
                <a:tc>
                  <a:txBody>
                    <a:bodyPr wrap="square"/>
                    <a:lstStyle/>
                    <a:p>
                      <a:pPr algn="r"/>
                      <a:r>
                        <a:rPr sz="780" b="1">
                          <a:solidFill>
                            <a:srgbClr val="6B7B74"/>
                          </a:solidFill>
                          <a:latin typeface="Manrope"/>
                        </a:rPr>
                        <a:t>RATE</a:t>
                      </a:r>
                    </a:p>
                  </a:txBody>
                  <a:tcPr marL="45720" marR="45720" marT="18288" marB="18288" anchor="ctr">
                    <a:solidFill>
                      <a:srgbClr val="051412"/>
                    </a:solidFill>
                  </a:tcPr>
                </a:tc>
                <a:tc>
                  <a:txBody>
                    <a:bodyPr wrap="square"/>
                    <a:lstStyle/>
                    <a:p>
                      <a:pPr algn="r"/>
                      <a:r>
                        <a:rPr sz="780" b="1">
                          <a:solidFill>
                            <a:srgbClr val="6B7B74"/>
                          </a:solidFill>
                          <a:latin typeface="Manrope"/>
                        </a:rPr>
                        <a:t>MONTHS</a:t>
                      </a:r>
                    </a:p>
                  </a:txBody>
                  <a:tcPr marL="45720" marR="45720" marT="18288" marB="18288" anchor="ctr">
                    <a:solidFill>
                      <a:srgbClr val="051412"/>
                    </a:solidFill>
                  </a:tcPr>
                </a:tc>
              </a:tr>
              <a:tr h="292608">
                <a:tc>
                  <a:txBody>
                    <a:bodyPr wrap="square"/>
                    <a:lstStyle/>
                    <a:p>
                      <a:pPr algn="l"/>
                      <a:r>
                        <a:rPr sz="1050" b="0">
                          <a:solidFill>
                            <a:srgbClr val="6B7B74"/>
                          </a:solidFill>
                          <a:latin typeface="Manrope"/>
                        </a:rPr>
                        <a:t>Last 12 months' actual</a:t>
                      </a:r>
                    </a:p>
                  </a:txBody>
                  <a:tcPr marL="45720" marR="45720" marT="18288" marB="18288" anchor="ctr">
                    <a:solidFill>
                      <a:srgbClr val="051412"/>
                    </a:solidFill>
                  </a:tcPr>
                </a:tc>
                <a:tc>
                  <a:txBody>
                    <a:bodyPr wrap="square"/>
                    <a:lstStyle/>
                    <a:p>
                      <a:pPr algn="r"/>
                      <a:r>
                        <a:rPr sz="1050" b="0">
                          <a:solidFill>
                            <a:srgbClr val="6B7B74"/>
                          </a:solidFill>
                          <a:latin typeface="Manrope"/>
                        </a:rPr>
                        <a:t>301%</a:t>
                      </a:r>
                    </a:p>
                  </a:txBody>
                  <a:tcPr marL="45720" marR="45720" marT="18288" marB="18288" anchor="ctr">
                    <a:solidFill>
                      <a:srgbClr val="051412"/>
                    </a:solidFill>
                  </a:tcPr>
                </a:tc>
                <a:tc>
                  <a:txBody>
                    <a:bodyPr wrap="square"/>
                    <a:lstStyle/>
                    <a:p>
                      <a:pPr algn="r"/>
                      <a:r>
                        <a:rPr sz="1050" b="0">
                          <a:solidFill>
                            <a:srgbClr val="6B7B74"/>
                          </a:solidFill>
                          <a:latin typeface="Manrope"/>
                        </a:rPr>
                        <a:t>4.8</a:t>
                      </a:r>
                    </a:p>
                  </a:txBody>
                  <a:tcPr marL="45720" marR="45720" marT="18288" marB="18288" anchor="ctr">
                    <a:solidFill>
                      <a:srgbClr val="051412"/>
                    </a:solidFill>
                  </a:tcPr>
                </a:tc>
              </a:tr>
              <a:tr h="292608">
                <a:tc>
                  <a:txBody>
                    <a:bodyPr wrap="square"/>
                    <a:lstStyle/>
                    <a:p>
                      <a:pPr algn="l"/>
                      <a:r>
                        <a:rPr sz="1050" b="1">
                          <a:solidFill>
                            <a:srgbClr val="8EFEBB"/>
                          </a:solidFill>
                          <a:latin typeface="Manrope"/>
                        </a:rPr>
                        <a:t>Last 6 months' actual</a:t>
                      </a:r>
                    </a:p>
                  </a:txBody>
                  <a:tcPr marL="45720" marR="45720" marT="18288" marB="18288" anchor="ctr">
                    <a:solidFill>
                      <a:srgbClr val="0B2A24"/>
                    </a:solidFill>
                  </a:tcPr>
                </a:tc>
                <a:tc>
                  <a:txBody>
                    <a:bodyPr wrap="square"/>
                    <a:lstStyle/>
                    <a:p>
                      <a:pPr algn="r"/>
                      <a:r>
                        <a:rPr sz="1050" b="1">
                          <a:solidFill>
                            <a:srgbClr val="8EFEBB"/>
                          </a:solidFill>
                          <a:latin typeface="Manrope"/>
                        </a:rPr>
                        <a:t>62%</a:t>
                      </a:r>
                    </a:p>
                  </a:txBody>
                  <a:tcPr marL="45720" marR="45720" marT="18288" marB="18288" anchor="ctr">
                    <a:solidFill>
                      <a:srgbClr val="0B2A24"/>
                    </a:solidFill>
                  </a:tcPr>
                </a:tc>
                <a:tc>
                  <a:txBody>
                    <a:bodyPr wrap="square"/>
                    <a:lstStyle/>
                    <a:p>
                      <a:pPr algn="r"/>
                      <a:r>
                        <a:rPr sz="1050" b="1">
                          <a:solidFill>
                            <a:srgbClr val="8EFEBB"/>
                          </a:solidFill>
                          <a:latin typeface="Manrope"/>
                        </a:rPr>
                        <a:t>14.0</a:t>
                      </a:r>
                    </a:p>
                  </a:txBody>
                  <a:tcPr marL="45720" marR="45720" marT="18288" marB="18288" anchor="ctr">
                    <a:solidFill>
                      <a:srgbClr val="0B2A24"/>
                    </a:solidFill>
                  </a:tcPr>
                </a:tc>
              </a:tr>
              <a:tr h="292608">
                <a:tc>
                  <a:txBody>
                    <a:bodyPr wrap="square"/>
                    <a:lstStyle/>
                    <a:p>
                      <a:pPr algn="l"/>
                      <a:r>
                        <a:rPr sz="1050" b="0">
                          <a:solidFill>
                            <a:srgbClr val="E8F2EC"/>
                          </a:solidFill>
                          <a:latin typeface="Manrope"/>
                        </a:rPr>
                        <a:t>Decelerating to 75%/yr</a:t>
                      </a:r>
                    </a:p>
                  </a:txBody>
                  <a:tcPr marL="45720" marR="45720" marT="18288" marB="18288" anchor="ctr">
                    <a:solidFill>
                      <a:srgbClr val="051412"/>
                    </a:solidFill>
                  </a:tcPr>
                </a:tc>
                <a:tc>
                  <a:txBody>
                    <a:bodyPr wrap="square"/>
                    <a:lstStyle/>
                    <a:p>
                      <a:pPr algn="r"/>
                      <a:r>
                        <a:rPr sz="1050" b="0">
                          <a:solidFill>
                            <a:srgbClr val="E8F2EC"/>
                          </a:solidFill>
                          <a:latin typeface="Manrope"/>
                        </a:rPr>
                        <a:t>75%</a:t>
                      </a:r>
                    </a:p>
                  </a:txBody>
                  <a:tcPr marL="45720" marR="45720" marT="18288" marB="18288" anchor="ctr">
                    <a:solidFill>
                      <a:srgbClr val="051412"/>
                    </a:solidFill>
                  </a:tcPr>
                </a:tc>
                <a:tc>
                  <a:txBody>
                    <a:bodyPr wrap="square"/>
                    <a:lstStyle/>
                    <a:p>
                      <a:pPr algn="r"/>
                      <a:r>
                        <a:rPr sz="1050" b="0">
                          <a:solidFill>
                            <a:srgbClr val="E8F2EC"/>
                          </a:solidFill>
                          <a:latin typeface="Manrope"/>
                        </a:rPr>
                        <a:t>12.0</a:t>
                      </a:r>
                    </a:p>
                  </a:txBody>
                  <a:tcPr marL="45720" marR="45720" marT="18288" marB="18288" anchor="ctr">
                    <a:solidFill>
                      <a:srgbClr val="051412"/>
                    </a:solidFill>
                  </a:tcPr>
                </a:tc>
              </a:tr>
              <a:tr h="292608">
                <a:tc>
                  <a:txBody>
                    <a:bodyPr wrap="square"/>
                    <a:lstStyle/>
                    <a:p>
                      <a:pPr algn="l"/>
                      <a:r>
                        <a:rPr sz="1050" b="0">
                          <a:solidFill>
                            <a:srgbClr val="E8F2EC"/>
                          </a:solidFill>
                          <a:latin typeface="Manrope"/>
                        </a:rPr>
                        <a:t>Decelerating to 50%/yr</a:t>
                      </a:r>
                    </a:p>
                  </a:txBody>
                  <a:tcPr marL="45720" marR="45720" marT="18288" marB="18288" anchor="ctr">
                    <a:solidFill>
                      <a:srgbClr val="051412"/>
                    </a:solidFill>
                  </a:tcPr>
                </a:tc>
                <a:tc>
                  <a:txBody>
                    <a:bodyPr wrap="square"/>
                    <a:lstStyle/>
                    <a:p>
                      <a:pPr algn="r"/>
                      <a:r>
                        <a:rPr sz="1050" b="0">
                          <a:solidFill>
                            <a:srgbClr val="E8F2EC"/>
                          </a:solidFill>
                          <a:latin typeface="Manrope"/>
                        </a:rPr>
                        <a:t>50%</a:t>
                      </a:r>
                    </a:p>
                  </a:txBody>
                  <a:tcPr marL="45720" marR="45720" marT="18288" marB="18288" anchor="ctr">
                    <a:solidFill>
                      <a:srgbClr val="051412"/>
                    </a:solidFill>
                  </a:tcPr>
                </a:tc>
                <a:tc>
                  <a:txBody>
                    <a:bodyPr wrap="square"/>
                    <a:lstStyle/>
                    <a:p>
                      <a:pPr algn="r"/>
                      <a:r>
                        <a:rPr sz="1050" b="0">
                          <a:solidFill>
                            <a:srgbClr val="E8F2EC"/>
                          </a:solidFill>
                          <a:latin typeface="Manrope"/>
                        </a:rPr>
                        <a:t>16.5</a:t>
                      </a:r>
                    </a:p>
                  </a:txBody>
                  <a:tcPr marL="45720" marR="45720" marT="18288" marB="18288" anchor="ctr">
                    <a:solidFill>
                      <a:srgbClr val="051412"/>
                    </a:solidFill>
                  </a:tcPr>
                </a:tc>
              </a:tr>
              <a:tr h="292608">
                <a:tc>
                  <a:txBody>
                    <a:bodyPr wrap="square"/>
                    <a:lstStyle/>
                    <a:p>
                      <a:pPr algn="l"/>
                      <a:r>
                        <a:rPr sz="1050" b="0">
                          <a:solidFill>
                            <a:srgbClr val="E8F2EC"/>
                          </a:solidFill>
                          <a:latin typeface="Manrope"/>
                        </a:rPr>
                        <a:t>Decelerating to 30%/yr</a:t>
                      </a:r>
                    </a:p>
                  </a:txBody>
                  <a:tcPr marL="45720" marR="45720" marT="18288" marB="18288" anchor="ctr">
                    <a:solidFill>
                      <a:srgbClr val="051412"/>
                    </a:solidFill>
                  </a:tcPr>
                </a:tc>
                <a:tc>
                  <a:txBody>
                    <a:bodyPr wrap="square"/>
                    <a:lstStyle/>
                    <a:p>
                      <a:pPr algn="r"/>
                      <a:r>
                        <a:rPr sz="1050" b="0">
                          <a:solidFill>
                            <a:srgbClr val="E8F2EC"/>
                          </a:solidFill>
                          <a:latin typeface="Manrope"/>
                        </a:rPr>
                        <a:t>30%</a:t>
                      </a:r>
                    </a:p>
                  </a:txBody>
                  <a:tcPr marL="45720" marR="45720" marT="18288" marB="18288" anchor="ctr">
                    <a:solidFill>
                      <a:srgbClr val="051412"/>
                    </a:solidFill>
                  </a:tcPr>
                </a:tc>
                <a:tc>
                  <a:txBody>
                    <a:bodyPr wrap="square"/>
                    <a:lstStyle/>
                    <a:p>
                      <a:pPr algn="r"/>
                      <a:r>
                        <a:rPr sz="1050" b="0">
                          <a:solidFill>
                            <a:srgbClr val="E8F2EC"/>
                          </a:solidFill>
                          <a:latin typeface="Manrope"/>
                        </a:rPr>
                        <a:t>25.6</a:t>
                      </a:r>
                    </a:p>
                  </a:txBody>
                  <a:tcPr marL="45720" marR="45720" marT="18288" marB="18288" anchor="ctr">
                    <a:solidFill>
                      <a:srgbClr val="051412"/>
                    </a:solidFill>
                  </a:tcPr>
                </a:tc>
              </a:tr>
            </a:tbl>
          </a:graphicData>
        </a:graphic>
      </p:graphicFrame>
      <p:sp>
        <p:nvSpPr>
          <p:cNvPr id="10" name="TextBox 9"/>
          <p:cNvSpPr txBox="1"/>
          <p:nvPr/>
        </p:nvSpPr>
        <p:spPr>
          <a:xfrm>
            <a:off x="566928" y="3995928"/>
            <a:ext cx="5029200" cy="640080"/>
          </a:xfrm>
          <a:prstGeom prst="rect">
            <a:avLst/>
          </a:prstGeom>
          <a:noFill/>
        </p:spPr>
        <p:txBody>
          <a:bodyPr wrap="square" lIns="0" rIns="0" tIns="0" bIns="0">
            <a:spAutoFit/>
          </a:bodyPr>
          <a:lstStyle/>
          <a:p>
            <a:pPr>
              <a:lnSpc>
                <a:spcPct val="135000"/>
              </a:lnSpc>
              <a:spcAft>
                <a:spcPts val="0"/>
              </a:spcAft>
            </a:pPr>
            <a:r>
              <a:rPr sz="980" b="0" i="0">
                <a:solidFill>
                  <a:srgbClr val="6B7B74"/>
                </a:solidFill>
                <a:latin typeface="Manrope"/>
              </a:rPr>
              <a:t>The 301% case includes the step-change off a small base and is not sustainable. The 62% figure is the honest forward number.</a:t>
            </a:r>
          </a:p>
        </p:txBody>
      </p:sp>
      <p:sp>
        <p:nvSpPr>
          <p:cNvPr id="11" name="Rounded Rectangle 10"/>
          <p:cNvSpPr/>
          <p:nvPr/>
        </p:nvSpPr>
        <p:spPr>
          <a:xfrm>
            <a:off x="566928" y="4636008"/>
            <a:ext cx="5029200" cy="118872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4818888"/>
            <a:ext cx="4617720" cy="914400"/>
          </a:xfrm>
          <a:prstGeom prst="rect">
            <a:avLst/>
          </a:prstGeom>
          <a:noFill/>
        </p:spPr>
        <p:txBody>
          <a:bodyPr wrap="square" lIns="0" rIns="0" tIns="0" bIns="0">
            <a:spAutoFit/>
          </a:bodyPr>
          <a:lstStyle/>
          <a:p>
            <a:pPr>
              <a:lnSpc>
                <a:spcPct val="140000"/>
              </a:lnSpc>
              <a:spcAft>
                <a:spcPts val="0"/>
              </a:spcAft>
            </a:pPr>
            <a:r>
              <a:rPr sz="1100" b="1" i="0">
                <a:solidFill>
                  <a:srgbClr val="8EFEBB"/>
                </a:solidFill>
                <a:latin typeface="Manrope"/>
              </a:rPr>
              <a:t>On the last six months' rate the business reaches £500,000 a month in about 14 months without doing anything new. </a:t>
            </a:r>
            <a:r>
              <a:rPr sz="1100" b="0" i="0">
                <a:solidFill>
                  <a:srgbClr val="B9C7C0"/>
                </a:solidFill>
                <a:latin typeface="Manrope"/>
              </a:rPr>
              <a:t>Every initiative here should be judged on whether it beats a 62% baseline.</a:t>
            </a:r>
          </a:p>
        </p:txBody>
      </p:sp>
      <p:sp>
        <p:nvSpPr>
          <p:cNvPr id="13" name="Rounded Rectangle 12"/>
          <p:cNvSpPr/>
          <p:nvPr/>
        </p:nvSpPr>
        <p:spPr>
          <a:xfrm>
            <a:off x="5916168" y="2029968"/>
            <a:ext cx="5708599" cy="32004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72200" y="2249424"/>
            <a:ext cx="5251399" cy="182880"/>
          </a:xfrm>
          <a:prstGeom prst="rect">
            <a:avLst/>
          </a:prstGeom>
          <a:noFill/>
        </p:spPr>
        <p:txBody>
          <a:bodyPr wrap="square" lIns="0" rIns="0" tIns="0" bIns="0" anchor="t">
            <a:spAutoFit/>
          </a:bodyPr>
          <a:lstStyle/>
          <a:p>
            <a:pPr algn="l"/>
            <a:r>
              <a:rPr sz="850" b="1" i="0" spc="160">
                <a:solidFill>
                  <a:srgbClr val="6B7B74"/>
                </a:solidFill>
                <a:latin typeface="Manrope"/>
              </a:rPr>
              <a:t>MONTHLY REVENUE FROM AUGUST 2026, BY GROWTH RATE</a:t>
            </a:r>
          </a:p>
        </p:txBody>
      </p:sp>
      <p:sp>
        <p:nvSpPr>
          <p:cNvPr id="15" name="Rectangle 14"/>
          <p:cNvSpPr/>
          <p:nvPr/>
        </p:nvSpPr>
        <p:spPr>
          <a:xfrm>
            <a:off x="6373368" y="4654296"/>
            <a:ext cx="4839919"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73368" y="3250038"/>
            <a:ext cx="4839919" cy="73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3012294"/>
            <a:ext cx="1828800" cy="182880"/>
          </a:xfrm>
          <a:prstGeom prst="rect">
            <a:avLst/>
          </a:prstGeom>
          <a:noFill/>
        </p:spPr>
        <p:txBody>
          <a:bodyPr wrap="square" lIns="0" rIns="0" tIns="0" bIns="0" anchor="t">
            <a:spAutoFit/>
          </a:bodyPr>
          <a:lstStyle/>
          <a:p>
            <a:pPr algn="l"/>
            <a:r>
              <a:rPr sz="900" b="1" i="0">
                <a:solidFill>
                  <a:srgbClr val="FFFFFF"/>
                </a:solidFill>
                <a:latin typeface="Manrope"/>
              </a:rPr>
              <a:t>£500k target</a:t>
            </a:r>
          </a:p>
        </p:txBody>
      </p:sp>
      <p:sp>
        <p:nvSpPr>
          <p:cNvPr id="18" name="Rectangle 17"/>
          <p:cNvSpPr/>
          <p:nvPr/>
        </p:nvSpPr>
        <p:spPr>
          <a:xfrm>
            <a:off x="6373368" y="3818549"/>
            <a:ext cx="268884" cy="3293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42252" y="3784266"/>
            <a:ext cx="268884" cy="34283"/>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11136" y="3748576"/>
            <a:ext cx="268884" cy="35689"/>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80021" y="3711423"/>
            <a:ext cx="268884" cy="37153"/>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48905" y="3672745"/>
            <a:ext cx="268884" cy="38677"/>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17790" y="3632480"/>
            <a:ext cx="268884" cy="40264"/>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86674" y="3590564"/>
            <a:ext cx="268884" cy="41916"/>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55558" y="3546929"/>
            <a:ext cx="268884" cy="43635"/>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24443" y="3501503"/>
            <a:ext cx="268884" cy="45425"/>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93327" y="3454214"/>
            <a:ext cx="268884" cy="47288"/>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62212" y="3404985"/>
            <a:ext cx="268884" cy="49228"/>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331096" y="3353737"/>
            <a:ext cx="268884" cy="51248"/>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99980" y="3300387"/>
            <a:ext cx="268884" cy="53350"/>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68865" y="3244848"/>
            <a:ext cx="268884" cy="55539"/>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37749" y="3187030"/>
            <a:ext cx="268884" cy="57817"/>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406634" y="3126841"/>
            <a:ext cx="268884" cy="60189"/>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675518" y="3064183"/>
            <a:ext cx="268884" cy="62658"/>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944402" y="2998955"/>
            <a:ext cx="268884" cy="65228"/>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3368" y="3833736"/>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42252" y="3815598"/>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11136" y="3797059"/>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80021" y="3778110"/>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48905" y="3758743"/>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17790" y="3738947"/>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86674" y="3718714"/>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55558" y="3698033"/>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524443" y="3676895"/>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793327" y="3655291"/>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62212" y="3633208"/>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331096" y="3610638"/>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599980" y="3587568"/>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868865" y="3563989"/>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137749" y="3539888"/>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406634" y="3515255"/>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675518" y="3490077"/>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944402" y="3464342"/>
            <a:ext cx="268884" cy="27432"/>
          </a:xfrm>
          <a:prstGeom prst="rect">
            <a:avLst/>
          </a:prstGeom>
          <a:solidFill>
            <a:srgbClr val="F5D6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27287" y="2724635"/>
            <a:ext cx="2286000" cy="182880"/>
          </a:xfrm>
          <a:prstGeom prst="rect">
            <a:avLst/>
          </a:prstGeom>
          <a:noFill/>
        </p:spPr>
        <p:txBody>
          <a:bodyPr wrap="square" lIns="0" rIns="0" tIns="0" bIns="0" anchor="t">
            <a:spAutoFit/>
          </a:bodyPr>
          <a:lstStyle/>
          <a:p>
            <a:pPr algn="r"/>
            <a:r>
              <a:rPr sz="900" b="1" i="0">
                <a:solidFill>
                  <a:srgbClr val="8EFEBB"/>
                </a:solidFill>
                <a:latin typeface="Manrope"/>
              </a:rPr>
              <a:t>62%/yr — £500k at month 14</a:t>
            </a:r>
          </a:p>
        </p:txBody>
      </p:sp>
      <p:sp>
        <p:nvSpPr>
          <p:cNvPr id="55" name="TextBox 54"/>
          <p:cNvSpPr txBox="1"/>
          <p:nvPr/>
        </p:nvSpPr>
        <p:spPr>
          <a:xfrm>
            <a:off x="8927287" y="3574070"/>
            <a:ext cx="2286000" cy="182880"/>
          </a:xfrm>
          <a:prstGeom prst="rect">
            <a:avLst/>
          </a:prstGeom>
          <a:noFill/>
        </p:spPr>
        <p:txBody>
          <a:bodyPr wrap="square" lIns="0" rIns="0" tIns="0" bIns="0" anchor="t">
            <a:spAutoFit/>
          </a:bodyPr>
          <a:lstStyle/>
          <a:p>
            <a:pPr algn="r"/>
            <a:r>
              <a:rPr sz="900" b="1" i="0">
                <a:solidFill>
                  <a:srgbClr val="F5D674"/>
                </a:solidFill>
                <a:latin typeface="Manrope"/>
              </a:rPr>
              <a:t>30%/yr — £500k at month 26</a:t>
            </a:r>
          </a:p>
        </p:txBody>
      </p:sp>
      <p:sp>
        <p:nvSpPr>
          <p:cNvPr id="56" name="TextBox 55"/>
          <p:cNvSpPr txBox="1"/>
          <p:nvPr/>
        </p:nvSpPr>
        <p:spPr>
          <a:xfrm>
            <a:off x="6428231" y="4718304"/>
            <a:ext cx="1828800" cy="182880"/>
          </a:xfrm>
          <a:prstGeom prst="rect">
            <a:avLst/>
          </a:prstGeom>
          <a:noFill/>
        </p:spPr>
        <p:txBody>
          <a:bodyPr wrap="square" lIns="0" rIns="0" tIns="0" bIns="0" anchor="t">
            <a:spAutoFit/>
          </a:bodyPr>
          <a:lstStyle/>
          <a:p>
            <a:pPr algn="l"/>
            <a:r>
              <a:rPr sz="800" b="1" i="0" spc="110">
                <a:solidFill>
                  <a:srgbClr val="6B7B74"/>
                </a:solidFill>
                <a:latin typeface="Manrope"/>
              </a:rPr>
              <a:t>AUG 2026 · £285,850</a:t>
            </a:r>
          </a:p>
        </p:txBody>
      </p:sp>
      <p:sp>
        <p:nvSpPr>
          <p:cNvPr id="57" name="TextBox 56"/>
          <p:cNvSpPr txBox="1"/>
          <p:nvPr/>
        </p:nvSpPr>
        <p:spPr>
          <a:xfrm>
            <a:off x="9933127" y="4718304"/>
            <a:ext cx="1280160" cy="182880"/>
          </a:xfrm>
          <a:prstGeom prst="rect">
            <a:avLst/>
          </a:prstGeom>
          <a:noFill/>
        </p:spPr>
        <p:txBody>
          <a:bodyPr wrap="square" lIns="0" rIns="0" tIns="0" bIns="0" anchor="t">
            <a:spAutoFit/>
          </a:bodyPr>
          <a:lstStyle/>
          <a:p>
            <a:pPr algn="r"/>
            <a:r>
              <a:rPr sz="800" b="1" i="0" spc="110">
                <a:solidFill>
                  <a:srgbClr val="6B7B74"/>
                </a:solidFill>
                <a:latin typeface="Manrope"/>
              </a:rPr>
              <a:t>MONTH 18</a:t>
            </a:r>
          </a:p>
        </p:txBody>
      </p:sp>
      <p:sp>
        <p:nvSpPr>
          <p:cNvPr id="58" name="TextBox 57"/>
          <p:cNvSpPr txBox="1"/>
          <p:nvPr/>
        </p:nvSpPr>
        <p:spPr>
          <a:xfrm>
            <a:off x="5916168" y="5340096"/>
            <a:ext cx="5708599" cy="457200"/>
          </a:xfrm>
          <a:prstGeom prst="rect">
            <a:avLst/>
          </a:prstGeom>
          <a:noFill/>
        </p:spPr>
        <p:txBody>
          <a:bodyPr wrap="square" lIns="0" rIns="0" tIns="0" bIns="0">
            <a:spAutoFit/>
          </a:bodyPr>
          <a:lstStyle/>
          <a:p>
            <a:pPr>
              <a:lnSpc>
                <a:spcPct val="135000"/>
              </a:lnSpc>
              <a:spcAft>
                <a:spcPts val="0"/>
              </a:spcAft>
            </a:pPr>
            <a:r>
              <a:rPr sz="980" b="0" i="0">
                <a:solidFill>
                  <a:srgbClr val="6B7B74"/>
                </a:solidFill>
                <a:latin typeface="Manrope"/>
              </a:rPr>
              <a:t>The gap between those two lines is what this roadmap is for. Holding 62% is worth twelve months of time; letting it fall to 30% costs a 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03 · WHAT THE PLAN IS FOR</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Two jobs: hold the trend, then </a:t>
            </a:r>
            <a:r>
              <a:rPr sz="2700" b="1" i="1" spc="-70">
                <a:solidFill>
                  <a:srgbClr val="8EFEBB"/>
                </a:solidFill>
                <a:latin typeface="Instrument Serif"/>
              </a:rPr>
              <a:t>beat</a:t>
            </a:r>
            <a:r>
              <a:rPr sz="2700" b="1" i="0" spc="-70">
                <a:solidFill>
                  <a:srgbClr val="FFFFFF"/>
                </a:solidFill>
                <a:latin typeface="Manrope"/>
              </a:rPr>
              <a:t> it</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Six levers, ordered by what has to happen first. The first three cost almost nothing, because the work is either already built or simply absent.</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04</a:t>
            </a:r>
          </a:p>
        </p:txBody>
      </p:sp>
      <p:sp>
        <p:nvSpPr>
          <p:cNvPr id="9" name="Rounded Rectangle 8"/>
          <p:cNvSpPr/>
          <p:nvPr/>
        </p:nvSpPr>
        <p:spPr>
          <a:xfrm>
            <a:off x="566928" y="2029968"/>
            <a:ext cx="1721053" cy="2286000"/>
          </a:xfrm>
          <a:prstGeom prst="roundRect">
            <a:avLst>
              <a:gd name="adj" fmla="val 4500"/>
            </a:avLst>
          </a:prstGeom>
          <a:solidFill>
            <a:srgbClr val="09221F"/>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13232" y="2194560"/>
            <a:ext cx="156362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ALREADY BUILT</a:t>
            </a:r>
          </a:p>
        </p:txBody>
      </p:sp>
      <p:sp>
        <p:nvSpPr>
          <p:cNvPr id="11" name="TextBox 10"/>
          <p:cNvSpPr txBox="1"/>
          <p:nvPr/>
        </p:nvSpPr>
        <p:spPr>
          <a:xfrm>
            <a:off x="713232" y="2560320"/>
            <a:ext cx="1446733" cy="457200"/>
          </a:xfrm>
          <a:prstGeom prst="rect">
            <a:avLst/>
          </a:prstGeom>
          <a:noFill/>
        </p:spPr>
        <p:txBody>
          <a:bodyPr wrap="square" lIns="0" rIns="0" tIns="0" bIns="0" anchor="t">
            <a:spAutoFit/>
          </a:bodyPr>
          <a:lstStyle/>
          <a:p>
            <a:pPr algn="l"/>
            <a:r>
              <a:rPr sz="1200" b="1" i="0" spc="-30">
                <a:solidFill>
                  <a:srgbClr val="FFFFFF"/>
                </a:solidFill>
                <a:latin typeface="Manrope"/>
              </a:rPr>
              <a:t>Release the site work</a:t>
            </a:r>
          </a:p>
        </p:txBody>
      </p:sp>
      <p:sp>
        <p:nvSpPr>
          <p:cNvPr id="12" name="TextBox 11"/>
          <p:cNvSpPr txBox="1"/>
          <p:nvPr/>
        </p:nvSpPr>
        <p:spPr>
          <a:xfrm>
            <a:off x="713232" y="2999232"/>
            <a:ext cx="1446733" cy="502920"/>
          </a:xfrm>
          <a:prstGeom prst="rect">
            <a:avLst/>
          </a:prstGeom>
          <a:noFill/>
        </p:spPr>
        <p:txBody>
          <a:bodyPr wrap="square" lIns="0" rIns="0" tIns="0" bIns="0" anchor="t">
            <a:spAutoFit/>
          </a:bodyPr>
          <a:lstStyle/>
          <a:p>
            <a:pPr algn="l"/>
            <a:r>
              <a:rPr sz="1500" b="1" i="0" spc="-60">
                <a:solidFill>
                  <a:srgbClr val="8EFEBB"/>
                </a:solidFill>
                <a:latin typeface="Manrope"/>
              </a:rPr>
              <a:t>+£147k – £194k</a:t>
            </a:r>
          </a:p>
        </p:txBody>
      </p:sp>
      <p:sp>
        <p:nvSpPr>
          <p:cNvPr id="13" name="TextBox 12"/>
          <p:cNvSpPr txBox="1"/>
          <p:nvPr/>
        </p:nvSpPr>
        <p:spPr>
          <a:xfrm>
            <a:off x="713232" y="3346704"/>
            <a:ext cx="1446733" cy="868680"/>
          </a:xfrm>
          <a:prstGeom prst="rect">
            <a:avLst/>
          </a:prstGeom>
          <a:noFill/>
        </p:spPr>
        <p:txBody>
          <a:bodyPr wrap="square" lIns="0" rIns="0" tIns="0" bIns="0">
            <a:spAutoFit/>
          </a:bodyPr>
          <a:lstStyle/>
          <a:p>
            <a:pPr>
              <a:lnSpc>
                <a:spcPct val="135000"/>
              </a:lnSpc>
              <a:spcAft>
                <a:spcPts val="0"/>
              </a:spcAft>
            </a:pPr>
            <a:r>
              <a:rPr sz="860" b="0" i="0">
                <a:solidFill>
                  <a:srgbClr val="6B7B74"/>
                </a:solidFill>
                <a:latin typeface="Manrope"/>
              </a:rPr>
              <a:t>Five waves merged and tested, waiting on a release decision. Costs nothing to deploy</a:t>
            </a:r>
          </a:p>
        </p:txBody>
      </p:sp>
      <p:sp>
        <p:nvSpPr>
          <p:cNvPr id="14" name="Rounded Rectangle 13"/>
          <p:cNvSpPr/>
          <p:nvPr/>
        </p:nvSpPr>
        <p:spPr>
          <a:xfrm>
            <a:off x="2434285" y="2029968"/>
            <a:ext cx="1721053" cy="2286000"/>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580589" y="2194560"/>
            <a:ext cx="106070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DO FIRST</a:t>
            </a:r>
          </a:p>
        </p:txBody>
      </p:sp>
      <p:sp>
        <p:nvSpPr>
          <p:cNvPr id="16" name="TextBox 15"/>
          <p:cNvSpPr txBox="1"/>
          <p:nvPr/>
        </p:nvSpPr>
        <p:spPr>
          <a:xfrm>
            <a:off x="2580589" y="2560320"/>
            <a:ext cx="1446733" cy="457200"/>
          </a:xfrm>
          <a:prstGeom prst="rect">
            <a:avLst/>
          </a:prstGeom>
          <a:noFill/>
        </p:spPr>
        <p:txBody>
          <a:bodyPr wrap="square" lIns="0" rIns="0" tIns="0" bIns="0" anchor="t">
            <a:spAutoFit/>
          </a:bodyPr>
          <a:lstStyle/>
          <a:p>
            <a:pPr algn="l"/>
            <a:r>
              <a:rPr sz="1200" b="1" i="0" spc="-30">
                <a:solidFill>
                  <a:srgbClr val="FFFFFF"/>
                </a:solidFill>
                <a:latin typeface="Manrope"/>
              </a:rPr>
              <a:t>Stop the bot traffic</a:t>
            </a:r>
          </a:p>
        </p:txBody>
      </p:sp>
      <p:sp>
        <p:nvSpPr>
          <p:cNvPr id="17" name="TextBox 16"/>
          <p:cNvSpPr txBox="1"/>
          <p:nvPr/>
        </p:nvSpPr>
        <p:spPr>
          <a:xfrm>
            <a:off x="2580589" y="2999232"/>
            <a:ext cx="1446733" cy="502920"/>
          </a:xfrm>
          <a:prstGeom prst="rect">
            <a:avLst/>
          </a:prstGeom>
          <a:noFill/>
        </p:spPr>
        <p:txBody>
          <a:bodyPr wrap="square" lIns="0" rIns="0" tIns="0" bIns="0" anchor="t">
            <a:spAutoFit/>
          </a:bodyPr>
          <a:lstStyle/>
          <a:p>
            <a:pPr algn="l"/>
            <a:r>
              <a:rPr sz="1500" b="1" i="0" spc="-60">
                <a:solidFill>
                  <a:srgbClr val="EF4444"/>
                </a:solidFill>
                <a:latin typeface="Manrope"/>
              </a:rPr>
              <a:t>Protects all</a:t>
            </a:r>
          </a:p>
        </p:txBody>
      </p:sp>
      <p:sp>
        <p:nvSpPr>
          <p:cNvPr id="18" name="TextBox 17"/>
          <p:cNvSpPr txBox="1"/>
          <p:nvPr/>
        </p:nvSpPr>
        <p:spPr>
          <a:xfrm>
            <a:off x="2580589" y="3346704"/>
            <a:ext cx="1446733" cy="868680"/>
          </a:xfrm>
          <a:prstGeom prst="rect">
            <a:avLst/>
          </a:prstGeom>
          <a:noFill/>
        </p:spPr>
        <p:txBody>
          <a:bodyPr wrap="square" lIns="0" rIns="0" tIns="0" bIns="0">
            <a:spAutoFit/>
          </a:bodyPr>
          <a:lstStyle/>
          <a:p>
            <a:pPr>
              <a:lnSpc>
                <a:spcPct val="135000"/>
              </a:lnSpc>
              <a:spcAft>
                <a:spcPts val="0"/>
              </a:spcAft>
            </a:pPr>
            <a:r>
              <a:rPr sz="860" b="0" i="0">
                <a:solidFill>
                  <a:srgbClr val="6B7B74"/>
                </a:solidFill>
                <a:latin typeface="Manrope"/>
              </a:rPr>
              <a:t>92% of sessions are fictional and are corrupting what Google and Meta learn</a:t>
            </a:r>
          </a:p>
        </p:txBody>
      </p:sp>
      <p:sp>
        <p:nvSpPr>
          <p:cNvPr id="19" name="Rounded Rectangle 18"/>
          <p:cNvSpPr/>
          <p:nvPr/>
        </p:nvSpPr>
        <p:spPr>
          <a:xfrm>
            <a:off x="4301642" y="2029968"/>
            <a:ext cx="1721053" cy="2286000"/>
          </a:xfrm>
          <a:prstGeom prst="roundRect">
            <a:avLst>
              <a:gd name="adj" fmla="val 4500"/>
            </a:avLst>
          </a:prstGeom>
          <a:solidFill>
            <a:srgbClr val="09221F"/>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447946" y="2194560"/>
            <a:ext cx="106070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CHEAPEST</a:t>
            </a:r>
          </a:p>
        </p:txBody>
      </p:sp>
      <p:sp>
        <p:nvSpPr>
          <p:cNvPr id="21" name="TextBox 20"/>
          <p:cNvSpPr txBox="1"/>
          <p:nvPr/>
        </p:nvSpPr>
        <p:spPr>
          <a:xfrm>
            <a:off x="4447946" y="2560320"/>
            <a:ext cx="1446733" cy="457200"/>
          </a:xfrm>
          <a:prstGeom prst="rect">
            <a:avLst/>
          </a:prstGeom>
          <a:noFill/>
        </p:spPr>
        <p:txBody>
          <a:bodyPr wrap="square" lIns="0" rIns="0" tIns="0" bIns="0" anchor="t">
            <a:spAutoFit/>
          </a:bodyPr>
          <a:lstStyle/>
          <a:p>
            <a:pPr algn="l"/>
            <a:r>
              <a:rPr sz="1200" b="1" i="0" spc="-30">
                <a:solidFill>
                  <a:srgbClr val="FFFFFF"/>
                </a:solidFill>
                <a:latin typeface="Manrope"/>
              </a:rPr>
              <a:t>Trade &amp; email</a:t>
            </a:r>
          </a:p>
        </p:txBody>
      </p:sp>
      <p:sp>
        <p:nvSpPr>
          <p:cNvPr id="22" name="TextBox 21"/>
          <p:cNvSpPr txBox="1"/>
          <p:nvPr/>
        </p:nvSpPr>
        <p:spPr>
          <a:xfrm>
            <a:off x="4447946" y="2999232"/>
            <a:ext cx="1446733" cy="502920"/>
          </a:xfrm>
          <a:prstGeom prst="rect">
            <a:avLst/>
          </a:prstGeom>
          <a:noFill/>
        </p:spPr>
        <p:txBody>
          <a:bodyPr wrap="square" lIns="0" rIns="0" tIns="0" bIns="0" anchor="t">
            <a:spAutoFit/>
          </a:bodyPr>
          <a:lstStyle/>
          <a:p>
            <a:pPr algn="l"/>
            <a:r>
              <a:rPr sz="1500" b="1" i="0" spc="-60">
                <a:solidFill>
                  <a:srgbClr val="8EFEBB"/>
                </a:solidFill>
                <a:latin typeface="Manrope"/>
              </a:rPr>
              <a:t>Does not exist</a:t>
            </a:r>
          </a:p>
        </p:txBody>
      </p:sp>
      <p:sp>
        <p:nvSpPr>
          <p:cNvPr id="23" name="TextBox 22"/>
          <p:cNvSpPr txBox="1"/>
          <p:nvPr/>
        </p:nvSpPr>
        <p:spPr>
          <a:xfrm>
            <a:off x="4447946" y="3346704"/>
            <a:ext cx="1446733" cy="868680"/>
          </a:xfrm>
          <a:prstGeom prst="rect">
            <a:avLst/>
          </a:prstGeom>
          <a:noFill/>
        </p:spPr>
        <p:txBody>
          <a:bodyPr wrap="square" lIns="0" rIns="0" tIns="0" bIns="0">
            <a:spAutoFit/>
          </a:bodyPr>
          <a:lstStyle/>
          <a:p>
            <a:pPr>
              <a:lnSpc>
                <a:spcPct val="135000"/>
              </a:lnSpc>
              <a:spcAft>
                <a:spcPts val="0"/>
              </a:spcAft>
            </a:pPr>
            <a:r>
              <a:rPr sz="860" b="0" i="0">
                <a:solidFill>
                  <a:srgbClr val="6B7B74"/>
                </a:solidFill>
                <a:latin typeface="Manrope"/>
              </a:rPr>
              <a:t>6,028 buyers, repeat worth 3.7×, £65k a month abandoned, no email running</a:t>
            </a:r>
          </a:p>
        </p:txBody>
      </p:sp>
      <p:sp>
        <p:nvSpPr>
          <p:cNvPr id="24" name="Rounded Rectangle 23"/>
          <p:cNvSpPr/>
          <p:nvPr/>
        </p:nvSpPr>
        <p:spPr>
          <a:xfrm>
            <a:off x="6168999" y="2029968"/>
            <a:ext cx="1721053" cy="22860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315303" y="2194560"/>
            <a:ext cx="960120"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FASTEST</a:t>
            </a:r>
          </a:p>
        </p:txBody>
      </p:sp>
      <p:sp>
        <p:nvSpPr>
          <p:cNvPr id="26" name="TextBox 25"/>
          <p:cNvSpPr txBox="1"/>
          <p:nvPr/>
        </p:nvSpPr>
        <p:spPr>
          <a:xfrm>
            <a:off x="6315303" y="2560320"/>
            <a:ext cx="1446733" cy="457200"/>
          </a:xfrm>
          <a:prstGeom prst="rect">
            <a:avLst/>
          </a:prstGeom>
          <a:noFill/>
        </p:spPr>
        <p:txBody>
          <a:bodyPr wrap="square" lIns="0" rIns="0" tIns="0" bIns="0" anchor="t">
            <a:spAutoFit/>
          </a:bodyPr>
          <a:lstStyle/>
          <a:p>
            <a:pPr algn="l"/>
            <a:r>
              <a:rPr sz="1200" b="1" i="0" spc="-30">
                <a:solidFill>
                  <a:srgbClr val="FFFFFF"/>
                </a:solidFill>
                <a:latin typeface="Manrope"/>
              </a:rPr>
              <a:t>Paid restructure</a:t>
            </a:r>
          </a:p>
        </p:txBody>
      </p:sp>
      <p:sp>
        <p:nvSpPr>
          <p:cNvPr id="27" name="TextBox 26"/>
          <p:cNvSpPr txBox="1"/>
          <p:nvPr/>
        </p:nvSpPr>
        <p:spPr>
          <a:xfrm>
            <a:off x="6315303" y="2999232"/>
            <a:ext cx="1446733" cy="502920"/>
          </a:xfrm>
          <a:prstGeom prst="rect">
            <a:avLst/>
          </a:prstGeom>
          <a:noFill/>
        </p:spPr>
        <p:txBody>
          <a:bodyPr wrap="square" lIns="0" rIns="0" tIns="0" bIns="0" anchor="t">
            <a:spAutoFit/>
          </a:bodyPr>
          <a:lstStyle/>
          <a:p>
            <a:pPr algn="l"/>
            <a:r>
              <a:rPr sz="1500" b="1" i="0" spc="-60">
                <a:solidFill>
                  <a:srgbClr val="8EFEBB"/>
                </a:solidFill>
                <a:latin typeface="Manrope"/>
              </a:rPr>
              <a:t>+£30k – £50k</a:t>
            </a:r>
          </a:p>
        </p:txBody>
      </p:sp>
      <p:sp>
        <p:nvSpPr>
          <p:cNvPr id="28" name="TextBox 27"/>
          <p:cNvSpPr txBox="1"/>
          <p:nvPr/>
        </p:nvSpPr>
        <p:spPr>
          <a:xfrm>
            <a:off x="6315303" y="3346704"/>
            <a:ext cx="1446733" cy="868680"/>
          </a:xfrm>
          <a:prstGeom prst="rect">
            <a:avLst/>
          </a:prstGeom>
          <a:noFill/>
        </p:spPr>
        <p:txBody>
          <a:bodyPr wrap="square" lIns="0" rIns="0" tIns="0" bIns="0">
            <a:spAutoFit/>
          </a:bodyPr>
          <a:lstStyle/>
          <a:p>
            <a:pPr>
              <a:lnSpc>
                <a:spcPct val="135000"/>
              </a:lnSpc>
              <a:spcAft>
                <a:spcPts val="0"/>
              </a:spcAft>
            </a:pPr>
            <a:r>
              <a:rPr sz="860" b="0" i="0">
                <a:solidFill>
                  <a:srgbClr val="6B7B74"/>
                </a:solidFill>
                <a:latin typeface="Manrope"/>
              </a:rPr>
              <a:t>Consolidation lifting working-media return, plus Microsoft to its ceiling</a:t>
            </a:r>
          </a:p>
        </p:txBody>
      </p:sp>
      <p:sp>
        <p:nvSpPr>
          <p:cNvPr id="29" name="Rounded Rectangle 28"/>
          <p:cNvSpPr/>
          <p:nvPr/>
        </p:nvSpPr>
        <p:spPr>
          <a:xfrm>
            <a:off x="8036356" y="2029968"/>
            <a:ext cx="1721053" cy="22860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182660" y="2194560"/>
            <a:ext cx="859536"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PROVEN</a:t>
            </a:r>
          </a:p>
        </p:txBody>
      </p:sp>
      <p:sp>
        <p:nvSpPr>
          <p:cNvPr id="31" name="TextBox 30"/>
          <p:cNvSpPr txBox="1"/>
          <p:nvPr/>
        </p:nvSpPr>
        <p:spPr>
          <a:xfrm>
            <a:off x="8182660" y="2560320"/>
            <a:ext cx="1446733" cy="457200"/>
          </a:xfrm>
          <a:prstGeom prst="rect">
            <a:avLst/>
          </a:prstGeom>
          <a:noFill/>
        </p:spPr>
        <p:txBody>
          <a:bodyPr wrap="square" lIns="0" rIns="0" tIns="0" bIns="0" anchor="t">
            <a:spAutoFit/>
          </a:bodyPr>
          <a:lstStyle/>
          <a:p>
            <a:pPr algn="l"/>
            <a:r>
              <a:rPr sz="1200" b="1" i="0" spc="-30">
                <a:solidFill>
                  <a:srgbClr val="FFFFFF"/>
                </a:solidFill>
                <a:latin typeface="Manrope"/>
              </a:rPr>
              <a:t>Solid hardwood</a:t>
            </a:r>
          </a:p>
        </p:txBody>
      </p:sp>
      <p:sp>
        <p:nvSpPr>
          <p:cNvPr id="32" name="TextBox 31"/>
          <p:cNvSpPr txBox="1"/>
          <p:nvPr/>
        </p:nvSpPr>
        <p:spPr>
          <a:xfrm>
            <a:off x="8182660" y="2999232"/>
            <a:ext cx="1446733" cy="502920"/>
          </a:xfrm>
          <a:prstGeom prst="rect">
            <a:avLst/>
          </a:prstGeom>
          <a:noFill/>
        </p:spPr>
        <p:txBody>
          <a:bodyPr wrap="square" lIns="0" rIns="0" tIns="0" bIns="0" anchor="t">
            <a:spAutoFit/>
          </a:bodyPr>
          <a:lstStyle/>
          <a:p>
            <a:pPr algn="l"/>
            <a:r>
              <a:rPr sz="1500" b="1" i="0" spc="-60">
                <a:solidFill>
                  <a:srgbClr val="8EFEBB"/>
                </a:solidFill>
                <a:latin typeface="Manrope"/>
              </a:rPr>
              <a:t>+£30k – £60k</a:t>
            </a:r>
          </a:p>
        </p:txBody>
      </p:sp>
      <p:sp>
        <p:nvSpPr>
          <p:cNvPr id="33" name="TextBox 32"/>
          <p:cNvSpPr txBox="1"/>
          <p:nvPr/>
        </p:nvSpPr>
        <p:spPr>
          <a:xfrm>
            <a:off x="8182660" y="3346704"/>
            <a:ext cx="1446733" cy="868680"/>
          </a:xfrm>
          <a:prstGeom prst="rect">
            <a:avLst/>
          </a:prstGeom>
          <a:noFill/>
        </p:spPr>
        <p:txBody>
          <a:bodyPr wrap="square" lIns="0" rIns="0" tIns="0" bIns="0">
            <a:spAutoFit/>
          </a:bodyPr>
          <a:lstStyle/>
          <a:p>
            <a:pPr>
              <a:lnSpc>
                <a:spcPct val="135000"/>
              </a:lnSpc>
              <a:spcAft>
                <a:spcPts val="0"/>
              </a:spcAft>
            </a:pPr>
            <a:r>
              <a:rPr sz="860" b="0" i="0">
                <a:solidFill>
                  <a:srgbClr val="6B7B74"/>
                </a:solidFill>
                <a:latin typeface="Manrope"/>
              </a:rPr>
              <a:t>Against the £13.3k a month it already earns with no marketing behind it</a:t>
            </a:r>
          </a:p>
        </p:txBody>
      </p:sp>
      <p:sp>
        <p:nvSpPr>
          <p:cNvPr id="34" name="Rounded Rectangle 33"/>
          <p:cNvSpPr/>
          <p:nvPr/>
        </p:nvSpPr>
        <p:spPr>
          <a:xfrm>
            <a:off x="9903714" y="2029968"/>
            <a:ext cx="1721053" cy="22860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0050018" y="2194560"/>
            <a:ext cx="106070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F5D674"/>
                </a:solidFill>
                <a:latin typeface="Manrope"/>
              </a:rPr>
              <a:t>UNPROVEN</a:t>
            </a:r>
          </a:p>
        </p:txBody>
      </p:sp>
      <p:sp>
        <p:nvSpPr>
          <p:cNvPr id="36" name="TextBox 35"/>
          <p:cNvSpPr txBox="1"/>
          <p:nvPr/>
        </p:nvSpPr>
        <p:spPr>
          <a:xfrm>
            <a:off x="10050018" y="2560320"/>
            <a:ext cx="1446733" cy="457200"/>
          </a:xfrm>
          <a:prstGeom prst="rect">
            <a:avLst/>
          </a:prstGeom>
          <a:noFill/>
        </p:spPr>
        <p:txBody>
          <a:bodyPr wrap="square" lIns="0" rIns="0" tIns="0" bIns="0" anchor="t">
            <a:spAutoFit/>
          </a:bodyPr>
          <a:lstStyle/>
          <a:p>
            <a:pPr algn="l"/>
            <a:r>
              <a:rPr sz="1200" b="1" i="0" spc="-30">
                <a:solidFill>
                  <a:srgbClr val="FFFFFF"/>
                </a:solidFill>
                <a:latin typeface="Manrope"/>
              </a:rPr>
              <a:t>Flooring</a:t>
            </a:r>
          </a:p>
        </p:txBody>
      </p:sp>
      <p:sp>
        <p:nvSpPr>
          <p:cNvPr id="37" name="TextBox 36"/>
          <p:cNvSpPr txBox="1"/>
          <p:nvPr/>
        </p:nvSpPr>
        <p:spPr>
          <a:xfrm>
            <a:off x="10050018" y="2999232"/>
            <a:ext cx="1446733" cy="502920"/>
          </a:xfrm>
          <a:prstGeom prst="rect">
            <a:avLst/>
          </a:prstGeom>
          <a:noFill/>
        </p:spPr>
        <p:txBody>
          <a:bodyPr wrap="square" lIns="0" rIns="0" tIns="0" bIns="0" anchor="t">
            <a:spAutoFit/>
          </a:bodyPr>
          <a:lstStyle/>
          <a:p>
            <a:pPr algn="l"/>
            <a:r>
              <a:rPr sz="1500" b="1" i="0" spc="-60">
                <a:solidFill>
                  <a:srgbClr val="F5D674"/>
                </a:solidFill>
                <a:latin typeface="Manrope"/>
              </a:rPr>
              <a:t>Trial only</a:t>
            </a:r>
          </a:p>
        </p:txBody>
      </p:sp>
      <p:sp>
        <p:nvSpPr>
          <p:cNvPr id="38" name="TextBox 37"/>
          <p:cNvSpPr txBox="1"/>
          <p:nvPr/>
        </p:nvSpPr>
        <p:spPr>
          <a:xfrm>
            <a:off x="10050018" y="3346704"/>
            <a:ext cx="1446733" cy="868680"/>
          </a:xfrm>
          <a:prstGeom prst="rect">
            <a:avLst/>
          </a:prstGeom>
          <a:noFill/>
        </p:spPr>
        <p:txBody>
          <a:bodyPr wrap="square" lIns="0" rIns="0" tIns="0" bIns="0">
            <a:spAutoFit/>
          </a:bodyPr>
          <a:lstStyle/>
          <a:p>
            <a:pPr>
              <a:lnSpc>
                <a:spcPct val="135000"/>
              </a:lnSpc>
              <a:spcAft>
                <a:spcPts val="0"/>
              </a:spcAft>
            </a:pPr>
            <a:r>
              <a:rPr sz="860" b="0" i="0">
                <a:solidFill>
                  <a:srgbClr val="6B7B74"/>
                </a:solidFill>
                <a:latin typeface="Manrope"/>
              </a:rPr>
              <a:t>A different competitive set. Judged on its own funnel, not folded into the forecast</a:t>
            </a:r>
          </a:p>
        </p:txBody>
      </p:sp>
      <p:sp>
        <p:nvSpPr>
          <p:cNvPr id="39" name="Rounded Rectangle 38"/>
          <p:cNvSpPr/>
          <p:nvPr/>
        </p:nvSpPr>
        <p:spPr>
          <a:xfrm>
            <a:off x="566928" y="4517136"/>
            <a:ext cx="5391759" cy="1298448"/>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04672" y="4700016"/>
            <a:ext cx="4934559" cy="274320"/>
          </a:xfrm>
          <a:prstGeom prst="rect">
            <a:avLst/>
          </a:prstGeom>
          <a:noFill/>
        </p:spPr>
        <p:txBody>
          <a:bodyPr wrap="square" lIns="0" rIns="0" tIns="0" bIns="0" anchor="t">
            <a:spAutoFit/>
          </a:bodyPr>
          <a:lstStyle/>
          <a:p>
            <a:pPr algn="l"/>
            <a:r>
              <a:rPr sz="1250" b="1" i="0">
                <a:solidFill>
                  <a:srgbClr val="8EFEBB"/>
                </a:solidFill>
                <a:latin typeface="Manrope"/>
              </a:rPr>
              <a:t>How to read these numbers honestly</a:t>
            </a:r>
          </a:p>
        </p:txBody>
      </p:sp>
      <p:sp>
        <p:nvSpPr>
          <p:cNvPr id="41" name="TextBox 40"/>
          <p:cNvSpPr txBox="1"/>
          <p:nvPr/>
        </p:nvSpPr>
        <p:spPr>
          <a:xfrm>
            <a:off x="804672" y="5020056"/>
            <a:ext cx="4934559" cy="731520"/>
          </a:xfrm>
          <a:prstGeom prst="rect">
            <a:avLst/>
          </a:prstGeom>
          <a:noFill/>
        </p:spPr>
        <p:txBody>
          <a:bodyPr wrap="square" lIns="0" rIns="0" tIns="0" bIns="0">
            <a:spAutoFit/>
          </a:bodyPr>
          <a:lstStyle/>
          <a:p>
            <a:pPr>
              <a:lnSpc>
                <a:spcPct val="138000"/>
              </a:lnSpc>
              <a:spcAft>
                <a:spcPts val="0"/>
              </a:spcAft>
            </a:pPr>
            <a:r>
              <a:rPr sz="1050" b="0" i="0">
                <a:solidFill>
                  <a:srgbClr val="B9C7C0"/>
                </a:solidFill>
                <a:latin typeface="Manrope"/>
              </a:rPr>
              <a:t>These levers are not additive on top of the 62% trend — much of that growth arrives through them. The honest claim is narrower: </a:t>
            </a:r>
            <a:r>
              <a:rPr sz="1050" b="1" i="0">
                <a:solidFill>
                  <a:srgbClr val="FFFFFF"/>
                </a:solidFill>
                <a:latin typeface="Manrope"/>
              </a:rPr>
              <a:t>this plan protects the 62% baseline and gives a credible route to twelve months or better.</a:t>
            </a:r>
          </a:p>
        </p:txBody>
      </p:sp>
      <p:sp>
        <p:nvSpPr>
          <p:cNvPr id="42" name="Rounded Rectangle 41"/>
          <p:cNvSpPr/>
          <p:nvPr/>
        </p:nvSpPr>
        <p:spPr>
          <a:xfrm>
            <a:off x="6233007" y="4517136"/>
            <a:ext cx="5391759" cy="1298448"/>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70751" y="4700016"/>
            <a:ext cx="4934559" cy="274320"/>
          </a:xfrm>
          <a:prstGeom prst="rect">
            <a:avLst/>
          </a:prstGeom>
          <a:noFill/>
        </p:spPr>
        <p:txBody>
          <a:bodyPr wrap="square" lIns="0" rIns="0" tIns="0" bIns="0" anchor="t">
            <a:spAutoFit/>
          </a:bodyPr>
          <a:lstStyle/>
          <a:p>
            <a:pPr algn="l"/>
            <a:r>
              <a:rPr sz="1250" b="1" i="0">
                <a:solidFill>
                  <a:srgbClr val="FFFFFF"/>
                </a:solidFill>
                <a:latin typeface="Manrope"/>
              </a:rPr>
              <a:t>The order matters more than the list</a:t>
            </a:r>
          </a:p>
        </p:txBody>
      </p:sp>
      <p:sp>
        <p:nvSpPr>
          <p:cNvPr id="44" name="TextBox 43"/>
          <p:cNvSpPr txBox="1"/>
          <p:nvPr/>
        </p:nvSpPr>
        <p:spPr>
          <a:xfrm>
            <a:off x="6470751" y="5020056"/>
            <a:ext cx="4934559" cy="731520"/>
          </a:xfrm>
          <a:prstGeom prst="rect">
            <a:avLst/>
          </a:prstGeom>
          <a:noFill/>
        </p:spPr>
        <p:txBody>
          <a:bodyPr wrap="square" lIns="0" rIns="0" tIns="0" bIns="0">
            <a:spAutoFit/>
          </a:bodyPr>
          <a:lstStyle/>
          <a:p>
            <a:pPr>
              <a:lnSpc>
                <a:spcPct val="138000"/>
              </a:lnSpc>
              <a:spcAft>
                <a:spcPts val="0"/>
              </a:spcAft>
            </a:pPr>
            <a:r>
              <a:rPr sz="1050" b="0" i="0">
                <a:solidFill>
                  <a:srgbClr val="B9C7C0"/>
                </a:solidFill>
                <a:latin typeface="Manrope"/>
              </a:rPr>
              <a:t>Stop the bots, then release the built work, then fix the paid structure — in that sequence. Each makes the measurement of the next trustworthy. Adding budget before them is how a 62% trend quietly becomes a 30%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04 · WHO IS BUYING</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A repeat buyer is worth </a:t>
            </a:r>
            <a:r>
              <a:rPr sz="2700" b="1" i="1" spc="-70">
                <a:solidFill>
                  <a:srgbClr val="8EFEBB"/>
                </a:solidFill>
                <a:latin typeface="Instrument Serif"/>
              </a:rPr>
              <a:t>3.7×</a:t>
            </a:r>
            <a:r>
              <a:rPr sz="2700" b="1" i="0" spc="-70">
                <a:solidFill>
                  <a:srgbClr val="FFFFFF"/>
                </a:solidFill>
                <a:latin typeface="Manrope"/>
              </a:rPr>
              <a:t> a one-time buyer</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Fifteen thousand customer records, read for the first time. They change where the cheapest revenue in the plan sits.</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05</a:t>
            </a:r>
          </a:p>
        </p:txBody>
      </p:sp>
      <p:sp>
        <p:nvSpPr>
          <p:cNvPr id="9" name="Rounded Rectangle 8"/>
          <p:cNvSpPr/>
          <p:nvPr/>
        </p:nvSpPr>
        <p:spPr>
          <a:xfrm>
            <a:off x="566928" y="2029968"/>
            <a:ext cx="5394960" cy="137160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4672" y="2212848"/>
            <a:ext cx="4937760" cy="457200"/>
          </a:xfrm>
          <a:prstGeom prst="rect">
            <a:avLst/>
          </a:prstGeom>
          <a:noFill/>
        </p:spPr>
        <p:txBody>
          <a:bodyPr wrap="square" lIns="0" rIns="0" tIns="0" bIns="0">
            <a:spAutoFit/>
          </a:bodyPr>
          <a:lstStyle/>
          <a:p>
            <a:pPr>
              <a:lnSpc>
                <a:spcPct val="135000"/>
              </a:lnSpc>
              <a:spcAft>
                <a:spcPts val="0"/>
              </a:spcAft>
            </a:pPr>
            <a:r>
              <a:rPr sz="1150" b="1" i="0">
                <a:solidFill>
                  <a:srgbClr val="8EFEBB"/>
                </a:solidFill>
                <a:latin typeface="Manrope"/>
              </a:rPr>
              <a:t>19.2% of buyers have ordered more than once — and those 1,155 people generate 46.6% of all lifetime revenue.</a:t>
            </a:r>
          </a:p>
        </p:txBody>
      </p:sp>
      <p:sp>
        <p:nvSpPr>
          <p:cNvPr id="11" name="TextBox 10"/>
          <p:cNvSpPr txBox="1"/>
          <p:nvPr/>
        </p:nvSpPr>
        <p:spPr>
          <a:xfrm>
            <a:off x="804672" y="2816352"/>
            <a:ext cx="1554480" cy="182880"/>
          </a:xfrm>
          <a:prstGeom prst="rect">
            <a:avLst/>
          </a:prstGeom>
          <a:noFill/>
        </p:spPr>
        <p:txBody>
          <a:bodyPr wrap="square" lIns="0" rIns="0" tIns="0" bIns="0" anchor="t">
            <a:spAutoFit/>
          </a:bodyPr>
          <a:lstStyle/>
          <a:p>
            <a:pPr algn="l"/>
            <a:r>
              <a:rPr sz="850" b="1" i="0" spc="160">
                <a:solidFill>
                  <a:srgbClr val="6B7B74"/>
                </a:solidFill>
                <a:latin typeface="Manrope"/>
              </a:rPr>
              <a:t>REPEAT BUYER</a:t>
            </a:r>
          </a:p>
        </p:txBody>
      </p:sp>
      <p:sp>
        <p:nvSpPr>
          <p:cNvPr id="12" name="TextBox 11"/>
          <p:cNvSpPr txBox="1"/>
          <p:nvPr/>
        </p:nvSpPr>
        <p:spPr>
          <a:xfrm>
            <a:off x="804672" y="3017520"/>
            <a:ext cx="1554480" cy="502920"/>
          </a:xfrm>
          <a:prstGeom prst="rect">
            <a:avLst/>
          </a:prstGeom>
          <a:noFill/>
        </p:spPr>
        <p:txBody>
          <a:bodyPr wrap="square" lIns="0" rIns="0" tIns="0" bIns="0" anchor="t">
            <a:spAutoFit/>
          </a:bodyPr>
          <a:lstStyle/>
          <a:p>
            <a:pPr algn="l"/>
            <a:r>
              <a:rPr sz="2000" b="1" i="0" spc="-60">
                <a:solidFill>
                  <a:srgbClr val="8EFEBB"/>
                </a:solidFill>
                <a:latin typeface="Manrope"/>
              </a:rPr>
              <a:t>£1,192</a:t>
            </a:r>
          </a:p>
        </p:txBody>
      </p:sp>
      <p:sp>
        <p:nvSpPr>
          <p:cNvPr id="13" name="TextBox 12"/>
          <p:cNvSpPr txBox="1"/>
          <p:nvPr/>
        </p:nvSpPr>
        <p:spPr>
          <a:xfrm>
            <a:off x="2496312" y="2816352"/>
            <a:ext cx="1554480" cy="182880"/>
          </a:xfrm>
          <a:prstGeom prst="rect">
            <a:avLst/>
          </a:prstGeom>
          <a:noFill/>
        </p:spPr>
        <p:txBody>
          <a:bodyPr wrap="square" lIns="0" rIns="0" tIns="0" bIns="0" anchor="t">
            <a:spAutoFit/>
          </a:bodyPr>
          <a:lstStyle/>
          <a:p>
            <a:pPr algn="l"/>
            <a:r>
              <a:rPr sz="850" b="1" i="0" spc="160">
                <a:solidFill>
                  <a:srgbClr val="6B7B74"/>
                </a:solidFill>
                <a:latin typeface="Manrope"/>
              </a:rPr>
              <a:t>ONE-TIME BUYER</a:t>
            </a:r>
          </a:p>
        </p:txBody>
      </p:sp>
      <p:sp>
        <p:nvSpPr>
          <p:cNvPr id="14" name="TextBox 13"/>
          <p:cNvSpPr txBox="1"/>
          <p:nvPr/>
        </p:nvSpPr>
        <p:spPr>
          <a:xfrm>
            <a:off x="2496312" y="3017520"/>
            <a:ext cx="1554480" cy="502920"/>
          </a:xfrm>
          <a:prstGeom prst="rect">
            <a:avLst/>
          </a:prstGeom>
          <a:noFill/>
        </p:spPr>
        <p:txBody>
          <a:bodyPr wrap="square" lIns="0" rIns="0" tIns="0" bIns="0" anchor="t">
            <a:spAutoFit/>
          </a:bodyPr>
          <a:lstStyle/>
          <a:p>
            <a:pPr algn="l"/>
            <a:r>
              <a:rPr sz="2000" b="1" i="0" spc="-60">
                <a:solidFill>
                  <a:srgbClr val="FFFFFF"/>
                </a:solidFill>
                <a:latin typeface="Manrope"/>
              </a:rPr>
              <a:t>£324</a:t>
            </a:r>
          </a:p>
        </p:txBody>
      </p:sp>
      <p:sp>
        <p:nvSpPr>
          <p:cNvPr id="15" name="TextBox 14"/>
          <p:cNvSpPr txBox="1"/>
          <p:nvPr/>
        </p:nvSpPr>
        <p:spPr>
          <a:xfrm>
            <a:off x="4187952" y="2816352"/>
            <a:ext cx="1554480" cy="182880"/>
          </a:xfrm>
          <a:prstGeom prst="rect">
            <a:avLst/>
          </a:prstGeom>
          <a:noFill/>
        </p:spPr>
        <p:txBody>
          <a:bodyPr wrap="square" lIns="0" rIns="0" tIns="0" bIns="0" anchor="t">
            <a:spAutoFit/>
          </a:bodyPr>
          <a:lstStyle/>
          <a:p>
            <a:pPr algn="l"/>
            <a:r>
              <a:rPr sz="850" b="1" i="0" spc="160">
                <a:solidFill>
                  <a:srgbClr val="6B7B74"/>
                </a:solidFill>
                <a:latin typeface="Manrope"/>
              </a:rPr>
              <a:t>MULTIPLE</a:t>
            </a:r>
          </a:p>
        </p:txBody>
      </p:sp>
      <p:sp>
        <p:nvSpPr>
          <p:cNvPr id="16" name="TextBox 15"/>
          <p:cNvSpPr txBox="1"/>
          <p:nvPr/>
        </p:nvSpPr>
        <p:spPr>
          <a:xfrm>
            <a:off x="4187952" y="3017520"/>
            <a:ext cx="1554480" cy="502920"/>
          </a:xfrm>
          <a:prstGeom prst="rect">
            <a:avLst/>
          </a:prstGeom>
          <a:noFill/>
        </p:spPr>
        <p:txBody>
          <a:bodyPr wrap="square" lIns="0" rIns="0" tIns="0" bIns="0" anchor="t">
            <a:spAutoFit/>
          </a:bodyPr>
          <a:lstStyle/>
          <a:p>
            <a:pPr algn="l"/>
            <a:r>
              <a:rPr sz="2000" b="1" i="0" spc="-60">
                <a:solidFill>
                  <a:srgbClr val="8EFEBB"/>
                </a:solidFill>
                <a:latin typeface="Manrope"/>
              </a:rPr>
              <a:t>3.7×</a:t>
            </a:r>
          </a:p>
        </p:txBody>
      </p:sp>
      <p:graphicFrame>
        <p:nvGraphicFramePr>
          <p:cNvPr id="17" name="Table 16"/>
          <p:cNvGraphicFramePr>
            <a:graphicFrameLocks noGrp="1"/>
          </p:cNvGraphicFramePr>
          <p:nvPr/>
        </p:nvGraphicFramePr>
        <p:xfrm>
          <a:off x="566928" y="3602736"/>
          <a:ext cx="5394960" cy="1371600"/>
        </p:xfrm>
        <a:graphic>
          <a:graphicData uri="http://schemas.openxmlformats.org/drawingml/2006/table">
            <a:tbl>
              <a:tblPr firstRow="1" bandRow="1">
                <a:tableStyleId>{5C22544A-7EE6-4342-B048-85BDC9FD1C3A}</a:tableStyleId>
              </a:tblPr>
              <a:tblGrid>
                <a:gridCol w="1554480"/>
                <a:gridCol w="1188720"/>
                <a:gridCol w="1645920"/>
                <a:gridCol w="1005840"/>
              </a:tblGrid>
              <a:tr h="274320">
                <a:tc>
                  <a:txBody>
                    <a:bodyPr wrap="square"/>
                    <a:lstStyle/>
                    <a:p>
                      <a:pPr algn="l"/>
                      <a:r>
                        <a:rPr sz="780" b="1">
                          <a:solidFill>
                            <a:srgbClr val="6B7B74"/>
                          </a:solidFill>
                          <a:latin typeface="Manrope"/>
                        </a:rPr>
                        <a:t>SEGMENT</a:t>
                      </a:r>
                    </a:p>
                  </a:txBody>
                  <a:tcPr marL="45720" marR="45720" marT="18288" marB="18288" anchor="ctr">
                    <a:solidFill>
                      <a:srgbClr val="051412"/>
                    </a:solidFill>
                  </a:tcPr>
                </a:tc>
                <a:tc>
                  <a:txBody>
                    <a:bodyPr wrap="square"/>
                    <a:lstStyle/>
                    <a:p>
                      <a:pPr algn="r"/>
                      <a:r>
                        <a:rPr sz="780" b="1">
                          <a:solidFill>
                            <a:srgbClr val="6B7B74"/>
                          </a:solidFill>
                          <a:latin typeface="Manrope"/>
                        </a:rPr>
                        <a:t>CUSTOMERS</a:t>
                      </a:r>
                    </a:p>
                  </a:txBody>
                  <a:tcPr marL="45720" marR="45720" marT="18288" marB="18288" anchor="ctr">
                    <a:solidFill>
                      <a:srgbClr val="051412"/>
                    </a:solidFill>
                  </a:tcPr>
                </a:tc>
                <a:tc>
                  <a:txBody>
                    <a:bodyPr wrap="square"/>
                    <a:lstStyle/>
                    <a:p>
                      <a:pPr algn="r"/>
                      <a:r>
                        <a:rPr sz="780" b="1">
                          <a:solidFill>
                            <a:srgbClr val="6B7B74"/>
                          </a:solidFill>
                          <a:latin typeface="Manrope"/>
                        </a:rPr>
                        <a:t>LIFETIME REVENUE</a:t>
                      </a:r>
                    </a:p>
                  </a:txBody>
                  <a:tcPr marL="45720" marR="45720" marT="18288" marB="18288" anchor="ctr">
                    <a:solidFill>
                      <a:srgbClr val="051412"/>
                    </a:solidFill>
                  </a:tcPr>
                </a:tc>
                <a:tc>
                  <a:txBody>
                    <a:bodyPr wrap="square"/>
                    <a:lstStyle/>
                    <a:p>
                      <a:pPr algn="r"/>
                      <a:r>
                        <a:rPr sz="780" b="1">
                          <a:solidFill>
                            <a:srgbClr val="6B7B74"/>
                          </a:solidFill>
                          <a:latin typeface="Manrope"/>
                        </a:rPr>
                        <a:t>SHARE</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Top 1%</a:t>
                      </a:r>
                    </a:p>
                  </a:txBody>
                  <a:tcPr marL="45720" marR="45720" marT="18288" marB="18288" anchor="ctr">
                    <a:solidFill>
                      <a:srgbClr val="051412"/>
                    </a:solidFill>
                  </a:tcPr>
                </a:tc>
                <a:tc>
                  <a:txBody>
                    <a:bodyPr wrap="square"/>
                    <a:lstStyle/>
                    <a:p>
                      <a:pPr algn="r"/>
                      <a:r>
                        <a:rPr sz="1050" b="0">
                          <a:solidFill>
                            <a:srgbClr val="E8F2EC"/>
                          </a:solidFill>
                          <a:latin typeface="Manrope"/>
                        </a:rPr>
                        <a:t>60</a:t>
                      </a:r>
                    </a:p>
                  </a:txBody>
                  <a:tcPr marL="45720" marR="45720" marT="18288" marB="18288" anchor="ctr">
                    <a:solidFill>
                      <a:srgbClr val="051412"/>
                    </a:solidFill>
                  </a:tcPr>
                </a:tc>
                <a:tc>
                  <a:txBody>
                    <a:bodyPr wrap="square"/>
                    <a:lstStyle/>
                    <a:p>
                      <a:pPr algn="r"/>
                      <a:r>
                        <a:rPr sz="1050" b="0">
                          <a:solidFill>
                            <a:srgbClr val="E8F2EC"/>
                          </a:solidFill>
                          <a:latin typeface="Manrope"/>
                        </a:rPr>
                        <a:t>£398,763</a:t>
                      </a:r>
                    </a:p>
                  </a:txBody>
                  <a:tcPr marL="45720" marR="45720" marT="18288" marB="18288" anchor="ctr">
                    <a:solidFill>
                      <a:srgbClr val="051412"/>
                    </a:solidFill>
                  </a:tcPr>
                </a:tc>
                <a:tc>
                  <a:txBody>
                    <a:bodyPr wrap="square"/>
                    <a:lstStyle/>
                    <a:p>
                      <a:pPr algn="r"/>
                      <a:r>
                        <a:rPr sz="1050" b="0">
                          <a:solidFill>
                            <a:srgbClr val="E8F2EC"/>
                          </a:solidFill>
                          <a:latin typeface="Manrope"/>
                        </a:rPr>
                        <a:t>13.5%</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Top 5%</a:t>
                      </a:r>
                    </a:p>
                  </a:txBody>
                  <a:tcPr marL="45720" marR="45720" marT="18288" marB="18288" anchor="ctr">
                    <a:solidFill>
                      <a:srgbClr val="051412"/>
                    </a:solidFill>
                  </a:tcPr>
                </a:tc>
                <a:tc>
                  <a:txBody>
                    <a:bodyPr wrap="square"/>
                    <a:lstStyle/>
                    <a:p>
                      <a:pPr algn="r"/>
                      <a:r>
                        <a:rPr sz="1050" b="0">
                          <a:solidFill>
                            <a:srgbClr val="E8F2EC"/>
                          </a:solidFill>
                          <a:latin typeface="Manrope"/>
                        </a:rPr>
                        <a:t>301</a:t>
                      </a:r>
                    </a:p>
                  </a:txBody>
                  <a:tcPr marL="45720" marR="45720" marT="18288" marB="18288" anchor="ctr">
                    <a:solidFill>
                      <a:srgbClr val="051412"/>
                    </a:solidFill>
                  </a:tcPr>
                </a:tc>
                <a:tc>
                  <a:txBody>
                    <a:bodyPr wrap="square"/>
                    <a:lstStyle/>
                    <a:p>
                      <a:pPr algn="r"/>
                      <a:r>
                        <a:rPr sz="1050" b="0">
                          <a:solidFill>
                            <a:srgbClr val="E8F2EC"/>
                          </a:solidFill>
                          <a:latin typeface="Manrope"/>
                        </a:rPr>
                        <a:t>£1,055,460</a:t>
                      </a:r>
                    </a:p>
                  </a:txBody>
                  <a:tcPr marL="45720" marR="45720" marT="18288" marB="18288" anchor="ctr">
                    <a:solidFill>
                      <a:srgbClr val="051412"/>
                    </a:solidFill>
                  </a:tcPr>
                </a:tc>
                <a:tc>
                  <a:txBody>
                    <a:bodyPr wrap="square"/>
                    <a:lstStyle/>
                    <a:p>
                      <a:pPr algn="r"/>
                      <a:r>
                        <a:rPr sz="1050" b="0">
                          <a:solidFill>
                            <a:srgbClr val="E8F2EC"/>
                          </a:solidFill>
                          <a:latin typeface="Manrope"/>
                        </a:rPr>
                        <a:t>35.7%</a:t>
                      </a:r>
                    </a:p>
                  </a:txBody>
                  <a:tcPr marL="45720" marR="45720" marT="18288" marB="18288" anchor="ctr">
                    <a:solidFill>
                      <a:srgbClr val="051412"/>
                    </a:solidFill>
                  </a:tcPr>
                </a:tc>
              </a:tr>
              <a:tr h="274320">
                <a:tc>
                  <a:txBody>
                    <a:bodyPr wrap="square"/>
                    <a:lstStyle/>
                    <a:p>
                      <a:pPr algn="l"/>
                      <a:r>
                        <a:rPr sz="1050" b="1">
                          <a:solidFill>
                            <a:srgbClr val="8EFEBB"/>
                          </a:solidFill>
                          <a:latin typeface="Manrope"/>
                        </a:rPr>
                        <a:t>Top 10%</a:t>
                      </a:r>
                    </a:p>
                  </a:txBody>
                  <a:tcPr marL="45720" marR="45720" marT="18288" marB="18288" anchor="ctr">
                    <a:solidFill>
                      <a:srgbClr val="0B2A24"/>
                    </a:solidFill>
                  </a:tcPr>
                </a:tc>
                <a:tc>
                  <a:txBody>
                    <a:bodyPr wrap="square"/>
                    <a:lstStyle/>
                    <a:p>
                      <a:pPr algn="r"/>
                      <a:r>
                        <a:rPr sz="1050" b="1">
                          <a:solidFill>
                            <a:srgbClr val="8EFEBB"/>
                          </a:solidFill>
                          <a:latin typeface="Manrope"/>
                        </a:rPr>
                        <a:t>602</a:t>
                      </a:r>
                    </a:p>
                  </a:txBody>
                  <a:tcPr marL="45720" marR="45720" marT="18288" marB="18288" anchor="ctr">
                    <a:solidFill>
                      <a:srgbClr val="0B2A24"/>
                    </a:solidFill>
                  </a:tcPr>
                </a:tc>
                <a:tc>
                  <a:txBody>
                    <a:bodyPr wrap="square"/>
                    <a:lstStyle/>
                    <a:p>
                      <a:pPr algn="r"/>
                      <a:r>
                        <a:rPr sz="1050" b="1">
                          <a:solidFill>
                            <a:srgbClr val="8EFEBB"/>
                          </a:solidFill>
                          <a:latin typeface="Manrope"/>
                        </a:rPr>
                        <a:t>£1,478,972</a:t>
                      </a:r>
                    </a:p>
                  </a:txBody>
                  <a:tcPr marL="45720" marR="45720" marT="18288" marB="18288" anchor="ctr">
                    <a:solidFill>
                      <a:srgbClr val="0B2A24"/>
                    </a:solidFill>
                  </a:tcPr>
                </a:tc>
                <a:tc>
                  <a:txBody>
                    <a:bodyPr wrap="square"/>
                    <a:lstStyle/>
                    <a:p>
                      <a:pPr algn="r"/>
                      <a:r>
                        <a:rPr sz="1050" b="1">
                          <a:solidFill>
                            <a:srgbClr val="8EFEBB"/>
                          </a:solidFill>
                          <a:latin typeface="Manrope"/>
                        </a:rPr>
                        <a:t>50.0%</a:t>
                      </a:r>
                    </a:p>
                  </a:txBody>
                  <a:tcPr marL="45720" marR="45720" marT="18288" marB="18288" anchor="ctr">
                    <a:solidFill>
                      <a:srgbClr val="0B2A24"/>
                    </a:solidFill>
                  </a:tcPr>
                </a:tc>
              </a:tr>
              <a:tr h="274320">
                <a:tc>
                  <a:txBody>
                    <a:bodyPr wrap="square"/>
                    <a:lstStyle/>
                    <a:p>
                      <a:pPr algn="l"/>
                      <a:r>
                        <a:rPr sz="1050" b="0">
                          <a:solidFill>
                            <a:srgbClr val="E8F2EC"/>
                          </a:solidFill>
                          <a:latin typeface="Manrope"/>
                        </a:rPr>
                        <a:t>Top 20%</a:t>
                      </a:r>
                    </a:p>
                  </a:txBody>
                  <a:tcPr marL="45720" marR="45720" marT="18288" marB="18288" anchor="ctr">
                    <a:solidFill>
                      <a:srgbClr val="051412"/>
                    </a:solidFill>
                  </a:tcPr>
                </a:tc>
                <a:tc>
                  <a:txBody>
                    <a:bodyPr wrap="square"/>
                    <a:lstStyle/>
                    <a:p>
                      <a:pPr algn="r"/>
                      <a:r>
                        <a:rPr sz="1050" b="0">
                          <a:solidFill>
                            <a:srgbClr val="E8F2EC"/>
                          </a:solidFill>
                          <a:latin typeface="Manrope"/>
                        </a:rPr>
                        <a:t>1,205</a:t>
                      </a:r>
                    </a:p>
                  </a:txBody>
                  <a:tcPr marL="45720" marR="45720" marT="18288" marB="18288" anchor="ctr">
                    <a:solidFill>
                      <a:srgbClr val="051412"/>
                    </a:solidFill>
                  </a:tcPr>
                </a:tc>
                <a:tc>
                  <a:txBody>
                    <a:bodyPr wrap="square"/>
                    <a:lstStyle/>
                    <a:p>
                      <a:pPr algn="r"/>
                      <a:r>
                        <a:rPr sz="1050" b="0">
                          <a:solidFill>
                            <a:srgbClr val="E8F2EC"/>
                          </a:solidFill>
                          <a:latin typeface="Manrope"/>
                        </a:rPr>
                        <a:t>£1,954,316</a:t>
                      </a:r>
                    </a:p>
                  </a:txBody>
                  <a:tcPr marL="45720" marR="45720" marT="18288" marB="18288" anchor="ctr">
                    <a:solidFill>
                      <a:srgbClr val="051412"/>
                    </a:solidFill>
                  </a:tcPr>
                </a:tc>
                <a:tc>
                  <a:txBody>
                    <a:bodyPr wrap="square"/>
                    <a:lstStyle/>
                    <a:p>
                      <a:pPr algn="r"/>
                      <a:r>
                        <a:rPr sz="1050" b="0">
                          <a:solidFill>
                            <a:srgbClr val="E8F2EC"/>
                          </a:solidFill>
                          <a:latin typeface="Manrope"/>
                        </a:rPr>
                        <a:t>66.1%</a:t>
                      </a:r>
                    </a:p>
                  </a:txBody>
                  <a:tcPr marL="45720" marR="45720" marT="18288" marB="18288" anchor="ctr">
                    <a:solidFill>
                      <a:srgbClr val="051412"/>
                    </a:solidFill>
                  </a:tcPr>
                </a:tc>
              </a:tr>
            </a:tbl>
          </a:graphicData>
        </a:graphic>
      </p:graphicFrame>
      <p:sp>
        <p:nvSpPr>
          <p:cNvPr id="18" name="Rounded Rectangle 17"/>
          <p:cNvSpPr/>
          <p:nvPr/>
        </p:nvSpPr>
        <p:spPr>
          <a:xfrm>
            <a:off x="6236208" y="2029968"/>
            <a:ext cx="5388559" cy="932688"/>
          </a:xfrm>
          <a:prstGeom prst="roundRect">
            <a:avLst>
              <a:gd name="adj" fmla="val 4500"/>
            </a:avLst>
          </a:prstGeom>
          <a:solidFill>
            <a:srgbClr val="09221F"/>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73952" y="2176272"/>
            <a:ext cx="4931359" cy="685800"/>
          </a:xfrm>
          <a:prstGeom prst="rect">
            <a:avLst/>
          </a:prstGeom>
          <a:noFill/>
        </p:spPr>
        <p:txBody>
          <a:bodyPr wrap="square" lIns="0" rIns="0" tIns="0" bIns="0">
            <a:spAutoFit/>
          </a:bodyPr>
          <a:lstStyle/>
          <a:p>
            <a:pPr>
              <a:lnSpc>
                <a:spcPct val="135000"/>
              </a:lnSpc>
              <a:spcAft>
                <a:spcPts val="0"/>
              </a:spcAft>
            </a:pPr>
            <a:r>
              <a:rPr sz="1080" b="1" i="0">
                <a:solidFill>
                  <a:srgbClr val="8EFEBB"/>
                </a:solidFill>
                <a:latin typeface="Manrope"/>
              </a:rPr>
              <a:t>Only 38 customers have ever spent more than £5,000, and they average 3.7 orders each. </a:t>
            </a:r>
            <a:r>
              <a:rPr sz="1080" b="0" i="0">
                <a:solidFill>
                  <a:srgbClr val="B9C7C0"/>
                </a:solidFill>
                <a:latin typeface="Manrope"/>
              </a:rPr>
              <a:t>That is the entire high-value trade base — 38 people producing 10.1% of lifetime revenue.</a:t>
            </a:r>
          </a:p>
        </p:txBody>
      </p:sp>
      <p:sp>
        <p:nvSpPr>
          <p:cNvPr id="20" name="Rounded Rectangle 19"/>
          <p:cNvSpPr/>
          <p:nvPr/>
        </p:nvSpPr>
        <p:spPr>
          <a:xfrm>
            <a:off x="6236208" y="3090672"/>
            <a:ext cx="5388559" cy="1920240"/>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73952" y="3236976"/>
            <a:ext cx="55778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GAP</a:t>
            </a:r>
          </a:p>
        </p:txBody>
      </p:sp>
      <p:sp>
        <p:nvSpPr>
          <p:cNvPr id="22" name="TextBox 21"/>
          <p:cNvSpPr txBox="1"/>
          <p:nvPr/>
        </p:nvSpPr>
        <p:spPr>
          <a:xfrm>
            <a:off x="6473952" y="3566160"/>
            <a:ext cx="4931359" cy="274320"/>
          </a:xfrm>
          <a:prstGeom prst="rect">
            <a:avLst/>
          </a:prstGeom>
          <a:noFill/>
        </p:spPr>
        <p:txBody>
          <a:bodyPr wrap="square" lIns="0" rIns="0" tIns="0" bIns="0" anchor="t">
            <a:spAutoFit/>
          </a:bodyPr>
          <a:lstStyle/>
          <a:p>
            <a:pPr algn="l"/>
            <a:r>
              <a:rPr sz="1250" b="1" i="0">
                <a:solidFill>
                  <a:srgbClr val="FFFFFF"/>
                </a:solidFill>
                <a:latin typeface="Manrope"/>
              </a:rPr>
              <a:t>There is no trade programme and no email programme</a:t>
            </a:r>
          </a:p>
        </p:txBody>
      </p:sp>
      <p:sp>
        <p:nvSpPr>
          <p:cNvPr id="23" name="Rounded Rectangle 22"/>
          <p:cNvSpPr/>
          <p:nvPr/>
        </p:nvSpPr>
        <p:spPr>
          <a:xfrm>
            <a:off x="6473952" y="3895344"/>
            <a:ext cx="1554480" cy="566928"/>
          </a:xfrm>
          <a:prstGeom prst="roundRect">
            <a:avLst>
              <a:gd name="adj" fmla="val 4500"/>
            </a:avLst>
          </a:prstGeom>
          <a:solidFill>
            <a:srgbClr val="051412"/>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83680" y="3977639"/>
            <a:ext cx="1371600" cy="182880"/>
          </a:xfrm>
          <a:prstGeom prst="rect">
            <a:avLst/>
          </a:prstGeom>
          <a:noFill/>
        </p:spPr>
        <p:txBody>
          <a:bodyPr wrap="square" lIns="0" rIns="0" tIns="0" bIns="0" anchor="t">
            <a:spAutoFit/>
          </a:bodyPr>
          <a:lstStyle/>
          <a:p>
            <a:pPr algn="l"/>
            <a:r>
              <a:rPr sz="750" b="1" i="0" spc="160">
                <a:solidFill>
                  <a:srgbClr val="6B7B74"/>
                </a:solidFill>
                <a:latin typeface="Manrope"/>
              </a:rPr>
              <a:t>TAGGED WHOLESALE</a:t>
            </a:r>
          </a:p>
        </p:txBody>
      </p:sp>
      <p:sp>
        <p:nvSpPr>
          <p:cNvPr id="25" name="TextBox 24"/>
          <p:cNvSpPr txBox="1"/>
          <p:nvPr/>
        </p:nvSpPr>
        <p:spPr>
          <a:xfrm>
            <a:off x="6583680" y="4151376"/>
            <a:ext cx="1371600" cy="502920"/>
          </a:xfrm>
          <a:prstGeom prst="rect">
            <a:avLst/>
          </a:prstGeom>
          <a:noFill/>
        </p:spPr>
        <p:txBody>
          <a:bodyPr wrap="square" lIns="0" rIns="0" tIns="0" bIns="0" anchor="t">
            <a:spAutoFit/>
          </a:bodyPr>
          <a:lstStyle/>
          <a:p>
            <a:pPr algn="l"/>
            <a:r>
              <a:rPr sz="1700" b="1" i="0" spc="-60">
                <a:solidFill>
                  <a:srgbClr val="EF4444"/>
                </a:solidFill>
                <a:latin typeface="Manrope"/>
              </a:rPr>
              <a:t>2</a:t>
            </a:r>
          </a:p>
        </p:txBody>
      </p:sp>
      <p:sp>
        <p:nvSpPr>
          <p:cNvPr id="26" name="Rounded Rectangle 25"/>
          <p:cNvSpPr/>
          <p:nvPr/>
        </p:nvSpPr>
        <p:spPr>
          <a:xfrm>
            <a:off x="8174736" y="3895344"/>
            <a:ext cx="1554480" cy="566928"/>
          </a:xfrm>
          <a:prstGeom prst="roundRect">
            <a:avLst>
              <a:gd name="adj" fmla="val 4500"/>
            </a:avLst>
          </a:prstGeom>
          <a:solidFill>
            <a:srgbClr val="051412"/>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84463" y="3977639"/>
            <a:ext cx="1371600" cy="182880"/>
          </a:xfrm>
          <a:prstGeom prst="rect">
            <a:avLst/>
          </a:prstGeom>
          <a:noFill/>
        </p:spPr>
        <p:txBody>
          <a:bodyPr wrap="square" lIns="0" rIns="0" tIns="0" bIns="0" anchor="t">
            <a:spAutoFit/>
          </a:bodyPr>
          <a:lstStyle/>
          <a:p>
            <a:pPr algn="l"/>
            <a:r>
              <a:rPr sz="750" b="1" i="0" spc="160">
                <a:solidFill>
                  <a:srgbClr val="6B7B74"/>
                </a:solidFill>
                <a:latin typeface="Manrope"/>
              </a:rPr>
              <a:t>TAGGED NEWSLETTER</a:t>
            </a:r>
          </a:p>
        </p:txBody>
      </p:sp>
      <p:sp>
        <p:nvSpPr>
          <p:cNvPr id="28" name="TextBox 27"/>
          <p:cNvSpPr txBox="1"/>
          <p:nvPr/>
        </p:nvSpPr>
        <p:spPr>
          <a:xfrm>
            <a:off x="8284463" y="4151376"/>
            <a:ext cx="1371600" cy="502920"/>
          </a:xfrm>
          <a:prstGeom prst="rect">
            <a:avLst/>
          </a:prstGeom>
          <a:noFill/>
        </p:spPr>
        <p:txBody>
          <a:bodyPr wrap="square" lIns="0" rIns="0" tIns="0" bIns="0" anchor="t">
            <a:spAutoFit/>
          </a:bodyPr>
          <a:lstStyle/>
          <a:p>
            <a:pPr algn="l"/>
            <a:r>
              <a:rPr sz="1700" b="1" i="0" spc="-60">
                <a:solidFill>
                  <a:srgbClr val="EF4444"/>
                </a:solidFill>
                <a:latin typeface="Manrope"/>
              </a:rPr>
              <a:t>24</a:t>
            </a:r>
          </a:p>
        </p:txBody>
      </p:sp>
      <p:sp>
        <p:nvSpPr>
          <p:cNvPr id="29" name="Rounded Rectangle 28"/>
          <p:cNvSpPr/>
          <p:nvPr/>
        </p:nvSpPr>
        <p:spPr>
          <a:xfrm>
            <a:off x="9875520" y="3895344"/>
            <a:ext cx="1554480" cy="566928"/>
          </a:xfrm>
          <a:prstGeom prst="roundRect">
            <a:avLst>
              <a:gd name="adj" fmla="val 4500"/>
            </a:avLst>
          </a:prstGeom>
          <a:solidFill>
            <a:srgbClr val="051412"/>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985248" y="3977639"/>
            <a:ext cx="1371600" cy="182880"/>
          </a:xfrm>
          <a:prstGeom prst="rect">
            <a:avLst/>
          </a:prstGeom>
          <a:noFill/>
        </p:spPr>
        <p:txBody>
          <a:bodyPr wrap="square" lIns="0" rIns="0" tIns="0" bIns="0" anchor="t">
            <a:spAutoFit/>
          </a:bodyPr>
          <a:lstStyle/>
          <a:p>
            <a:pPr algn="l"/>
            <a:r>
              <a:rPr sz="750" b="1" i="0" spc="160">
                <a:solidFill>
                  <a:srgbClr val="6B7B74"/>
                </a:solidFill>
                <a:latin typeface="Manrope"/>
              </a:rPr>
              <a:t>EMAIL SESSIONS, 30D</a:t>
            </a:r>
          </a:p>
        </p:txBody>
      </p:sp>
      <p:sp>
        <p:nvSpPr>
          <p:cNvPr id="31" name="TextBox 30"/>
          <p:cNvSpPr txBox="1"/>
          <p:nvPr/>
        </p:nvSpPr>
        <p:spPr>
          <a:xfrm>
            <a:off x="9985248" y="4151376"/>
            <a:ext cx="1371600" cy="502920"/>
          </a:xfrm>
          <a:prstGeom prst="rect">
            <a:avLst/>
          </a:prstGeom>
          <a:noFill/>
        </p:spPr>
        <p:txBody>
          <a:bodyPr wrap="square" lIns="0" rIns="0" tIns="0" bIns="0" anchor="t">
            <a:spAutoFit/>
          </a:bodyPr>
          <a:lstStyle/>
          <a:p>
            <a:pPr algn="l"/>
            <a:r>
              <a:rPr sz="1700" b="1" i="0" spc="-60">
                <a:solidFill>
                  <a:srgbClr val="EF4444"/>
                </a:solidFill>
                <a:latin typeface="Manrope"/>
              </a:rPr>
              <a:t>36</a:t>
            </a:r>
          </a:p>
        </p:txBody>
      </p:sp>
      <p:sp>
        <p:nvSpPr>
          <p:cNvPr id="32" name="TextBox 31"/>
          <p:cNvSpPr txBox="1"/>
          <p:nvPr/>
        </p:nvSpPr>
        <p:spPr>
          <a:xfrm>
            <a:off x="6473952" y="4553712"/>
            <a:ext cx="4931359" cy="384048"/>
          </a:xfrm>
          <a:prstGeom prst="rect">
            <a:avLst/>
          </a:prstGeom>
          <a:noFill/>
        </p:spPr>
        <p:txBody>
          <a:bodyPr wrap="square" lIns="0" rIns="0" tIns="0" bIns="0">
            <a:spAutoFit/>
          </a:bodyPr>
          <a:lstStyle/>
          <a:p>
            <a:pPr>
              <a:lnSpc>
                <a:spcPct val="132000"/>
              </a:lnSpc>
              <a:spcAft>
                <a:spcPts val="0"/>
              </a:spcAft>
            </a:pPr>
            <a:r>
              <a:rPr sz="1000" b="0" i="0">
                <a:solidFill>
                  <a:srgbClr val="B9C7C0"/>
                </a:solidFill>
                <a:latin typeface="Manrope"/>
              </a:rPr>
              <a:t>Across 6,028 buyers, two are tagged wholesale — no trade account structure, despite £1,000+ orders carrying 47.9% of revenue. There are also 9,554 customer records with no order, 61% of the file, receiving nothing.</a:t>
            </a:r>
          </a:p>
        </p:txBody>
      </p:sp>
      <p:sp>
        <p:nvSpPr>
          <p:cNvPr id="33" name="Rounded Rectangle 32"/>
          <p:cNvSpPr/>
          <p:nvPr/>
        </p:nvSpPr>
        <p:spPr>
          <a:xfrm>
            <a:off x="6236208" y="5138928"/>
            <a:ext cx="5388559" cy="86868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73952" y="5303520"/>
            <a:ext cx="4931359" cy="594360"/>
          </a:xfrm>
          <a:prstGeom prst="rect">
            <a:avLst/>
          </a:prstGeom>
          <a:noFill/>
        </p:spPr>
        <p:txBody>
          <a:bodyPr wrap="square" lIns="0" rIns="0" tIns="0" bIns="0">
            <a:spAutoFit/>
          </a:bodyPr>
          <a:lstStyle/>
          <a:p>
            <a:pPr>
              <a:lnSpc>
                <a:spcPct val="135000"/>
              </a:lnSpc>
              <a:spcAft>
                <a:spcPts val="0"/>
              </a:spcAft>
            </a:pPr>
            <a:r>
              <a:rPr sz="1080" b="1" i="0">
                <a:solidFill>
                  <a:srgbClr val="8EFEBB"/>
                </a:solidFill>
                <a:latin typeface="Manrope"/>
              </a:rPr>
              <a:t>This is the cheapest revenue in the entire plan. </a:t>
            </a:r>
            <a:r>
              <a:rPr sz="1080" b="0" i="0">
                <a:solidFill>
                  <a:srgbClr val="B9C7C0"/>
                </a:solidFill>
                <a:latin typeface="Manrope"/>
              </a:rPr>
              <a:t>A business with 6,028 buyers and a repeat buyer worth 3.7× is not emailing the people who have already bought from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05 · THE MEASUREMENT PROBLEM</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92% of reported traffic is </a:t>
            </a:r>
            <a:r>
              <a:rPr sz="2700" b="1" i="1" spc="-70">
                <a:solidFill>
                  <a:srgbClr val="8EFEBB"/>
                </a:solidFill>
                <a:latin typeface="Instrument Serif"/>
              </a:rPr>
              <a:t>not real</a:t>
            </a:r>
            <a:r>
              <a:rPr sz="2700" b="1" i="0" spc="-70">
                <a:solidFill>
                  <a:srgbClr val="FFFFFF"/>
                </a:solidFill>
                <a:latin typeface="Manrope"/>
              </a:rPr>
              <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Every conversion rate in Shopify Analytics is currently wrong by a factor of ten — and the same signal is being fed back to Google and Meta.</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06</a:t>
            </a:r>
          </a:p>
        </p:txBody>
      </p:sp>
      <p:graphicFrame>
        <p:nvGraphicFramePr>
          <p:cNvPr id="9" name="Table 8"/>
          <p:cNvGraphicFramePr>
            <a:graphicFrameLocks noGrp="1"/>
          </p:cNvGraphicFramePr>
          <p:nvPr/>
        </p:nvGraphicFramePr>
        <p:xfrm>
          <a:off x="566928" y="2029968"/>
          <a:ext cx="5120638" cy="2098541"/>
        </p:xfrm>
        <a:graphic>
          <a:graphicData uri="http://schemas.openxmlformats.org/drawingml/2006/table">
            <a:tbl>
              <a:tblPr firstRow="1" bandRow="1">
                <a:tableStyleId>{5C22544A-7EE6-4342-B048-85BDC9FD1C3A}</a:tableStyleId>
              </a:tblPr>
              <a:tblGrid>
                <a:gridCol w="1449237"/>
                <a:gridCol w="1352621"/>
                <a:gridCol w="1062774"/>
                <a:gridCol w="1256006"/>
              </a:tblGrid>
              <a:tr h="274320">
                <a:tc>
                  <a:txBody>
                    <a:bodyPr wrap="square"/>
                    <a:lstStyle/>
                    <a:p>
                      <a:pPr algn="l"/>
                      <a:r>
                        <a:rPr sz="780" b="1">
                          <a:solidFill>
                            <a:srgbClr val="6B7B74"/>
                          </a:solidFill>
                          <a:latin typeface="Manrope"/>
                        </a:rPr>
                        <a:t>MONTH</a:t>
                      </a:r>
                    </a:p>
                  </a:txBody>
                  <a:tcPr marL="45720" marR="45720" marT="18288" marB="18288" anchor="ctr">
                    <a:solidFill>
                      <a:srgbClr val="051412"/>
                    </a:solidFill>
                  </a:tcPr>
                </a:tc>
                <a:tc>
                  <a:txBody>
                    <a:bodyPr wrap="square"/>
                    <a:lstStyle/>
                    <a:p>
                      <a:pPr algn="r"/>
                      <a:r>
                        <a:rPr sz="780" b="1">
                          <a:solidFill>
                            <a:srgbClr val="6B7B74"/>
                          </a:solidFill>
                          <a:latin typeface="Manrope"/>
                        </a:rPr>
                        <a:t>SESSIONS</a:t>
                      </a:r>
                    </a:p>
                  </a:txBody>
                  <a:tcPr marL="45720" marR="45720" marT="18288" marB="18288" anchor="ctr">
                    <a:solidFill>
                      <a:srgbClr val="051412"/>
                    </a:solidFill>
                  </a:tcPr>
                </a:tc>
                <a:tc>
                  <a:txBody>
                    <a:bodyPr wrap="square"/>
                    <a:lstStyle/>
                    <a:p>
                      <a:pPr algn="r"/>
                      <a:r>
                        <a:rPr sz="780" b="1">
                          <a:solidFill>
                            <a:srgbClr val="6B7B74"/>
                          </a:solidFill>
                          <a:latin typeface="Manrope"/>
                        </a:rPr>
                        <a:t>ORDERS</a:t>
                      </a:r>
                    </a:p>
                  </a:txBody>
                  <a:tcPr marL="45720" marR="45720" marT="18288" marB="18288" anchor="ctr">
                    <a:solidFill>
                      <a:srgbClr val="051412"/>
                    </a:solidFill>
                  </a:tcPr>
                </a:tc>
                <a:tc>
                  <a:txBody>
                    <a:bodyPr wrap="square"/>
                    <a:lstStyle/>
                    <a:p>
                      <a:pPr algn="r"/>
                      <a:r>
                        <a:rPr sz="780" b="1">
                          <a:solidFill>
                            <a:srgbClr val="6B7B74"/>
                          </a:solidFill>
                          <a:latin typeface="Manrope"/>
                        </a:rPr>
                        <a:t>IMPLIED CR</a:t>
                      </a:r>
                    </a:p>
                  </a:txBody>
                  <a:tcPr marL="45720" marR="45720" marT="18288" marB="18288" anchor="ctr">
                    <a:solidFill>
                      <a:srgbClr val="051412"/>
                    </a:solidFill>
                  </a:tcPr>
                </a:tc>
              </a:tr>
              <a:tr h="260603">
                <a:tc>
                  <a:txBody>
                    <a:bodyPr wrap="square"/>
                    <a:lstStyle/>
                    <a:p>
                      <a:pPr algn="l"/>
                      <a:r>
                        <a:rPr sz="1050" b="0">
                          <a:solidFill>
                            <a:srgbClr val="E8F2EC"/>
                          </a:solidFill>
                          <a:latin typeface="Manrope"/>
                        </a:rPr>
                        <a:t>Feb 2026</a:t>
                      </a:r>
                    </a:p>
                  </a:txBody>
                  <a:tcPr marL="45720" marR="45720" marT="18288" marB="18288" anchor="ctr">
                    <a:solidFill>
                      <a:srgbClr val="051412"/>
                    </a:solidFill>
                  </a:tcPr>
                </a:tc>
                <a:tc>
                  <a:txBody>
                    <a:bodyPr wrap="square"/>
                    <a:lstStyle/>
                    <a:p>
                      <a:pPr algn="r"/>
                      <a:r>
                        <a:rPr sz="1050" b="0">
                          <a:solidFill>
                            <a:srgbClr val="E8F2EC"/>
                          </a:solidFill>
                          <a:latin typeface="Manrope"/>
                        </a:rPr>
                        <a:t>31,429</a:t>
                      </a:r>
                    </a:p>
                  </a:txBody>
                  <a:tcPr marL="45720" marR="45720" marT="18288" marB="18288" anchor="ctr">
                    <a:solidFill>
                      <a:srgbClr val="051412"/>
                    </a:solidFill>
                  </a:tcPr>
                </a:tc>
                <a:tc>
                  <a:txBody>
                    <a:bodyPr wrap="square"/>
                    <a:lstStyle/>
                    <a:p>
                      <a:pPr algn="r"/>
                      <a:r>
                        <a:rPr sz="1050" b="0">
                          <a:solidFill>
                            <a:srgbClr val="E8F2EC"/>
                          </a:solidFill>
                          <a:latin typeface="Manrope"/>
                        </a:rPr>
                        <a:t>458</a:t>
                      </a:r>
                    </a:p>
                  </a:txBody>
                  <a:tcPr marL="45720" marR="45720" marT="18288" marB="18288" anchor="ctr">
                    <a:solidFill>
                      <a:srgbClr val="051412"/>
                    </a:solidFill>
                  </a:tcPr>
                </a:tc>
                <a:tc>
                  <a:txBody>
                    <a:bodyPr wrap="square"/>
                    <a:lstStyle/>
                    <a:p>
                      <a:pPr algn="r"/>
                      <a:r>
                        <a:rPr sz="1050" b="0">
                          <a:solidFill>
                            <a:srgbClr val="E8F2EC"/>
                          </a:solidFill>
                          <a:latin typeface="Manrope"/>
                        </a:rPr>
                        <a:t>1.46%</a:t>
                      </a:r>
                    </a:p>
                  </a:txBody>
                  <a:tcPr marL="45720" marR="45720" marT="18288" marB="18288" anchor="ctr">
                    <a:solidFill>
                      <a:srgbClr val="051412"/>
                    </a:solidFill>
                  </a:tcPr>
                </a:tc>
              </a:tr>
              <a:tr h="260603">
                <a:tc>
                  <a:txBody>
                    <a:bodyPr wrap="square"/>
                    <a:lstStyle/>
                    <a:p>
                      <a:pPr algn="l"/>
                      <a:r>
                        <a:rPr sz="1050" b="0">
                          <a:solidFill>
                            <a:srgbClr val="E8F2EC"/>
                          </a:solidFill>
                          <a:latin typeface="Manrope"/>
                        </a:rPr>
                        <a:t>Mar 2026</a:t>
                      </a:r>
                    </a:p>
                  </a:txBody>
                  <a:tcPr marL="45720" marR="45720" marT="18288" marB="18288" anchor="ctr">
                    <a:solidFill>
                      <a:srgbClr val="051412"/>
                    </a:solidFill>
                  </a:tcPr>
                </a:tc>
                <a:tc>
                  <a:txBody>
                    <a:bodyPr wrap="square"/>
                    <a:lstStyle/>
                    <a:p>
                      <a:pPr algn="r"/>
                      <a:r>
                        <a:rPr sz="1050" b="0">
                          <a:solidFill>
                            <a:srgbClr val="E8F2EC"/>
                          </a:solidFill>
                          <a:latin typeface="Manrope"/>
                        </a:rPr>
                        <a:t>34,281</a:t>
                      </a:r>
                    </a:p>
                  </a:txBody>
                  <a:tcPr marL="45720" marR="45720" marT="18288" marB="18288" anchor="ctr">
                    <a:solidFill>
                      <a:srgbClr val="051412"/>
                    </a:solidFill>
                  </a:tcPr>
                </a:tc>
                <a:tc>
                  <a:txBody>
                    <a:bodyPr wrap="square"/>
                    <a:lstStyle/>
                    <a:p>
                      <a:pPr algn="r"/>
                      <a:r>
                        <a:rPr sz="1050" b="0">
                          <a:solidFill>
                            <a:srgbClr val="E8F2EC"/>
                          </a:solidFill>
                          <a:latin typeface="Manrope"/>
                        </a:rPr>
                        <a:t>558</a:t>
                      </a:r>
                    </a:p>
                  </a:txBody>
                  <a:tcPr marL="45720" marR="45720" marT="18288" marB="18288" anchor="ctr">
                    <a:solidFill>
                      <a:srgbClr val="051412"/>
                    </a:solidFill>
                  </a:tcPr>
                </a:tc>
                <a:tc>
                  <a:txBody>
                    <a:bodyPr wrap="square"/>
                    <a:lstStyle/>
                    <a:p>
                      <a:pPr algn="r"/>
                      <a:r>
                        <a:rPr sz="1050" b="0">
                          <a:solidFill>
                            <a:srgbClr val="E8F2EC"/>
                          </a:solidFill>
                          <a:latin typeface="Manrope"/>
                        </a:rPr>
                        <a:t>1.63%</a:t>
                      </a:r>
                    </a:p>
                  </a:txBody>
                  <a:tcPr marL="45720" marR="45720" marT="18288" marB="18288" anchor="ctr">
                    <a:solidFill>
                      <a:srgbClr val="051412"/>
                    </a:solidFill>
                  </a:tcPr>
                </a:tc>
              </a:tr>
              <a:tr h="260603">
                <a:tc>
                  <a:txBody>
                    <a:bodyPr wrap="square"/>
                    <a:lstStyle/>
                    <a:p>
                      <a:pPr algn="l"/>
                      <a:r>
                        <a:rPr sz="1050" b="0">
                          <a:solidFill>
                            <a:srgbClr val="E8F2EC"/>
                          </a:solidFill>
                          <a:latin typeface="Manrope"/>
                        </a:rPr>
                        <a:t>Apr 2026</a:t>
                      </a:r>
                    </a:p>
                  </a:txBody>
                  <a:tcPr marL="45720" marR="45720" marT="18288" marB="18288" anchor="ctr">
                    <a:solidFill>
                      <a:srgbClr val="051412"/>
                    </a:solidFill>
                  </a:tcPr>
                </a:tc>
                <a:tc>
                  <a:txBody>
                    <a:bodyPr wrap="square"/>
                    <a:lstStyle/>
                    <a:p>
                      <a:pPr algn="r"/>
                      <a:r>
                        <a:rPr sz="1050" b="0">
                          <a:solidFill>
                            <a:srgbClr val="E8F2EC"/>
                          </a:solidFill>
                          <a:latin typeface="Manrope"/>
                        </a:rPr>
                        <a:t>45,830</a:t>
                      </a:r>
                    </a:p>
                  </a:txBody>
                  <a:tcPr marL="45720" marR="45720" marT="18288" marB="18288" anchor="ctr">
                    <a:solidFill>
                      <a:srgbClr val="051412"/>
                    </a:solidFill>
                  </a:tcPr>
                </a:tc>
                <a:tc>
                  <a:txBody>
                    <a:bodyPr wrap="square"/>
                    <a:lstStyle/>
                    <a:p>
                      <a:pPr algn="r"/>
                      <a:r>
                        <a:rPr sz="1050" b="0">
                          <a:solidFill>
                            <a:srgbClr val="E8F2EC"/>
                          </a:solidFill>
                          <a:latin typeface="Manrope"/>
                        </a:rPr>
                        <a:t>545</a:t>
                      </a:r>
                    </a:p>
                  </a:txBody>
                  <a:tcPr marL="45720" marR="45720" marT="18288" marB="18288" anchor="ctr">
                    <a:solidFill>
                      <a:srgbClr val="051412"/>
                    </a:solidFill>
                  </a:tcPr>
                </a:tc>
                <a:tc>
                  <a:txBody>
                    <a:bodyPr wrap="square"/>
                    <a:lstStyle/>
                    <a:p>
                      <a:pPr algn="r"/>
                      <a:r>
                        <a:rPr sz="1050" b="0">
                          <a:solidFill>
                            <a:srgbClr val="E8F2EC"/>
                          </a:solidFill>
                          <a:latin typeface="Manrope"/>
                        </a:rPr>
                        <a:t>1.19%</a:t>
                      </a:r>
                    </a:p>
                  </a:txBody>
                  <a:tcPr marL="45720" marR="45720" marT="18288" marB="18288" anchor="ctr">
                    <a:solidFill>
                      <a:srgbClr val="051412"/>
                    </a:solidFill>
                  </a:tcPr>
                </a:tc>
              </a:tr>
              <a:tr h="260603">
                <a:tc>
                  <a:txBody>
                    <a:bodyPr wrap="square"/>
                    <a:lstStyle/>
                    <a:p>
                      <a:pPr algn="l"/>
                      <a:r>
                        <a:rPr sz="1050" b="0">
                          <a:solidFill>
                            <a:srgbClr val="E8F2EC"/>
                          </a:solidFill>
                          <a:latin typeface="Manrope"/>
                        </a:rPr>
                        <a:t>May 2026</a:t>
                      </a:r>
                    </a:p>
                  </a:txBody>
                  <a:tcPr marL="45720" marR="45720" marT="18288" marB="18288" anchor="ctr">
                    <a:solidFill>
                      <a:srgbClr val="051412"/>
                    </a:solidFill>
                  </a:tcPr>
                </a:tc>
                <a:tc>
                  <a:txBody>
                    <a:bodyPr wrap="square"/>
                    <a:lstStyle/>
                    <a:p>
                      <a:pPr algn="r"/>
                      <a:r>
                        <a:rPr sz="1050" b="0">
                          <a:solidFill>
                            <a:srgbClr val="E8F2EC"/>
                          </a:solidFill>
                          <a:latin typeface="Manrope"/>
                        </a:rPr>
                        <a:t>30,451</a:t>
                      </a:r>
                    </a:p>
                  </a:txBody>
                  <a:tcPr marL="45720" marR="45720" marT="18288" marB="18288" anchor="ctr">
                    <a:solidFill>
                      <a:srgbClr val="051412"/>
                    </a:solidFill>
                  </a:tcPr>
                </a:tc>
                <a:tc>
                  <a:txBody>
                    <a:bodyPr wrap="square"/>
                    <a:lstStyle/>
                    <a:p>
                      <a:pPr algn="r"/>
                      <a:r>
                        <a:rPr sz="1050" b="0">
                          <a:solidFill>
                            <a:srgbClr val="E8F2EC"/>
                          </a:solidFill>
                          <a:latin typeface="Manrope"/>
                        </a:rPr>
                        <a:t>555</a:t>
                      </a:r>
                    </a:p>
                  </a:txBody>
                  <a:tcPr marL="45720" marR="45720" marT="18288" marB="18288" anchor="ctr">
                    <a:solidFill>
                      <a:srgbClr val="051412"/>
                    </a:solidFill>
                  </a:tcPr>
                </a:tc>
                <a:tc>
                  <a:txBody>
                    <a:bodyPr wrap="square"/>
                    <a:lstStyle/>
                    <a:p>
                      <a:pPr algn="r"/>
                      <a:r>
                        <a:rPr sz="1050" b="0">
                          <a:solidFill>
                            <a:srgbClr val="E8F2EC"/>
                          </a:solidFill>
                          <a:latin typeface="Manrope"/>
                        </a:rPr>
                        <a:t>1.82%</a:t>
                      </a:r>
                    </a:p>
                  </a:txBody>
                  <a:tcPr marL="45720" marR="45720" marT="18288" marB="18288" anchor="ctr">
                    <a:solidFill>
                      <a:srgbClr val="051412"/>
                    </a:solidFill>
                  </a:tcPr>
                </a:tc>
              </a:tr>
              <a:tr h="260603">
                <a:tc>
                  <a:txBody>
                    <a:bodyPr wrap="square"/>
                    <a:lstStyle/>
                    <a:p>
                      <a:pPr algn="l"/>
                      <a:r>
                        <a:rPr sz="1050" b="0">
                          <a:solidFill>
                            <a:srgbClr val="E8F2EC"/>
                          </a:solidFill>
                          <a:latin typeface="Manrope"/>
                        </a:rPr>
                        <a:t>Jun 2026</a:t>
                      </a:r>
                    </a:p>
                  </a:txBody>
                  <a:tcPr marL="45720" marR="45720" marT="18288" marB="18288" anchor="ctr">
                    <a:solidFill>
                      <a:srgbClr val="051412"/>
                    </a:solidFill>
                  </a:tcPr>
                </a:tc>
                <a:tc>
                  <a:txBody>
                    <a:bodyPr wrap="square"/>
                    <a:lstStyle/>
                    <a:p>
                      <a:pPr algn="r"/>
                      <a:r>
                        <a:rPr sz="1050" b="0">
                          <a:solidFill>
                            <a:srgbClr val="E8F2EC"/>
                          </a:solidFill>
                          <a:latin typeface="Manrope"/>
                        </a:rPr>
                        <a:t>44,132</a:t>
                      </a:r>
                    </a:p>
                  </a:txBody>
                  <a:tcPr marL="45720" marR="45720" marT="18288" marB="18288" anchor="ctr">
                    <a:solidFill>
                      <a:srgbClr val="051412"/>
                    </a:solidFill>
                  </a:tcPr>
                </a:tc>
                <a:tc>
                  <a:txBody>
                    <a:bodyPr wrap="square"/>
                    <a:lstStyle/>
                    <a:p>
                      <a:pPr algn="r"/>
                      <a:r>
                        <a:rPr sz="1050" b="0">
                          <a:solidFill>
                            <a:srgbClr val="E8F2EC"/>
                          </a:solidFill>
                          <a:latin typeface="Manrope"/>
                        </a:rPr>
                        <a:t>546</a:t>
                      </a:r>
                    </a:p>
                  </a:txBody>
                  <a:tcPr marL="45720" marR="45720" marT="18288" marB="18288" anchor="ctr">
                    <a:solidFill>
                      <a:srgbClr val="051412"/>
                    </a:solidFill>
                  </a:tcPr>
                </a:tc>
                <a:tc>
                  <a:txBody>
                    <a:bodyPr wrap="square"/>
                    <a:lstStyle/>
                    <a:p>
                      <a:pPr algn="r"/>
                      <a:r>
                        <a:rPr sz="1050" b="0">
                          <a:solidFill>
                            <a:srgbClr val="E8F2EC"/>
                          </a:solidFill>
                          <a:latin typeface="Manrope"/>
                        </a:rPr>
                        <a:t>1.24%</a:t>
                      </a:r>
                    </a:p>
                  </a:txBody>
                  <a:tcPr marL="45720" marR="45720" marT="18288" marB="18288" anchor="ctr">
                    <a:solidFill>
                      <a:srgbClr val="051412"/>
                    </a:solidFill>
                  </a:tcPr>
                </a:tc>
              </a:tr>
              <a:tr h="260603">
                <a:tc>
                  <a:txBody>
                    <a:bodyPr wrap="square"/>
                    <a:lstStyle/>
                    <a:p>
                      <a:pPr algn="l"/>
                      <a:r>
                        <a:rPr sz="1050" b="0">
                          <a:solidFill>
                            <a:srgbClr val="F5D674"/>
                          </a:solidFill>
                          <a:latin typeface="Manrope"/>
                        </a:rPr>
                        <a:t>Jul 2026</a:t>
                      </a:r>
                    </a:p>
                  </a:txBody>
                  <a:tcPr marL="45720" marR="45720" marT="18288" marB="18288" anchor="ctr">
                    <a:solidFill>
                      <a:srgbClr val="051412"/>
                    </a:solidFill>
                  </a:tcPr>
                </a:tc>
                <a:tc>
                  <a:txBody>
                    <a:bodyPr wrap="square"/>
                    <a:lstStyle/>
                    <a:p>
                      <a:pPr algn="r"/>
                      <a:r>
                        <a:rPr sz="1050" b="0">
                          <a:solidFill>
                            <a:srgbClr val="F5D674"/>
                          </a:solidFill>
                          <a:latin typeface="Manrope"/>
                        </a:rPr>
                        <a:t>125,218</a:t>
                      </a:r>
                    </a:p>
                  </a:txBody>
                  <a:tcPr marL="45720" marR="45720" marT="18288" marB="18288" anchor="ctr">
                    <a:solidFill>
                      <a:srgbClr val="051412"/>
                    </a:solidFill>
                  </a:tcPr>
                </a:tc>
                <a:tc>
                  <a:txBody>
                    <a:bodyPr wrap="square"/>
                    <a:lstStyle/>
                    <a:p>
                      <a:pPr algn="r"/>
                      <a:r>
                        <a:rPr sz="1050" b="0">
                          <a:solidFill>
                            <a:srgbClr val="F5D674"/>
                          </a:solidFill>
                          <a:latin typeface="Manrope"/>
                        </a:rPr>
                        <a:t>550</a:t>
                      </a:r>
                    </a:p>
                  </a:txBody>
                  <a:tcPr marL="45720" marR="45720" marT="18288" marB="18288" anchor="ctr">
                    <a:solidFill>
                      <a:srgbClr val="051412"/>
                    </a:solidFill>
                  </a:tcPr>
                </a:tc>
                <a:tc>
                  <a:txBody>
                    <a:bodyPr wrap="square"/>
                    <a:lstStyle/>
                    <a:p>
                      <a:pPr algn="r"/>
                      <a:r>
                        <a:rPr sz="1050" b="0">
                          <a:solidFill>
                            <a:srgbClr val="F5D674"/>
                          </a:solidFill>
                          <a:latin typeface="Manrope"/>
                        </a:rPr>
                        <a:t>0.44%</a:t>
                      </a:r>
                    </a:p>
                  </a:txBody>
                  <a:tcPr marL="45720" marR="45720" marT="18288" marB="18288" anchor="ctr">
                    <a:solidFill>
                      <a:srgbClr val="051412"/>
                    </a:solidFill>
                  </a:tcPr>
                </a:tc>
              </a:tr>
              <a:tr h="260603">
                <a:tc>
                  <a:txBody>
                    <a:bodyPr wrap="square"/>
                    <a:lstStyle/>
                    <a:p>
                      <a:pPr algn="l"/>
                      <a:r>
                        <a:rPr sz="1050" b="0">
                          <a:solidFill>
                            <a:srgbClr val="EF4444"/>
                          </a:solidFill>
                          <a:latin typeface="Manrope"/>
                        </a:rPr>
                        <a:t>Aug 2026</a:t>
                      </a:r>
                    </a:p>
                  </a:txBody>
                  <a:tcPr marL="45720" marR="45720" marT="18288" marB="18288" anchor="ctr">
                    <a:solidFill>
                      <a:srgbClr val="051412"/>
                    </a:solidFill>
                  </a:tcPr>
                </a:tc>
                <a:tc>
                  <a:txBody>
                    <a:bodyPr wrap="square"/>
                    <a:lstStyle/>
                    <a:p>
                      <a:pPr algn="r"/>
                      <a:r>
                        <a:rPr sz="1050" b="0">
                          <a:solidFill>
                            <a:srgbClr val="EF4444"/>
                          </a:solidFill>
                          <a:latin typeface="Manrope"/>
                        </a:rPr>
                        <a:t>531,364</a:t>
                      </a:r>
                    </a:p>
                  </a:txBody>
                  <a:tcPr marL="45720" marR="45720" marT="18288" marB="18288" anchor="ctr">
                    <a:solidFill>
                      <a:srgbClr val="051412"/>
                    </a:solidFill>
                  </a:tcPr>
                </a:tc>
                <a:tc>
                  <a:txBody>
                    <a:bodyPr wrap="square"/>
                    <a:lstStyle/>
                    <a:p>
                      <a:pPr algn="r"/>
                      <a:r>
                        <a:rPr sz="1050" b="0">
                          <a:solidFill>
                            <a:srgbClr val="EF4444"/>
                          </a:solidFill>
                          <a:latin typeface="Manrope"/>
                        </a:rPr>
                        <a:t>656</a:t>
                      </a:r>
                    </a:p>
                  </a:txBody>
                  <a:tcPr marL="45720" marR="45720" marT="18288" marB="18288" anchor="ctr">
                    <a:solidFill>
                      <a:srgbClr val="051412"/>
                    </a:solidFill>
                  </a:tcPr>
                </a:tc>
                <a:tc>
                  <a:txBody>
                    <a:bodyPr wrap="square"/>
                    <a:lstStyle/>
                    <a:p>
                      <a:pPr algn="r"/>
                      <a:r>
                        <a:rPr sz="1050" b="0">
                          <a:solidFill>
                            <a:srgbClr val="EF4444"/>
                          </a:solidFill>
                          <a:latin typeface="Manrope"/>
                        </a:rPr>
                        <a:t>0.12%</a:t>
                      </a:r>
                    </a:p>
                  </a:txBody>
                  <a:tcPr marL="45720" marR="45720" marT="18288" marB="18288" anchor="ctr">
                    <a:solidFill>
                      <a:srgbClr val="051412"/>
                    </a:solidFill>
                  </a:tcPr>
                </a:tc>
              </a:tr>
            </a:tbl>
          </a:graphicData>
        </a:graphic>
      </p:graphicFrame>
      <p:sp>
        <p:nvSpPr>
          <p:cNvPr id="10" name="TextBox 9"/>
          <p:cNvSpPr txBox="1"/>
          <p:nvPr/>
        </p:nvSpPr>
        <p:spPr>
          <a:xfrm>
            <a:off x="566928" y="4242816"/>
            <a:ext cx="5120640" cy="36576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August sessions are twelve times June's while revenue rose 25%. Sessions that do not buy, in that volume, are not customers.</a:t>
            </a:r>
          </a:p>
        </p:txBody>
      </p:sp>
      <p:sp>
        <p:nvSpPr>
          <p:cNvPr id="11" name="Rounded Rectangle 10"/>
          <p:cNvSpPr/>
          <p:nvPr/>
        </p:nvSpPr>
        <p:spPr>
          <a:xfrm>
            <a:off x="566928" y="4727448"/>
            <a:ext cx="5120640" cy="123444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 y="4892040"/>
            <a:ext cx="3657600" cy="182880"/>
          </a:xfrm>
          <a:prstGeom prst="rect">
            <a:avLst/>
          </a:prstGeom>
          <a:noFill/>
        </p:spPr>
        <p:txBody>
          <a:bodyPr wrap="square" lIns="0" rIns="0" tIns="0" bIns="0" anchor="t">
            <a:spAutoFit/>
          </a:bodyPr>
          <a:lstStyle/>
          <a:p>
            <a:pPr algn="l"/>
            <a:r>
              <a:rPr sz="850" b="1" i="0" spc="160">
                <a:solidFill>
                  <a:srgbClr val="8EFEBB"/>
                </a:solidFill>
                <a:latin typeface="Manrope"/>
              </a:rPr>
              <a:t>THE CLEAN CONVERSION RATE</a:t>
            </a:r>
          </a:p>
        </p:txBody>
      </p:sp>
      <p:sp>
        <p:nvSpPr>
          <p:cNvPr id="13" name="TextBox 12"/>
          <p:cNvSpPr txBox="1"/>
          <p:nvPr/>
        </p:nvSpPr>
        <p:spPr>
          <a:xfrm>
            <a:off x="804672" y="5111496"/>
            <a:ext cx="2743200" cy="502920"/>
          </a:xfrm>
          <a:prstGeom prst="rect">
            <a:avLst/>
          </a:prstGeom>
          <a:noFill/>
        </p:spPr>
        <p:txBody>
          <a:bodyPr wrap="square" lIns="0" rIns="0" tIns="0" bIns="0" anchor="t">
            <a:spAutoFit/>
          </a:bodyPr>
          <a:lstStyle/>
          <a:p>
            <a:pPr algn="l"/>
            <a:r>
              <a:rPr sz="2800" b="1" i="0" spc="-60">
                <a:solidFill>
                  <a:srgbClr val="8EFEBB"/>
                </a:solidFill>
                <a:latin typeface="Manrope"/>
              </a:rPr>
              <a:t>1.45%</a:t>
            </a:r>
          </a:p>
        </p:txBody>
      </p:sp>
      <p:sp>
        <p:nvSpPr>
          <p:cNvPr id="14" name="TextBox 13"/>
          <p:cNvSpPr txBox="1"/>
          <p:nvPr/>
        </p:nvSpPr>
        <p:spPr>
          <a:xfrm>
            <a:off x="2852928" y="5129784"/>
            <a:ext cx="2560320" cy="640080"/>
          </a:xfrm>
          <a:prstGeom prst="rect">
            <a:avLst/>
          </a:prstGeom>
          <a:noFill/>
        </p:spPr>
        <p:txBody>
          <a:bodyPr wrap="square" lIns="0" rIns="0" tIns="0" bIns="0">
            <a:spAutoFit/>
          </a:bodyPr>
          <a:lstStyle/>
          <a:p>
            <a:pPr>
              <a:lnSpc>
                <a:spcPct val="135000"/>
              </a:lnSpc>
              <a:spcAft>
                <a:spcPts val="0"/>
              </a:spcAft>
            </a:pPr>
            <a:r>
              <a:rPr sz="1000" b="0" i="0">
                <a:solidFill>
                  <a:srgbClr val="B9C7C0"/>
                </a:solidFill>
                <a:latin typeface="Manrope"/>
              </a:rPr>
              <a:t>Averaged across the eleven months before the anomaly, ranging 1.05% to 2.08%. The model stands, and is now evidenced rather than assumed.</a:t>
            </a:r>
          </a:p>
        </p:txBody>
      </p:sp>
      <p:sp>
        <p:nvSpPr>
          <p:cNvPr id="15" name="Rounded Rectangle 14"/>
          <p:cNvSpPr/>
          <p:nvPr/>
        </p:nvSpPr>
        <p:spPr>
          <a:xfrm>
            <a:off x="5961888" y="2029968"/>
            <a:ext cx="5662879" cy="2331720"/>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199631" y="2194560"/>
            <a:ext cx="2267712"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CRITICAL · CONFIRMED</a:t>
            </a:r>
          </a:p>
        </p:txBody>
      </p:sp>
      <p:sp>
        <p:nvSpPr>
          <p:cNvPr id="17" name="TextBox 16"/>
          <p:cNvSpPr txBox="1"/>
          <p:nvPr/>
        </p:nvSpPr>
        <p:spPr>
          <a:xfrm>
            <a:off x="6199631" y="2542032"/>
            <a:ext cx="5205679" cy="274320"/>
          </a:xfrm>
          <a:prstGeom prst="rect">
            <a:avLst/>
          </a:prstGeom>
          <a:noFill/>
        </p:spPr>
        <p:txBody>
          <a:bodyPr wrap="square" lIns="0" rIns="0" tIns="0" bIns="0" anchor="t">
            <a:spAutoFit/>
          </a:bodyPr>
          <a:lstStyle/>
          <a:p>
            <a:pPr algn="l"/>
            <a:r>
              <a:rPr sz="1250" b="1" i="0">
                <a:solidFill>
                  <a:srgbClr val="FFFFFF"/>
                </a:solidFill>
                <a:latin typeface="Manrope"/>
              </a:rPr>
              <a:t>92% of reported traffic is bot activity logged as direct</a:t>
            </a:r>
          </a:p>
        </p:txBody>
      </p:sp>
      <p:sp>
        <p:nvSpPr>
          <p:cNvPr id="18" name="Rounded Rectangle 17"/>
          <p:cNvSpPr/>
          <p:nvPr/>
        </p:nvSpPr>
        <p:spPr>
          <a:xfrm>
            <a:off x="6199631" y="2889504"/>
            <a:ext cx="5205679" cy="914400"/>
          </a:xfrm>
          <a:prstGeom prst="roundRect">
            <a:avLst>
              <a:gd name="adj" fmla="val 4500"/>
            </a:avLst>
          </a:prstGeom>
          <a:solidFill>
            <a:srgbClr val="051412"/>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45936" y="2962656"/>
            <a:ext cx="1280160" cy="164592"/>
          </a:xfrm>
          <a:prstGeom prst="rect">
            <a:avLst/>
          </a:prstGeom>
          <a:noFill/>
        </p:spPr>
        <p:txBody>
          <a:bodyPr wrap="square" lIns="0" rIns="0" tIns="0" bIns="0" anchor="t">
            <a:spAutoFit/>
          </a:bodyPr>
          <a:lstStyle/>
          <a:p>
            <a:pPr algn="l"/>
            <a:r>
              <a:rPr sz="900" b="0" i="0">
                <a:solidFill>
                  <a:srgbClr val="6B7B74"/>
                </a:solidFill>
                <a:latin typeface="Manrope"/>
              </a:rPr>
              <a:t>direct</a:t>
            </a:r>
          </a:p>
        </p:txBody>
      </p:sp>
      <p:sp>
        <p:nvSpPr>
          <p:cNvPr id="20" name="TextBox 19"/>
          <p:cNvSpPr txBox="1"/>
          <p:nvPr/>
        </p:nvSpPr>
        <p:spPr>
          <a:xfrm>
            <a:off x="7333488" y="2962656"/>
            <a:ext cx="914400" cy="164592"/>
          </a:xfrm>
          <a:prstGeom prst="rect">
            <a:avLst/>
          </a:prstGeom>
          <a:noFill/>
        </p:spPr>
        <p:txBody>
          <a:bodyPr wrap="square" lIns="0" rIns="0" tIns="0" bIns="0" anchor="t">
            <a:spAutoFit/>
          </a:bodyPr>
          <a:lstStyle/>
          <a:p>
            <a:pPr algn="r"/>
            <a:r>
              <a:rPr sz="900" b="1" i="0">
                <a:solidFill>
                  <a:srgbClr val="EF4444"/>
                </a:solidFill>
                <a:latin typeface="Manrope"/>
              </a:rPr>
              <a:t>466,756</a:t>
            </a:r>
          </a:p>
        </p:txBody>
      </p:sp>
      <p:sp>
        <p:nvSpPr>
          <p:cNvPr id="21" name="TextBox 20"/>
          <p:cNvSpPr txBox="1"/>
          <p:nvPr/>
        </p:nvSpPr>
        <p:spPr>
          <a:xfrm>
            <a:off x="8613648" y="2962656"/>
            <a:ext cx="1280160" cy="164592"/>
          </a:xfrm>
          <a:prstGeom prst="rect">
            <a:avLst/>
          </a:prstGeom>
          <a:noFill/>
        </p:spPr>
        <p:txBody>
          <a:bodyPr wrap="square" lIns="0" rIns="0" tIns="0" bIns="0" anchor="t">
            <a:spAutoFit/>
          </a:bodyPr>
          <a:lstStyle/>
          <a:p>
            <a:pPr algn="l"/>
            <a:r>
              <a:rPr sz="900" b="0" i="0">
                <a:solidFill>
                  <a:srgbClr val="6B7B74"/>
                </a:solidFill>
                <a:latin typeface="Manrope"/>
              </a:rPr>
              <a:t>direct</a:t>
            </a:r>
          </a:p>
        </p:txBody>
      </p:sp>
      <p:sp>
        <p:nvSpPr>
          <p:cNvPr id="22" name="TextBox 21"/>
          <p:cNvSpPr txBox="1"/>
          <p:nvPr/>
        </p:nvSpPr>
        <p:spPr>
          <a:xfrm>
            <a:off x="9619488" y="2962656"/>
            <a:ext cx="1005840" cy="164592"/>
          </a:xfrm>
          <a:prstGeom prst="rect">
            <a:avLst/>
          </a:prstGeom>
          <a:noFill/>
        </p:spPr>
        <p:txBody>
          <a:bodyPr wrap="square" lIns="0" rIns="0" tIns="0" bIns="0" anchor="t">
            <a:spAutoFit/>
          </a:bodyPr>
          <a:lstStyle/>
          <a:p>
            <a:pPr algn="r"/>
            <a:r>
              <a:rPr sz="900" b="0" i="0">
                <a:solidFill>
                  <a:srgbClr val="B9C7C0"/>
                </a:solidFill>
                <a:latin typeface="Manrope"/>
              </a:rPr>
              <a:t>76,851</a:t>
            </a:r>
          </a:p>
        </p:txBody>
      </p:sp>
      <p:sp>
        <p:nvSpPr>
          <p:cNvPr id="23" name="TextBox 22"/>
          <p:cNvSpPr txBox="1"/>
          <p:nvPr/>
        </p:nvSpPr>
        <p:spPr>
          <a:xfrm>
            <a:off x="6345936" y="3122676"/>
            <a:ext cx="1280160" cy="164592"/>
          </a:xfrm>
          <a:prstGeom prst="rect">
            <a:avLst/>
          </a:prstGeom>
          <a:noFill/>
        </p:spPr>
        <p:txBody>
          <a:bodyPr wrap="square" lIns="0" rIns="0" tIns="0" bIns="0" anchor="t">
            <a:spAutoFit/>
          </a:bodyPr>
          <a:lstStyle/>
          <a:p>
            <a:pPr algn="l"/>
            <a:r>
              <a:rPr sz="900" b="0" i="0">
                <a:solidFill>
                  <a:srgbClr val="6B7B74"/>
                </a:solidFill>
                <a:latin typeface="Manrope"/>
              </a:rPr>
              <a:t>search</a:t>
            </a:r>
          </a:p>
        </p:txBody>
      </p:sp>
      <p:sp>
        <p:nvSpPr>
          <p:cNvPr id="24" name="TextBox 23"/>
          <p:cNvSpPr txBox="1"/>
          <p:nvPr/>
        </p:nvSpPr>
        <p:spPr>
          <a:xfrm>
            <a:off x="7333488" y="3122676"/>
            <a:ext cx="914400" cy="164592"/>
          </a:xfrm>
          <a:prstGeom prst="rect">
            <a:avLst/>
          </a:prstGeom>
          <a:noFill/>
        </p:spPr>
        <p:txBody>
          <a:bodyPr wrap="square" lIns="0" rIns="0" tIns="0" bIns="0" anchor="t">
            <a:spAutoFit/>
          </a:bodyPr>
          <a:lstStyle/>
          <a:p>
            <a:pPr algn="r"/>
            <a:r>
              <a:rPr sz="900" b="1" i="0">
                <a:solidFill>
                  <a:srgbClr val="B9C7C0"/>
                </a:solidFill>
                <a:latin typeface="Manrope"/>
              </a:rPr>
              <a:t>18,655</a:t>
            </a:r>
          </a:p>
        </p:txBody>
      </p:sp>
      <p:sp>
        <p:nvSpPr>
          <p:cNvPr id="25" name="TextBox 24"/>
          <p:cNvSpPr txBox="1"/>
          <p:nvPr/>
        </p:nvSpPr>
        <p:spPr>
          <a:xfrm>
            <a:off x="8613648" y="3122676"/>
            <a:ext cx="1280160" cy="164592"/>
          </a:xfrm>
          <a:prstGeom prst="rect">
            <a:avLst/>
          </a:prstGeom>
          <a:noFill/>
        </p:spPr>
        <p:txBody>
          <a:bodyPr wrap="square" lIns="0" rIns="0" tIns="0" bIns="0" anchor="t">
            <a:spAutoFit/>
          </a:bodyPr>
          <a:lstStyle/>
          <a:p>
            <a:pPr algn="l"/>
            <a:r>
              <a:rPr sz="900" b="0" i="0">
                <a:solidFill>
                  <a:srgbClr val="6B7B74"/>
                </a:solidFill>
                <a:latin typeface="Manrope"/>
              </a:rPr>
              <a:t>search</a:t>
            </a:r>
          </a:p>
        </p:txBody>
      </p:sp>
      <p:sp>
        <p:nvSpPr>
          <p:cNvPr id="26" name="TextBox 25"/>
          <p:cNvSpPr txBox="1"/>
          <p:nvPr/>
        </p:nvSpPr>
        <p:spPr>
          <a:xfrm>
            <a:off x="9619488" y="3122676"/>
            <a:ext cx="1005840" cy="164592"/>
          </a:xfrm>
          <a:prstGeom prst="rect">
            <a:avLst/>
          </a:prstGeom>
          <a:noFill/>
        </p:spPr>
        <p:txBody>
          <a:bodyPr wrap="square" lIns="0" rIns="0" tIns="0" bIns="0" anchor="t">
            <a:spAutoFit/>
          </a:bodyPr>
          <a:lstStyle/>
          <a:p>
            <a:pPr algn="r"/>
            <a:r>
              <a:rPr sz="900" b="0" i="0">
                <a:solidFill>
                  <a:srgbClr val="B9C7C0"/>
                </a:solidFill>
                <a:latin typeface="Manrope"/>
              </a:rPr>
              <a:t>55,283</a:t>
            </a:r>
          </a:p>
        </p:txBody>
      </p:sp>
      <p:sp>
        <p:nvSpPr>
          <p:cNvPr id="27" name="TextBox 26"/>
          <p:cNvSpPr txBox="1"/>
          <p:nvPr/>
        </p:nvSpPr>
        <p:spPr>
          <a:xfrm>
            <a:off x="6345936" y="3282696"/>
            <a:ext cx="1280160" cy="164592"/>
          </a:xfrm>
          <a:prstGeom prst="rect">
            <a:avLst/>
          </a:prstGeom>
          <a:noFill/>
        </p:spPr>
        <p:txBody>
          <a:bodyPr wrap="square" lIns="0" rIns="0" tIns="0" bIns="0" anchor="t">
            <a:spAutoFit/>
          </a:bodyPr>
          <a:lstStyle/>
          <a:p>
            <a:pPr algn="l"/>
            <a:r>
              <a:rPr sz="900" b="0" i="0">
                <a:solidFill>
                  <a:srgbClr val="6B7B74"/>
                </a:solidFill>
                <a:latin typeface="Manrope"/>
              </a:rPr>
              <a:t>social</a:t>
            </a:r>
          </a:p>
        </p:txBody>
      </p:sp>
      <p:sp>
        <p:nvSpPr>
          <p:cNvPr id="28" name="TextBox 27"/>
          <p:cNvSpPr txBox="1"/>
          <p:nvPr/>
        </p:nvSpPr>
        <p:spPr>
          <a:xfrm>
            <a:off x="7333488" y="3282696"/>
            <a:ext cx="914400" cy="164592"/>
          </a:xfrm>
          <a:prstGeom prst="rect">
            <a:avLst/>
          </a:prstGeom>
          <a:noFill/>
        </p:spPr>
        <p:txBody>
          <a:bodyPr wrap="square" lIns="0" rIns="0" tIns="0" bIns="0" anchor="t">
            <a:spAutoFit/>
          </a:bodyPr>
          <a:lstStyle/>
          <a:p>
            <a:pPr algn="r"/>
            <a:r>
              <a:rPr sz="900" b="1" i="0">
                <a:solidFill>
                  <a:srgbClr val="B9C7C0"/>
                </a:solidFill>
                <a:latin typeface="Manrope"/>
              </a:rPr>
              <a:t>3,409</a:t>
            </a:r>
          </a:p>
        </p:txBody>
      </p:sp>
      <p:sp>
        <p:nvSpPr>
          <p:cNvPr id="29" name="TextBox 28"/>
          <p:cNvSpPr txBox="1"/>
          <p:nvPr/>
        </p:nvSpPr>
        <p:spPr>
          <a:xfrm>
            <a:off x="8613648" y="3282696"/>
            <a:ext cx="1280160" cy="164592"/>
          </a:xfrm>
          <a:prstGeom prst="rect">
            <a:avLst/>
          </a:prstGeom>
          <a:noFill/>
        </p:spPr>
        <p:txBody>
          <a:bodyPr wrap="square" lIns="0" rIns="0" tIns="0" bIns="0" anchor="t">
            <a:spAutoFit/>
          </a:bodyPr>
          <a:lstStyle/>
          <a:p>
            <a:pPr algn="l"/>
            <a:r>
              <a:rPr sz="900" b="0" i="0">
                <a:solidFill>
                  <a:srgbClr val="6B7B74"/>
                </a:solidFill>
                <a:latin typeface="Manrope"/>
              </a:rPr>
              <a:t>social</a:t>
            </a:r>
          </a:p>
        </p:txBody>
      </p:sp>
      <p:sp>
        <p:nvSpPr>
          <p:cNvPr id="30" name="TextBox 29"/>
          <p:cNvSpPr txBox="1"/>
          <p:nvPr/>
        </p:nvSpPr>
        <p:spPr>
          <a:xfrm>
            <a:off x="9619488" y="3282696"/>
            <a:ext cx="1005840" cy="164592"/>
          </a:xfrm>
          <a:prstGeom prst="rect">
            <a:avLst/>
          </a:prstGeom>
          <a:noFill/>
        </p:spPr>
        <p:txBody>
          <a:bodyPr wrap="square" lIns="0" rIns="0" tIns="0" bIns="0" anchor="t">
            <a:spAutoFit/>
          </a:bodyPr>
          <a:lstStyle/>
          <a:p>
            <a:pPr algn="r"/>
            <a:r>
              <a:rPr sz="900" b="0" i="0">
                <a:solidFill>
                  <a:srgbClr val="B9C7C0"/>
                </a:solidFill>
                <a:latin typeface="Manrope"/>
              </a:rPr>
              <a:t>18,214</a:t>
            </a:r>
          </a:p>
        </p:txBody>
      </p:sp>
      <p:sp>
        <p:nvSpPr>
          <p:cNvPr id="31" name="TextBox 30"/>
          <p:cNvSpPr txBox="1"/>
          <p:nvPr/>
        </p:nvSpPr>
        <p:spPr>
          <a:xfrm>
            <a:off x="6345936" y="3442716"/>
            <a:ext cx="1280160" cy="164592"/>
          </a:xfrm>
          <a:prstGeom prst="rect">
            <a:avLst/>
          </a:prstGeom>
          <a:noFill/>
        </p:spPr>
        <p:txBody>
          <a:bodyPr wrap="square" lIns="0" rIns="0" tIns="0" bIns="0" anchor="t">
            <a:spAutoFit/>
          </a:bodyPr>
          <a:lstStyle/>
          <a:p>
            <a:pPr algn="l"/>
            <a:r>
              <a:rPr sz="900" b="0" i="0">
                <a:solidFill>
                  <a:srgbClr val="6B7B74"/>
                </a:solidFill>
                <a:latin typeface="Manrope"/>
              </a:rPr>
              <a:t>email</a:t>
            </a:r>
          </a:p>
        </p:txBody>
      </p:sp>
      <p:sp>
        <p:nvSpPr>
          <p:cNvPr id="32" name="TextBox 31"/>
          <p:cNvSpPr txBox="1"/>
          <p:nvPr/>
        </p:nvSpPr>
        <p:spPr>
          <a:xfrm>
            <a:off x="7333488" y="3442716"/>
            <a:ext cx="914400" cy="164592"/>
          </a:xfrm>
          <a:prstGeom prst="rect">
            <a:avLst/>
          </a:prstGeom>
          <a:noFill/>
        </p:spPr>
        <p:txBody>
          <a:bodyPr wrap="square" lIns="0" rIns="0" tIns="0" bIns="0" anchor="t">
            <a:spAutoFit/>
          </a:bodyPr>
          <a:lstStyle/>
          <a:p>
            <a:pPr algn="r"/>
            <a:r>
              <a:rPr sz="900" b="1" i="0">
                <a:solidFill>
                  <a:srgbClr val="B9C7C0"/>
                </a:solidFill>
                <a:latin typeface="Manrope"/>
              </a:rPr>
              <a:t>36</a:t>
            </a:r>
          </a:p>
        </p:txBody>
      </p:sp>
      <p:sp>
        <p:nvSpPr>
          <p:cNvPr id="33" name="TextBox 32"/>
          <p:cNvSpPr txBox="1"/>
          <p:nvPr/>
        </p:nvSpPr>
        <p:spPr>
          <a:xfrm>
            <a:off x="8613648" y="3442716"/>
            <a:ext cx="1280160" cy="164592"/>
          </a:xfrm>
          <a:prstGeom prst="rect">
            <a:avLst/>
          </a:prstGeom>
          <a:noFill/>
        </p:spPr>
        <p:txBody>
          <a:bodyPr wrap="square" lIns="0" rIns="0" tIns="0" bIns="0" anchor="t">
            <a:spAutoFit/>
          </a:bodyPr>
          <a:lstStyle/>
          <a:p>
            <a:pPr algn="l"/>
            <a:r>
              <a:rPr sz="900" b="0" i="0">
                <a:solidFill>
                  <a:srgbClr val="6B7B74"/>
                </a:solidFill>
                <a:latin typeface="Manrope"/>
              </a:rPr>
              <a:t>email</a:t>
            </a:r>
          </a:p>
        </p:txBody>
      </p:sp>
      <p:sp>
        <p:nvSpPr>
          <p:cNvPr id="34" name="TextBox 33"/>
          <p:cNvSpPr txBox="1"/>
          <p:nvPr/>
        </p:nvSpPr>
        <p:spPr>
          <a:xfrm>
            <a:off x="9619488" y="3442716"/>
            <a:ext cx="1005840" cy="164592"/>
          </a:xfrm>
          <a:prstGeom prst="rect">
            <a:avLst/>
          </a:prstGeom>
          <a:noFill/>
        </p:spPr>
        <p:txBody>
          <a:bodyPr wrap="square" lIns="0" rIns="0" tIns="0" bIns="0" anchor="t">
            <a:spAutoFit/>
          </a:bodyPr>
          <a:lstStyle/>
          <a:p>
            <a:pPr algn="r"/>
            <a:r>
              <a:rPr sz="900" b="0" i="0">
                <a:solidFill>
                  <a:srgbClr val="B9C7C0"/>
                </a:solidFill>
                <a:latin typeface="Manrope"/>
              </a:rPr>
              <a:t>120</a:t>
            </a:r>
          </a:p>
        </p:txBody>
      </p:sp>
      <p:sp>
        <p:nvSpPr>
          <p:cNvPr id="35" name="TextBox 34"/>
          <p:cNvSpPr txBox="1"/>
          <p:nvPr/>
        </p:nvSpPr>
        <p:spPr>
          <a:xfrm>
            <a:off x="6345936" y="3602736"/>
            <a:ext cx="1280160" cy="164592"/>
          </a:xfrm>
          <a:prstGeom prst="rect">
            <a:avLst/>
          </a:prstGeom>
          <a:noFill/>
        </p:spPr>
        <p:txBody>
          <a:bodyPr wrap="square" lIns="0" rIns="0" tIns="0" bIns="0" anchor="t">
            <a:spAutoFit/>
          </a:bodyPr>
          <a:lstStyle/>
          <a:p>
            <a:pPr algn="l"/>
            <a:r>
              <a:rPr sz="900" b="0" i="0">
                <a:solidFill>
                  <a:srgbClr val="6B7B74"/>
                </a:solidFill>
                <a:latin typeface="Manrope"/>
              </a:rPr>
              <a:t>paid</a:t>
            </a:r>
          </a:p>
        </p:txBody>
      </p:sp>
      <p:sp>
        <p:nvSpPr>
          <p:cNvPr id="36" name="TextBox 35"/>
          <p:cNvSpPr txBox="1"/>
          <p:nvPr/>
        </p:nvSpPr>
        <p:spPr>
          <a:xfrm>
            <a:off x="7333488" y="3602736"/>
            <a:ext cx="914400" cy="164592"/>
          </a:xfrm>
          <a:prstGeom prst="rect">
            <a:avLst/>
          </a:prstGeom>
          <a:noFill/>
        </p:spPr>
        <p:txBody>
          <a:bodyPr wrap="square" lIns="0" rIns="0" tIns="0" bIns="0" anchor="t">
            <a:spAutoFit/>
          </a:bodyPr>
          <a:lstStyle/>
          <a:p>
            <a:pPr algn="r"/>
            <a:r>
              <a:rPr sz="900" b="1" i="0">
                <a:solidFill>
                  <a:srgbClr val="B9C7C0"/>
                </a:solidFill>
                <a:latin typeface="Manrope"/>
              </a:rPr>
              <a:t>10</a:t>
            </a:r>
          </a:p>
        </p:txBody>
      </p:sp>
      <p:sp>
        <p:nvSpPr>
          <p:cNvPr id="37" name="TextBox 36"/>
          <p:cNvSpPr txBox="1"/>
          <p:nvPr/>
        </p:nvSpPr>
        <p:spPr>
          <a:xfrm>
            <a:off x="8613648" y="3602736"/>
            <a:ext cx="1280160" cy="164592"/>
          </a:xfrm>
          <a:prstGeom prst="rect">
            <a:avLst/>
          </a:prstGeom>
          <a:noFill/>
        </p:spPr>
        <p:txBody>
          <a:bodyPr wrap="square" lIns="0" rIns="0" tIns="0" bIns="0" anchor="t">
            <a:spAutoFit/>
          </a:bodyPr>
          <a:lstStyle/>
          <a:p>
            <a:pPr algn="l"/>
            <a:r>
              <a:rPr sz="900" b="0" i="0">
                <a:solidFill>
                  <a:srgbClr val="6B7B74"/>
                </a:solidFill>
                <a:latin typeface="Manrope"/>
              </a:rPr>
              <a:t>paid</a:t>
            </a:r>
          </a:p>
        </p:txBody>
      </p:sp>
      <p:sp>
        <p:nvSpPr>
          <p:cNvPr id="38" name="TextBox 37"/>
          <p:cNvSpPr txBox="1"/>
          <p:nvPr/>
        </p:nvSpPr>
        <p:spPr>
          <a:xfrm>
            <a:off x="9619488" y="3602736"/>
            <a:ext cx="1005840" cy="164592"/>
          </a:xfrm>
          <a:prstGeom prst="rect">
            <a:avLst/>
          </a:prstGeom>
          <a:noFill/>
        </p:spPr>
        <p:txBody>
          <a:bodyPr wrap="square" lIns="0" rIns="0" tIns="0" bIns="0" anchor="t">
            <a:spAutoFit/>
          </a:bodyPr>
          <a:lstStyle/>
          <a:p>
            <a:pPr algn="r"/>
            <a:r>
              <a:rPr sz="900" b="0" i="0">
                <a:solidFill>
                  <a:srgbClr val="B9C7C0"/>
                </a:solidFill>
                <a:latin typeface="Manrope"/>
              </a:rPr>
              <a:t>68</a:t>
            </a:r>
          </a:p>
        </p:txBody>
      </p:sp>
      <p:sp>
        <p:nvSpPr>
          <p:cNvPr id="39" name="TextBox 38"/>
          <p:cNvSpPr txBox="1"/>
          <p:nvPr/>
        </p:nvSpPr>
        <p:spPr>
          <a:xfrm>
            <a:off x="6345936" y="2779776"/>
            <a:ext cx="1828800" cy="182880"/>
          </a:xfrm>
          <a:prstGeom prst="rect">
            <a:avLst/>
          </a:prstGeom>
          <a:noFill/>
        </p:spPr>
        <p:txBody>
          <a:bodyPr wrap="square" lIns="0" rIns="0" tIns="0" bIns="0" anchor="t">
            <a:spAutoFit/>
          </a:bodyPr>
          <a:lstStyle/>
          <a:p>
            <a:pPr algn="l"/>
            <a:r>
              <a:rPr sz="750" b="1" i="0" spc="160">
                <a:solidFill>
                  <a:srgbClr val="6B7B74"/>
                </a:solidFill>
                <a:latin typeface="Manrope"/>
              </a:rPr>
              <a:t>LAST 30 DAYS</a:t>
            </a:r>
          </a:p>
        </p:txBody>
      </p:sp>
      <p:sp>
        <p:nvSpPr>
          <p:cNvPr id="40" name="TextBox 39"/>
          <p:cNvSpPr txBox="1"/>
          <p:nvPr/>
        </p:nvSpPr>
        <p:spPr>
          <a:xfrm>
            <a:off x="8613648" y="2779776"/>
            <a:ext cx="2743200" cy="182880"/>
          </a:xfrm>
          <a:prstGeom prst="rect">
            <a:avLst/>
          </a:prstGeom>
          <a:noFill/>
        </p:spPr>
        <p:txBody>
          <a:bodyPr wrap="square" lIns="0" rIns="0" tIns="0" bIns="0" anchor="t">
            <a:spAutoFit/>
          </a:bodyPr>
          <a:lstStyle/>
          <a:p>
            <a:pPr algn="l"/>
            <a:r>
              <a:rPr sz="750" b="1" i="0" spc="160">
                <a:solidFill>
                  <a:srgbClr val="6B7B74"/>
                </a:solidFill>
                <a:latin typeface="Manrope"/>
              </a:rPr>
              <a:t>60–180 DAYS AGO, PER 120</a:t>
            </a:r>
          </a:p>
        </p:txBody>
      </p:sp>
      <p:sp>
        <p:nvSpPr>
          <p:cNvPr id="41" name="TextBox 40"/>
          <p:cNvSpPr txBox="1"/>
          <p:nvPr/>
        </p:nvSpPr>
        <p:spPr>
          <a:xfrm>
            <a:off x="6199631" y="3877056"/>
            <a:ext cx="5205679" cy="411480"/>
          </a:xfrm>
          <a:prstGeom prst="rect">
            <a:avLst/>
          </a:prstGeom>
          <a:noFill/>
        </p:spPr>
        <p:txBody>
          <a:bodyPr wrap="square" lIns="0" rIns="0" tIns="0" bIns="0">
            <a:spAutoFit/>
          </a:bodyPr>
          <a:lstStyle/>
          <a:p>
            <a:pPr>
              <a:lnSpc>
                <a:spcPct val="132000"/>
              </a:lnSpc>
              <a:spcAft>
                <a:spcPts val="0"/>
              </a:spcAft>
            </a:pPr>
            <a:r>
              <a:rPr sz="1000" b="0" i="0">
                <a:solidFill>
                  <a:srgbClr val="B9C7C0"/>
                </a:solidFill>
                <a:latin typeface="Manrope"/>
              </a:rPr>
              <a:t>Direct sessions went from roughly 19,000 a month to 466,756 in thirty days — a 24-fold rise — while search, social and orders all stayed on trend.</a:t>
            </a:r>
          </a:p>
        </p:txBody>
      </p:sp>
      <p:sp>
        <p:nvSpPr>
          <p:cNvPr id="42" name="Rounded Rectangle 41"/>
          <p:cNvSpPr/>
          <p:nvPr/>
        </p:nvSpPr>
        <p:spPr>
          <a:xfrm>
            <a:off x="5961888" y="4498848"/>
            <a:ext cx="5662879" cy="14630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199631" y="4663440"/>
            <a:ext cx="5205679" cy="274320"/>
          </a:xfrm>
          <a:prstGeom prst="rect">
            <a:avLst/>
          </a:prstGeom>
          <a:noFill/>
        </p:spPr>
        <p:txBody>
          <a:bodyPr wrap="square" lIns="0" rIns="0" tIns="0" bIns="0" anchor="t">
            <a:spAutoFit/>
          </a:bodyPr>
          <a:lstStyle/>
          <a:p>
            <a:pPr algn="l"/>
            <a:r>
              <a:rPr sz="1250" b="1" i="0">
                <a:solidFill>
                  <a:srgbClr val="FFFFFF"/>
                </a:solidFill>
                <a:latin typeface="Manrope"/>
              </a:rPr>
              <a:t>Why it matters beyond the reporting</a:t>
            </a:r>
          </a:p>
        </p:txBody>
      </p:sp>
      <p:sp>
        <p:nvSpPr>
          <p:cNvPr id="44" name="TextBox 43"/>
          <p:cNvSpPr txBox="1"/>
          <p:nvPr/>
        </p:nvSpPr>
        <p:spPr>
          <a:xfrm>
            <a:off x="6199631" y="4974336"/>
            <a:ext cx="5205679" cy="914400"/>
          </a:xfrm>
          <a:prstGeom prst="rect">
            <a:avLst/>
          </a:prstGeom>
          <a:noFill/>
        </p:spPr>
        <p:txBody>
          <a:bodyPr wrap="square" lIns="0" rIns="0" tIns="0" bIns="0">
            <a:spAutoFit/>
          </a:bodyPr>
          <a:lstStyle/>
          <a:p>
            <a:pPr>
              <a:lnSpc>
                <a:spcPct val="132000"/>
              </a:lnSpc>
              <a:spcAft>
                <a:spcPts val="700"/>
              </a:spcAft>
            </a:pPr>
            <a:r>
              <a:rPr sz="1000" b="1">
                <a:solidFill>
                  <a:srgbClr val="8EFEBB"/>
                </a:solidFill>
                <a:latin typeface="Manrope"/>
              </a:rPr>
              <a:t>•  </a:t>
            </a:r>
            <a:r>
              <a:rPr sz="1000" b="0">
                <a:solidFill>
                  <a:srgbClr val="B9C7C0"/>
                </a:solidFill>
                <a:latin typeface="Manrope"/>
              </a:rPr>
              <a:t>Every conversion rate in Shopify Analytics is wrong by a factor of ten, so any decision taken on it is taken on corrupted data</a:t>
            </a:r>
          </a:p>
          <a:p>
            <a:pPr>
              <a:lnSpc>
                <a:spcPct val="132000"/>
              </a:lnSpc>
              <a:spcAft>
                <a:spcPts val="700"/>
              </a:spcAft>
            </a:pPr>
            <a:r>
              <a:rPr sz="1000" b="1">
                <a:solidFill>
                  <a:srgbClr val="8EFEBB"/>
                </a:solidFill>
                <a:latin typeface="Manrope"/>
              </a:rPr>
              <a:t>•  </a:t>
            </a:r>
            <a:r>
              <a:rPr sz="1000" b="1">
                <a:solidFill>
                  <a:srgbClr val="FFFFFF"/>
                </a:solidFill>
                <a:latin typeface="Manrope"/>
              </a:rPr>
              <a:t>It contaminates the signal fed back to Google and Meta. </a:t>
            </a:r>
            <a:r>
              <a:rPr sz="1000" b="0">
                <a:solidFill>
                  <a:srgbClr val="B9C7C0"/>
                </a:solidFill>
                <a:latin typeface="Manrope"/>
              </a:rPr>
              <a:t>This needs stopping before any new paid budget is set</a:t>
            </a:r>
          </a:p>
          <a:p>
            <a:pPr>
              <a:lnSpc>
                <a:spcPct val="132000"/>
              </a:lnSpc>
              <a:spcAft>
                <a:spcPts val="700"/>
              </a:spcAft>
            </a:pPr>
            <a:r>
              <a:rPr sz="1000" b="1">
                <a:solidFill>
                  <a:srgbClr val="8EFEBB"/>
                </a:solidFill>
                <a:latin typeface="Manrope"/>
              </a:rPr>
              <a:t>•  </a:t>
            </a:r>
            <a:r>
              <a:rPr sz="1000" b="0">
                <a:solidFill>
                  <a:srgbClr val="B9C7C0"/>
                </a:solidFill>
                <a:latin typeface="Manrope"/>
              </a:rPr>
              <a:t>It is real server load, and a plausible contributor to the missed page-speed gates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06 · FOUNDATION</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Five waves are built, tested and merged. None of it is </a:t>
            </a:r>
            <a:r>
              <a:rPr sz="2700" b="1" i="1" spc="-70">
                <a:solidFill>
                  <a:srgbClr val="8EFEBB"/>
                </a:solidFill>
                <a:latin typeface="Instrument Serif"/>
              </a:rPr>
              <a:t>live</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Every figure on this slide is an unrealised gain sitting in a branch, waiting on a release decision.</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07</a:t>
            </a:r>
          </a:p>
        </p:txBody>
      </p:sp>
      <p:graphicFrame>
        <p:nvGraphicFramePr>
          <p:cNvPr id="9" name="Table 8"/>
          <p:cNvGraphicFramePr>
            <a:graphicFrameLocks noGrp="1"/>
          </p:cNvGraphicFramePr>
          <p:nvPr/>
        </p:nvGraphicFramePr>
        <p:xfrm>
          <a:off x="566928" y="2029968"/>
          <a:ext cx="6400800" cy="2468880"/>
        </p:xfrm>
        <a:graphic>
          <a:graphicData uri="http://schemas.openxmlformats.org/drawingml/2006/table">
            <a:tbl>
              <a:tblPr firstRow="1" bandRow="1">
                <a:tableStyleId>{5C22544A-7EE6-4342-B048-85BDC9FD1C3A}</a:tableStyleId>
              </a:tblPr>
              <a:tblGrid>
                <a:gridCol w="2743200"/>
                <a:gridCol w="1097280"/>
                <a:gridCol w="1188720"/>
                <a:gridCol w="1371600"/>
              </a:tblGrid>
              <a:tr h="274320">
                <a:tc>
                  <a:txBody>
                    <a:bodyPr wrap="square"/>
                    <a:lstStyle/>
                    <a:p>
                      <a:pPr algn="l"/>
                      <a:r>
                        <a:rPr sz="780" b="1">
                          <a:solidFill>
                            <a:srgbClr val="6B7B74"/>
                          </a:solidFill>
                          <a:latin typeface="Manrope"/>
                        </a:rPr>
                        <a:t>METRIC</a:t>
                      </a:r>
                    </a:p>
                  </a:txBody>
                  <a:tcPr marL="45720" marR="45720" marT="18288" marB="18288" anchor="ctr">
                    <a:solidFill>
                      <a:srgbClr val="051412"/>
                    </a:solidFill>
                  </a:tcPr>
                </a:tc>
                <a:tc>
                  <a:txBody>
                    <a:bodyPr wrap="square"/>
                    <a:lstStyle/>
                    <a:p>
                      <a:pPr algn="r"/>
                      <a:r>
                        <a:rPr sz="780" b="1">
                          <a:solidFill>
                            <a:srgbClr val="6B7B74"/>
                          </a:solidFill>
                          <a:latin typeface="Manrope"/>
                        </a:rPr>
                        <a:t>BEFORE</a:t>
                      </a:r>
                    </a:p>
                  </a:txBody>
                  <a:tcPr marL="45720" marR="45720" marT="18288" marB="18288" anchor="ctr">
                    <a:solidFill>
                      <a:srgbClr val="051412"/>
                    </a:solidFill>
                  </a:tcPr>
                </a:tc>
                <a:tc>
                  <a:txBody>
                    <a:bodyPr wrap="square"/>
                    <a:lstStyle/>
                    <a:p>
                      <a:pPr algn="r"/>
                      <a:r>
                        <a:rPr sz="780" b="1">
                          <a:solidFill>
                            <a:srgbClr val="6B7B74"/>
                          </a:solidFill>
                          <a:latin typeface="Manrope"/>
                        </a:rPr>
                        <a:t>AFTER</a:t>
                      </a:r>
                    </a:p>
                  </a:txBody>
                  <a:tcPr marL="45720" marR="45720" marT="18288" marB="18288" anchor="ctr">
                    <a:solidFill>
                      <a:srgbClr val="051412"/>
                    </a:solidFill>
                  </a:tcPr>
                </a:tc>
                <a:tc>
                  <a:txBody>
                    <a:bodyPr wrap="square"/>
                    <a:lstStyle/>
                    <a:p>
                      <a:pPr algn="r"/>
                      <a:r>
                        <a:rPr sz="780" b="1">
                          <a:solidFill>
                            <a:srgbClr val="6B7B74"/>
                          </a:solidFill>
                          <a:latin typeface="Manrope"/>
                        </a:rPr>
                        <a:t>STATUS</a:t>
                      </a:r>
                    </a:p>
                  </a:txBody>
                  <a:tcPr marL="45720" marR="45720" marT="18288" marB="18288" anchor="ctr">
                    <a:solidFill>
                      <a:srgbClr val="051412"/>
                    </a:solidFill>
                  </a:tcPr>
                </a:tc>
              </a:tr>
              <a:tr h="274320">
                <a:tc>
                  <a:txBody>
                    <a:bodyPr wrap="square"/>
                    <a:lstStyle/>
                    <a:p>
                      <a:pPr algn="l"/>
                      <a:r>
                        <a:rPr sz="1000" b="1">
                          <a:solidFill>
                            <a:srgbClr val="8EFEBB"/>
                          </a:solidFill>
                          <a:latin typeface="Manrope"/>
                        </a:rPr>
                        <a:t>PDP page weight — 38s idle</a:t>
                      </a:r>
                    </a:p>
                  </a:txBody>
                  <a:tcPr marL="45720" marR="45720" marT="18288" marB="18288" anchor="ctr">
                    <a:solidFill>
                      <a:srgbClr val="0B2A24"/>
                    </a:solidFill>
                  </a:tcPr>
                </a:tc>
                <a:tc>
                  <a:txBody>
                    <a:bodyPr wrap="square"/>
                    <a:lstStyle/>
                    <a:p>
                      <a:pPr algn="r"/>
                      <a:r>
                        <a:rPr sz="1000" b="1">
                          <a:solidFill>
                            <a:srgbClr val="8EFEBB"/>
                          </a:solidFill>
                          <a:latin typeface="Manrope"/>
                        </a:rPr>
                        <a:t>36.9 MB</a:t>
                      </a:r>
                    </a:p>
                  </a:txBody>
                  <a:tcPr marL="45720" marR="45720" marT="18288" marB="18288" anchor="ctr">
                    <a:solidFill>
                      <a:srgbClr val="0B2A24"/>
                    </a:solidFill>
                  </a:tcPr>
                </a:tc>
                <a:tc>
                  <a:txBody>
                    <a:bodyPr wrap="square"/>
                    <a:lstStyle/>
                    <a:p>
                      <a:pPr algn="r"/>
                      <a:r>
                        <a:rPr sz="1000" b="1">
                          <a:solidFill>
                            <a:srgbClr val="8EFEBB"/>
                          </a:solidFill>
                          <a:latin typeface="Manrope"/>
                        </a:rPr>
                        <a:t>under 1.6 MB</a:t>
                      </a:r>
                    </a:p>
                  </a:txBody>
                  <a:tcPr marL="45720" marR="45720" marT="18288" marB="18288" anchor="ctr">
                    <a:solidFill>
                      <a:srgbClr val="0B2A24"/>
                    </a:solidFill>
                  </a:tcPr>
                </a:tc>
                <a:tc>
                  <a:txBody>
                    <a:bodyPr wrap="square"/>
                    <a:lstStyle/>
                    <a:p>
                      <a:pPr algn="r"/>
                      <a:r>
                        <a:rPr sz="1000" b="1">
                          <a:solidFill>
                            <a:srgbClr val="8EFEBB"/>
                          </a:solidFill>
                          <a:latin typeface="Manrope"/>
                        </a:rPr>
                        <a:t>Merged, not live</a:t>
                      </a:r>
                    </a:p>
                  </a:txBody>
                  <a:tcPr marL="45720" marR="45720" marT="18288" marB="18288" anchor="ctr">
                    <a:solidFill>
                      <a:srgbClr val="0B2A24"/>
                    </a:solidFill>
                  </a:tcPr>
                </a:tc>
              </a:tr>
              <a:tr h="274320">
                <a:tc>
                  <a:txBody>
                    <a:bodyPr wrap="square"/>
                    <a:lstStyle/>
                    <a:p>
                      <a:pPr algn="l"/>
                      <a:r>
                        <a:rPr sz="1000" b="1">
                          <a:solidFill>
                            <a:srgbClr val="8EFEBB"/>
                          </a:solidFill>
                          <a:latin typeface="Manrope"/>
                        </a:rPr>
                        <a:t>Time until size options usable</a:t>
                      </a:r>
                    </a:p>
                  </a:txBody>
                  <a:tcPr marL="45720" marR="45720" marT="18288" marB="18288" anchor="ctr">
                    <a:solidFill>
                      <a:srgbClr val="0B2A24"/>
                    </a:solidFill>
                  </a:tcPr>
                </a:tc>
                <a:tc>
                  <a:txBody>
                    <a:bodyPr wrap="square"/>
                    <a:lstStyle/>
                    <a:p>
                      <a:pPr algn="r"/>
                      <a:r>
                        <a:rPr sz="1000" b="1">
                          <a:solidFill>
                            <a:srgbClr val="8EFEBB"/>
                          </a:solidFill>
                          <a:latin typeface="Manrope"/>
                        </a:rPr>
                        <a:t>45.0 s</a:t>
                      </a:r>
                    </a:p>
                  </a:txBody>
                  <a:tcPr marL="45720" marR="45720" marT="18288" marB="18288" anchor="ctr">
                    <a:solidFill>
                      <a:srgbClr val="0B2A24"/>
                    </a:solidFill>
                  </a:tcPr>
                </a:tc>
                <a:tc>
                  <a:txBody>
                    <a:bodyPr wrap="square"/>
                    <a:lstStyle/>
                    <a:p>
                      <a:pPr algn="r"/>
                      <a:r>
                        <a:rPr sz="1000" b="1">
                          <a:solidFill>
                            <a:srgbClr val="8EFEBB"/>
                          </a:solidFill>
                          <a:latin typeface="Manrope"/>
                        </a:rPr>
                        <a:t>11.7 s</a:t>
                      </a:r>
                    </a:p>
                  </a:txBody>
                  <a:tcPr marL="45720" marR="45720" marT="18288" marB="18288" anchor="ctr">
                    <a:solidFill>
                      <a:srgbClr val="0B2A24"/>
                    </a:solidFill>
                  </a:tcPr>
                </a:tc>
                <a:tc>
                  <a:txBody>
                    <a:bodyPr wrap="square"/>
                    <a:lstStyle/>
                    <a:p>
                      <a:pPr algn="r"/>
                      <a:r>
                        <a:rPr sz="1000" b="1">
                          <a:solidFill>
                            <a:srgbClr val="8EFEBB"/>
                          </a:solidFill>
                          <a:latin typeface="Manrope"/>
                        </a:rPr>
                        <a:t>Merged, not live</a:t>
                      </a:r>
                    </a:p>
                  </a:txBody>
                  <a:tcPr marL="45720" marR="45720" marT="18288" marB="18288" anchor="ctr">
                    <a:solidFill>
                      <a:srgbClr val="0B2A24"/>
                    </a:solidFill>
                  </a:tcPr>
                </a:tc>
              </a:tr>
              <a:tr h="274320">
                <a:tc>
                  <a:txBody>
                    <a:bodyPr wrap="square"/>
                    <a:lstStyle/>
                    <a:p>
                      <a:pPr algn="l"/>
                      <a:r>
                        <a:rPr sz="1000" b="1">
                          <a:solidFill>
                            <a:srgbClr val="8EFEBB"/>
                          </a:solidFill>
                          <a:latin typeface="Manrope"/>
                        </a:rPr>
                        <a:t>Product page layout shift (CLS)</a:t>
                      </a:r>
                    </a:p>
                  </a:txBody>
                  <a:tcPr marL="45720" marR="45720" marT="18288" marB="18288" anchor="ctr">
                    <a:solidFill>
                      <a:srgbClr val="0B2A24"/>
                    </a:solidFill>
                  </a:tcPr>
                </a:tc>
                <a:tc>
                  <a:txBody>
                    <a:bodyPr wrap="square"/>
                    <a:lstStyle/>
                    <a:p>
                      <a:pPr algn="r"/>
                      <a:r>
                        <a:rPr sz="1000" b="1">
                          <a:solidFill>
                            <a:srgbClr val="8EFEBB"/>
                          </a:solidFill>
                          <a:latin typeface="Manrope"/>
                        </a:rPr>
                        <a:t>0.362</a:t>
                      </a:r>
                    </a:p>
                  </a:txBody>
                  <a:tcPr marL="45720" marR="45720" marT="18288" marB="18288" anchor="ctr">
                    <a:solidFill>
                      <a:srgbClr val="0B2A24"/>
                    </a:solidFill>
                  </a:tcPr>
                </a:tc>
                <a:tc>
                  <a:txBody>
                    <a:bodyPr wrap="square"/>
                    <a:lstStyle/>
                    <a:p>
                      <a:pPr algn="r"/>
                      <a:r>
                        <a:rPr sz="1000" b="1">
                          <a:solidFill>
                            <a:srgbClr val="8EFEBB"/>
                          </a:solidFill>
                          <a:latin typeface="Manrope"/>
                        </a:rPr>
                        <a:t>0.045</a:t>
                      </a:r>
                    </a:p>
                  </a:txBody>
                  <a:tcPr marL="45720" marR="45720" marT="18288" marB="18288" anchor="ctr">
                    <a:solidFill>
                      <a:srgbClr val="0B2A24"/>
                    </a:solidFill>
                  </a:tcPr>
                </a:tc>
                <a:tc>
                  <a:txBody>
                    <a:bodyPr wrap="square"/>
                    <a:lstStyle/>
                    <a:p>
                      <a:pPr algn="r"/>
                      <a:r>
                        <a:rPr sz="1000" b="1">
                          <a:solidFill>
                            <a:srgbClr val="8EFEBB"/>
                          </a:solidFill>
                          <a:latin typeface="Manrope"/>
                        </a:rPr>
                        <a:t>Merged, not live</a:t>
                      </a:r>
                    </a:p>
                  </a:txBody>
                  <a:tcPr marL="45720" marR="45720" marT="18288" marB="18288" anchor="ctr">
                    <a:solidFill>
                      <a:srgbClr val="0B2A24"/>
                    </a:solidFill>
                  </a:tcPr>
                </a:tc>
              </a:tr>
              <a:tr h="274320">
                <a:tc>
                  <a:txBody>
                    <a:bodyPr wrap="square"/>
                    <a:lstStyle/>
                    <a:p>
                      <a:pPr algn="l"/>
                      <a:r>
                        <a:rPr sz="1000" b="0">
                          <a:solidFill>
                            <a:srgbClr val="E8F2EC"/>
                          </a:solidFill>
                          <a:latin typeface="Manrope"/>
                        </a:rPr>
                        <a:t>Largest contentful paint</a:t>
                      </a:r>
                    </a:p>
                  </a:txBody>
                  <a:tcPr marL="45720" marR="45720" marT="18288" marB="18288" anchor="ctr">
                    <a:solidFill>
                      <a:srgbClr val="051412"/>
                    </a:solidFill>
                  </a:tcPr>
                </a:tc>
                <a:tc>
                  <a:txBody>
                    <a:bodyPr wrap="square"/>
                    <a:lstStyle/>
                    <a:p>
                      <a:pPr algn="r"/>
                      <a:r>
                        <a:rPr sz="1000" b="0">
                          <a:solidFill>
                            <a:srgbClr val="E8F2EC"/>
                          </a:solidFill>
                          <a:latin typeface="Manrope"/>
                        </a:rPr>
                        <a:t>up to 8.0 s</a:t>
                      </a:r>
                    </a:p>
                  </a:txBody>
                  <a:tcPr marL="45720" marR="45720" marT="18288" marB="18288" anchor="ctr">
                    <a:solidFill>
                      <a:srgbClr val="051412"/>
                    </a:solidFill>
                  </a:tcPr>
                </a:tc>
                <a:tc>
                  <a:txBody>
                    <a:bodyPr wrap="square"/>
                    <a:lstStyle/>
                    <a:p>
                      <a:pPr algn="r"/>
                      <a:r>
                        <a:rPr sz="1000" b="0">
                          <a:solidFill>
                            <a:srgbClr val="E8F2EC"/>
                          </a:solidFill>
                          <a:latin typeface="Manrope"/>
                        </a:rPr>
                        <a:t>3.0 s</a:t>
                      </a:r>
                    </a:p>
                  </a:txBody>
                  <a:tcPr marL="45720" marR="45720" marT="18288" marB="18288" anchor="ctr">
                    <a:solidFill>
                      <a:srgbClr val="051412"/>
                    </a:solidFill>
                  </a:tcPr>
                </a:tc>
                <a:tc>
                  <a:txBody>
                    <a:bodyPr wrap="square"/>
                    <a:lstStyle/>
                    <a:p>
                      <a:pPr algn="r"/>
                      <a:r>
                        <a:rPr sz="1000" b="0">
                          <a:solidFill>
                            <a:srgbClr val="E8F2EC"/>
                          </a:solidFill>
                          <a:latin typeface="Manrope"/>
                        </a:rPr>
                        <a:t>Merged, not live</a:t>
                      </a:r>
                    </a:p>
                  </a:txBody>
                  <a:tcPr marL="45720" marR="45720" marT="18288" marB="18288" anchor="ctr">
                    <a:solidFill>
                      <a:srgbClr val="051412"/>
                    </a:solidFill>
                  </a:tcPr>
                </a:tc>
              </a:tr>
              <a:tr h="274320">
                <a:tc>
                  <a:txBody>
                    <a:bodyPr wrap="square"/>
                    <a:lstStyle/>
                    <a:p>
                      <a:pPr algn="l"/>
                      <a:r>
                        <a:rPr sz="1000" b="0">
                          <a:solidFill>
                            <a:srgbClr val="E8F2EC"/>
                          </a:solidFill>
                          <a:latin typeface="Manrope"/>
                        </a:rPr>
                        <a:t>Critical accessibility violations</a:t>
                      </a:r>
                    </a:p>
                  </a:txBody>
                  <a:tcPr marL="45720" marR="45720" marT="18288" marB="18288" anchor="ctr">
                    <a:solidFill>
                      <a:srgbClr val="051412"/>
                    </a:solidFill>
                  </a:tcPr>
                </a:tc>
                <a:tc>
                  <a:txBody>
                    <a:bodyPr wrap="square"/>
                    <a:lstStyle/>
                    <a:p>
                      <a:pPr algn="r"/>
                      <a:r>
                        <a:rPr sz="1000" b="0">
                          <a:solidFill>
                            <a:srgbClr val="E8F2EC"/>
                          </a:solidFill>
                          <a:latin typeface="Manrope"/>
                        </a:rPr>
                        <a:t>32 nodes</a:t>
                      </a:r>
                    </a:p>
                  </a:txBody>
                  <a:tcPr marL="45720" marR="45720" marT="18288" marB="18288" anchor="ctr">
                    <a:solidFill>
                      <a:srgbClr val="051412"/>
                    </a:solidFill>
                  </a:tcPr>
                </a:tc>
                <a:tc>
                  <a:txBody>
                    <a:bodyPr wrap="square"/>
                    <a:lstStyle/>
                    <a:p>
                      <a:pPr algn="r"/>
                      <a:r>
                        <a:rPr sz="1000" b="0">
                          <a:solidFill>
                            <a:srgbClr val="E8F2EC"/>
                          </a:solidFill>
                          <a:latin typeface="Manrope"/>
                        </a:rPr>
                        <a:t>0</a:t>
                      </a:r>
                    </a:p>
                  </a:txBody>
                  <a:tcPr marL="45720" marR="45720" marT="18288" marB="18288" anchor="ctr">
                    <a:solidFill>
                      <a:srgbClr val="051412"/>
                    </a:solidFill>
                  </a:tcPr>
                </a:tc>
                <a:tc>
                  <a:txBody>
                    <a:bodyPr wrap="square"/>
                    <a:lstStyle/>
                    <a:p>
                      <a:pPr algn="r"/>
                      <a:r>
                        <a:rPr sz="1000" b="0">
                          <a:solidFill>
                            <a:srgbClr val="E8F2EC"/>
                          </a:solidFill>
                          <a:latin typeface="Manrope"/>
                        </a:rPr>
                        <a:t>Merged, not live</a:t>
                      </a:r>
                    </a:p>
                  </a:txBody>
                  <a:tcPr marL="45720" marR="45720" marT="18288" marB="18288" anchor="ctr">
                    <a:solidFill>
                      <a:srgbClr val="051412"/>
                    </a:solidFill>
                  </a:tcPr>
                </a:tc>
              </a:tr>
              <a:tr h="274320">
                <a:tc>
                  <a:txBody>
                    <a:bodyPr wrap="square"/>
                    <a:lstStyle/>
                    <a:p>
                      <a:pPr algn="l"/>
                      <a:r>
                        <a:rPr sz="1000" b="0">
                          <a:solidFill>
                            <a:srgbClr val="E8F2EC"/>
                          </a:solidFill>
                          <a:latin typeface="Manrope"/>
                        </a:rPr>
                        <a:t>Contrast failures</a:t>
                      </a:r>
                    </a:p>
                  </a:txBody>
                  <a:tcPr marL="45720" marR="45720" marT="18288" marB="18288" anchor="ctr">
                    <a:solidFill>
                      <a:srgbClr val="051412"/>
                    </a:solidFill>
                  </a:tcPr>
                </a:tc>
                <a:tc>
                  <a:txBody>
                    <a:bodyPr wrap="square"/>
                    <a:lstStyle/>
                    <a:p>
                      <a:pPr algn="r"/>
                      <a:r>
                        <a:rPr sz="1000" b="0">
                          <a:solidFill>
                            <a:srgbClr val="E8F2EC"/>
                          </a:solidFill>
                          <a:latin typeface="Manrope"/>
                        </a:rPr>
                        <a:t>108 nodes</a:t>
                      </a:r>
                    </a:p>
                  </a:txBody>
                  <a:tcPr marL="45720" marR="45720" marT="18288" marB="18288" anchor="ctr">
                    <a:solidFill>
                      <a:srgbClr val="051412"/>
                    </a:solidFill>
                  </a:tcPr>
                </a:tc>
                <a:tc>
                  <a:txBody>
                    <a:bodyPr wrap="square"/>
                    <a:lstStyle/>
                    <a:p>
                      <a:pPr algn="r"/>
                      <a:r>
                        <a:rPr sz="1000" b="0">
                          <a:solidFill>
                            <a:srgbClr val="E8F2EC"/>
                          </a:solidFill>
                          <a:latin typeface="Manrope"/>
                        </a:rPr>
                        <a:t>0</a:t>
                      </a:r>
                    </a:p>
                  </a:txBody>
                  <a:tcPr marL="45720" marR="45720" marT="18288" marB="18288" anchor="ctr">
                    <a:solidFill>
                      <a:srgbClr val="051412"/>
                    </a:solidFill>
                  </a:tcPr>
                </a:tc>
                <a:tc>
                  <a:txBody>
                    <a:bodyPr wrap="square"/>
                    <a:lstStyle/>
                    <a:p>
                      <a:pPr algn="r"/>
                      <a:r>
                        <a:rPr sz="1000" b="0">
                          <a:solidFill>
                            <a:srgbClr val="E8F2EC"/>
                          </a:solidFill>
                          <a:latin typeface="Manrope"/>
                        </a:rPr>
                        <a:t>Merged, not live</a:t>
                      </a:r>
                    </a:p>
                  </a:txBody>
                  <a:tcPr marL="45720" marR="45720" marT="18288" marB="18288" anchor="ctr">
                    <a:solidFill>
                      <a:srgbClr val="051412"/>
                    </a:solidFill>
                  </a:tcPr>
                </a:tc>
              </a:tr>
              <a:tr h="274320">
                <a:tc>
                  <a:txBody>
                    <a:bodyPr wrap="square"/>
                    <a:lstStyle/>
                    <a:p>
                      <a:pPr algn="l"/>
                      <a:r>
                        <a:rPr sz="1000" b="0">
                          <a:solidFill>
                            <a:srgbClr val="E8F2EC"/>
                          </a:solidFill>
                          <a:latin typeface="Manrope"/>
                        </a:rPr>
                        <a:t>Products wrongly excluding VAT</a:t>
                      </a:r>
                    </a:p>
                  </a:txBody>
                  <a:tcPr marL="45720" marR="45720" marT="18288" marB="18288" anchor="ctr">
                    <a:solidFill>
                      <a:srgbClr val="051412"/>
                    </a:solidFill>
                  </a:tcPr>
                </a:tc>
                <a:tc>
                  <a:txBody>
                    <a:bodyPr wrap="square"/>
                    <a:lstStyle/>
                    <a:p>
                      <a:pPr algn="r"/>
                      <a:r>
                        <a:rPr sz="1000" b="0">
                          <a:solidFill>
                            <a:srgbClr val="E8F2EC"/>
                          </a:solidFill>
                          <a:latin typeface="Manrope"/>
                        </a:rPr>
                        <a:t>635</a:t>
                      </a:r>
                    </a:p>
                  </a:txBody>
                  <a:tcPr marL="45720" marR="45720" marT="18288" marB="18288" anchor="ctr">
                    <a:solidFill>
                      <a:srgbClr val="051412"/>
                    </a:solidFill>
                  </a:tcPr>
                </a:tc>
                <a:tc>
                  <a:txBody>
                    <a:bodyPr wrap="square"/>
                    <a:lstStyle/>
                    <a:p>
                      <a:pPr algn="r"/>
                      <a:r>
                        <a:rPr sz="1000" b="0">
                          <a:solidFill>
                            <a:srgbClr val="E8F2EC"/>
                          </a:solidFill>
                          <a:latin typeface="Manrope"/>
                        </a:rPr>
                        <a:t>0</a:t>
                      </a:r>
                    </a:p>
                  </a:txBody>
                  <a:tcPr marL="45720" marR="45720" marT="18288" marB="18288" anchor="ctr">
                    <a:solidFill>
                      <a:srgbClr val="051412"/>
                    </a:solidFill>
                  </a:tcPr>
                </a:tc>
                <a:tc>
                  <a:txBody>
                    <a:bodyPr wrap="square"/>
                    <a:lstStyle/>
                    <a:p>
                      <a:pPr algn="r"/>
                      <a:r>
                        <a:rPr sz="1000" b="0">
                          <a:solidFill>
                            <a:srgbClr val="E8F2EC"/>
                          </a:solidFill>
                          <a:latin typeface="Manrope"/>
                        </a:rPr>
                        <a:t>Live</a:t>
                      </a:r>
                    </a:p>
                  </a:txBody>
                  <a:tcPr marL="45720" marR="45720" marT="18288" marB="18288" anchor="ctr">
                    <a:solidFill>
                      <a:srgbClr val="051412"/>
                    </a:solidFill>
                  </a:tcPr>
                </a:tc>
              </a:tr>
              <a:tr h="274320">
                <a:tc>
                  <a:txBody>
                    <a:bodyPr wrap="square"/>
                    <a:lstStyle/>
                    <a:p>
                      <a:pPr algn="l"/>
                      <a:r>
                        <a:rPr sz="1000" b="0">
                          <a:solidFill>
                            <a:srgbClr val="E8F2EC"/>
                          </a:solidFill>
                          <a:latin typeface="Manrope"/>
                        </a:rPr>
                        <a:t>Configurable products, no from-price</a:t>
                      </a:r>
                    </a:p>
                  </a:txBody>
                  <a:tcPr marL="45720" marR="45720" marT="18288" marB="18288" anchor="ctr">
                    <a:solidFill>
                      <a:srgbClr val="051412"/>
                    </a:solidFill>
                  </a:tcPr>
                </a:tc>
                <a:tc>
                  <a:txBody>
                    <a:bodyPr wrap="square"/>
                    <a:lstStyle/>
                    <a:p>
                      <a:pPr algn="r"/>
                      <a:r>
                        <a:rPr sz="1000" b="0">
                          <a:solidFill>
                            <a:srgbClr val="E8F2EC"/>
                          </a:solidFill>
                          <a:latin typeface="Manrope"/>
                        </a:rPr>
                        <a:t>47</a:t>
                      </a:r>
                    </a:p>
                  </a:txBody>
                  <a:tcPr marL="45720" marR="45720" marT="18288" marB="18288" anchor="ctr">
                    <a:solidFill>
                      <a:srgbClr val="051412"/>
                    </a:solidFill>
                  </a:tcPr>
                </a:tc>
                <a:tc>
                  <a:txBody>
                    <a:bodyPr wrap="square"/>
                    <a:lstStyle/>
                    <a:p>
                      <a:pPr algn="r"/>
                      <a:r>
                        <a:rPr sz="1000" b="0">
                          <a:solidFill>
                            <a:srgbClr val="E8F2EC"/>
                          </a:solidFill>
                          <a:latin typeface="Manrope"/>
                        </a:rPr>
                        <a:t>0</a:t>
                      </a:r>
                    </a:p>
                  </a:txBody>
                  <a:tcPr marL="45720" marR="45720" marT="18288" marB="18288" anchor="ctr">
                    <a:solidFill>
                      <a:srgbClr val="051412"/>
                    </a:solidFill>
                  </a:tcPr>
                </a:tc>
                <a:tc>
                  <a:txBody>
                    <a:bodyPr wrap="square"/>
                    <a:lstStyle/>
                    <a:p>
                      <a:pPr algn="r"/>
                      <a:r>
                        <a:rPr sz="1000" b="0">
                          <a:solidFill>
                            <a:srgbClr val="E8F2EC"/>
                          </a:solidFill>
                          <a:latin typeface="Manrope"/>
                        </a:rPr>
                        <a:t>Live</a:t>
                      </a:r>
                    </a:p>
                  </a:txBody>
                  <a:tcPr marL="45720" marR="45720" marT="18288" marB="18288" anchor="ctr">
                    <a:solidFill>
                      <a:srgbClr val="051412"/>
                    </a:solidFill>
                  </a:tcPr>
                </a:tc>
              </a:tr>
            </a:tbl>
          </a:graphicData>
        </a:graphic>
      </p:graphicFrame>
      <p:sp>
        <p:nvSpPr>
          <p:cNvPr id="10" name="TextBox 9"/>
          <p:cNvSpPr txBox="1"/>
          <p:nvPr/>
        </p:nvSpPr>
        <p:spPr>
          <a:xfrm>
            <a:off x="566928" y="4636008"/>
            <a:ext cx="6400800" cy="36576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Waves 0–4 were built, browser-tested and merged to develop from 5 September. main is untouched.</a:t>
            </a:r>
          </a:p>
        </p:txBody>
      </p:sp>
      <p:sp>
        <p:nvSpPr>
          <p:cNvPr id="11" name="Rounded Rectangle 10"/>
          <p:cNvSpPr/>
          <p:nvPr/>
        </p:nvSpPr>
        <p:spPr>
          <a:xfrm>
            <a:off x="7242048" y="2029968"/>
            <a:ext cx="4382719" cy="1417320"/>
          </a:xfrm>
          <a:prstGeom prst="roundRect">
            <a:avLst>
              <a:gd name="adj" fmla="val 4500"/>
            </a:avLst>
          </a:prstGeom>
          <a:solidFill>
            <a:srgbClr val="2A2410"/>
          </a:solidFill>
          <a:ln w="9525">
            <a:solidFill>
              <a:srgbClr val="F5D6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7479792" y="2194560"/>
            <a:ext cx="1965960"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F5D674"/>
                </a:solidFill>
                <a:latin typeface="Manrope"/>
              </a:rPr>
              <a:t>DECISION REQUIRED</a:t>
            </a:r>
          </a:p>
        </p:txBody>
      </p:sp>
      <p:sp>
        <p:nvSpPr>
          <p:cNvPr id="13" name="TextBox 12"/>
          <p:cNvSpPr txBox="1"/>
          <p:nvPr/>
        </p:nvSpPr>
        <p:spPr>
          <a:xfrm>
            <a:off x="7479792" y="2542032"/>
            <a:ext cx="3925519" cy="274320"/>
          </a:xfrm>
          <a:prstGeom prst="rect">
            <a:avLst/>
          </a:prstGeom>
          <a:noFill/>
        </p:spPr>
        <p:txBody>
          <a:bodyPr wrap="square" lIns="0" rIns="0" tIns="0" bIns="0" anchor="t">
            <a:spAutoFit/>
          </a:bodyPr>
          <a:lstStyle/>
          <a:p>
            <a:pPr algn="l"/>
            <a:r>
              <a:rPr sz="1250" b="1" i="0">
                <a:solidFill>
                  <a:srgbClr val="F5D674"/>
                </a:solidFill>
                <a:latin typeface="Manrope"/>
              </a:rPr>
              <a:t>The release is the highest-value action available</a:t>
            </a:r>
          </a:p>
        </p:txBody>
      </p:sp>
      <p:sp>
        <p:nvSpPr>
          <p:cNvPr id="14" name="TextBox 13"/>
          <p:cNvSpPr txBox="1"/>
          <p:nvPr/>
        </p:nvSpPr>
        <p:spPr>
          <a:xfrm>
            <a:off x="7479792" y="2871216"/>
            <a:ext cx="3925519" cy="502920"/>
          </a:xfrm>
          <a:prstGeom prst="rect">
            <a:avLst/>
          </a:prstGeom>
          <a:noFill/>
        </p:spPr>
        <p:txBody>
          <a:bodyPr wrap="square" lIns="0" rIns="0" tIns="0" bIns="0">
            <a:spAutoFit/>
          </a:bodyPr>
          <a:lstStyle/>
          <a:p>
            <a:pPr>
              <a:lnSpc>
                <a:spcPct val="132000"/>
              </a:lnSpc>
              <a:spcAft>
                <a:spcPts val="0"/>
              </a:spcAft>
            </a:pPr>
            <a:r>
              <a:rPr sz="1000" b="0" i="0">
                <a:solidFill>
                  <a:srgbClr val="B9C7C0"/>
                </a:solidFill>
                <a:latin typeface="Manrope"/>
              </a:rPr>
              <a:t>That includes the head-tag fix. Written on 6 September and merged — the live site still carries the broken version. Every day it waits, 610,000 monthly impressions keep converting at 1.09%.</a:t>
            </a:r>
          </a:p>
        </p:txBody>
      </p:sp>
      <p:sp>
        <p:nvSpPr>
          <p:cNvPr id="15" name="Rounded Rectangle 14"/>
          <p:cNvSpPr/>
          <p:nvPr/>
        </p:nvSpPr>
        <p:spPr>
          <a:xfrm>
            <a:off x="7242048" y="3584448"/>
            <a:ext cx="4382719" cy="23774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79792" y="3749039"/>
            <a:ext cx="3925519" cy="274320"/>
          </a:xfrm>
          <a:prstGeom prst="rect">
            <a:avLst/>
          </a:prstGeom>
          <a:noFill/>
        </p:spPr>
        <p:txBody>
          <a:bodyPr wrap="square" lIns="0" rIns="0" tIns="0" bIns="0" anchor="t">
            <a:spAutoFit/>
          </a:bodyPr>
          <a:lstStyle/>
          <a:p>
            <a:pPr algn="l"/>
            <a:r>
              <a:rPr sz="1250" b="1" i="0">
                <a:solidFill>
                  <a:srgbClr val="FFFFFF"/>
                </a:solidFill>
                <a:latin typeface="Manrope"/>
              </a:rPr>
              <a:t>What is still outstanding</a:t>
            </a:r>
          </a:p>
        </p:txBody>
      </p:sp>
      <p:sp>
        <p:nvSpPr>
          <p:cNvPr id="17" name="TextBox 16"/>
          <p:cNvSpPr txBox="1"/>
          <p:nvPr/>
        </p:nvSpPr>
        <p:spPr>
          <a:xfrm>
            <a:off x="7479792" y="4078224"/>
            <a:ext cx="3925519" cy="1737360"/>
          </a:xfrm>
          <a:prstGeom prst="rect">
            <a:avLst/>
          </a:prstGeom>
          <a:noFill/>
        </p:spPr>
        <p:txBody>
          <a:bodyPr wrap="square" lIns="0" rIns="0" tIns="0" bIns="0">
            <a:spAutoFit/>
          </a:bodyPr>
          <a:lstStyle/>
          <a:p>
            <a:pPr>
              <a:lnSpc>
                <a:spcPct val="132000"/>
              </a:lnSpc>
              <a:spcAft>
                <a:spcPts val="700"/>
              </a:spcAft>
            </a:pPr>
            <a:r>
              <a:rPr sz="1000" b="1">
                <a:solidFill>
                  <a:srgbClr val="8EFEBB"/>
                </a:solidFill>
                <a:latin typeface="Manrope"/>
              </a:rPr>
              <a:t>•  </a:t>
            </a:r>
            <a:r>
              <a:rPr sz="1000" b="1">
                <a:solidFill>
                  <a:srgbClr val="FFFFFF"/>
                </a:solidFill>
                <a:latin typeface="Manrope"/>
              </a:rPr>
              <a:t>Wave 5, the CRO wave, is not built. </a:t>
            </a:r>
            <a:r>
              <a:rPr sz="1000" b="0">
                <a:solidFill>
                  <a:srgbClr val="B9C7C0"/>
                </a:solidFill>
                <a:latin typeface="Manrope"/>
              </a:rPr>
              <a:t>Title and price above the fold, sticky checkout bar, price per metre, pre-selected defaults, Klarna above £100</a:t>
            </a:r>
          </a:p>
          <a:p>
            <a:pPr>
              <a:lnSpc>
                <a:spcPct val="132000"/>
              </a:lnSpc>
              <a:spcAft>
                <a:spcPts val="700"/>
              </a:spcAft>
            </a:pPr>
            <a:r>
              <a:rPr sz="1000" b="1">
                <a:solidFill>
                  <a:srgbClr val="8EFEBB"/>
                </a:solidFill>
                <a:latin typeface="Manrope"/>
              </a:rPr>
              <a:t>•  </a:t>
            </a:r>
            <a:r>
              <a:rPr sz="1000" b="1">
                <a:solidFill>
                  <a:srgbClr val="FFFFFF"/>
                </a:solidFill>
                <a:latin typeface="Manrope"/>
              </a:rPr>
              <a:t>Performance gates still missed. </a:t>
            </a:r>
            <a:r>
              <a:rPr sz="1000" b="0">
                <a:solidFill>
                  <a:srgbClr val="B9C7C0"/>
                </a:solidFill>
                <a:latin typeface="Manrope"/>
              </a:rPr>
              <a:t>Home LCP 6.9s against a 4s target; Lighthouse mobile 45–51 against a 70 gate</a:t>
            </a:r>
          </a:p>
          <a:p>
            <a:pPr>
              <a:lnSpc>
                <a:spcPct val="132000"/>
              </a:lnSpc>
              <a:spcAft>
                <a:spcPts val="700"/>
              </a:spcAft>
            </a:pPr>
            <a:r>
              <a:rPr sz="1000" b="1">
                <a:solidFill>
                  <a:srgbClr val="8EFEBB"/>
                </a:solidFill>
                <a:latin typeface="Manrope"/>
              </a:rPr>
              <a:t>•  </a:t>
            </a:r>
            <a:r>
              <a:rPr sz="1000" b="1">
                <a:solidFill>
                  <a:srgbClr val="FFFFFF"/>
                </a:solidFill>
                <a:latin typeface="Manrope"/>
              </a:rPr>
              <a:t>The £6.68 is only half solvable from the theme. </a:t>
            </a:r>
            <a:r>
              <a:rPr sz="1000" b="0">
                <a:solidFill>
                  <a:srgbClr val="B9C7C0"/>
                </a:solidFill>
                <a:latin typeface="Manrope"/>
              </a:rPr>
              <a:t>Shopify injects its own product JSON-LD carrying the placeholder; full resolution needs the configurator replaced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06 · WHAT THE RELEASE IS WORTH</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Every 0.1 of a point is worth </a:t>
            </a:r>
            <a:r>
              <a:rPr sz="2700" b="1" i="1" spc="-70">
                <a:solidFill>
                  <a:srgbClr val="8EFEBB"/>
                </a:solidFill>
                <a:latin typeface="Instrument Serif"/>
              </a:rPr>
              <a:t>£19,250</a:t>
            </a:r>
            <a:r>
              <a:rPr sz="2700" b="1" i="0" spc="-70">
                <a:solidFill>
                  <a:srgbClr val="FFFFFF"/>
                </a:solidFill>
                <a:latin typeface="Manrope"/>
              </a:rPr>
              <a:t> a month</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The conversion rate is now measured rather than assumed, which turns the whole model from an estimate into arithmetic.</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08</a:t>
            </a:r>
          </a:p>
        </p:txBody>
      </p:sp>
      <p:sp>
        <p:nvSpPr>
          <p:cNvPr id="9" name="TextBox 8"/>
          <p:cNvSpPr txBox="1"/>
          <p:nvPr/>
        </p:nvSpPr>
        <p:spPr>
          <a:xfrm>
            <a:off x="566928" y="2029968"/>
            <a:ext cx="5212080" cy="182880"/>
          </a:xfrm>
          <a:prstGeom prst="rect">
            <a:avLst/>
          </a:prstGeom>
          <a:noFill/>
        </p:spPr>
        <p:txBody>
          <a:bodyPr wrap="square" lIns="0" rIns="0" tIns="0" bIns="0" anchor="t">
            <a:spAutoFit/>
          </a:bodyPr>
          <a:lstStyle/>
          <a:p>
            <a:pPr algn="l"/>
            <a:r>
              <a:rPr sz="850" b="1" i="0" spc="160">
                <a:solidFill>
                  <a:srgbClr val="6B7B74"/>
                </a:solidFill>
                <a:latin typeface="Manrope"/>
              </a:rPr>
              <a:t>WHAT A FRACTION OF A POINT PAYS · 44,132 REAL SESSIONS, £436 AOV</a:t>
            </a:r>
          </a:p>
        </p:txBody>
      </p:sp>
      <p:graphicFrame>
        <p:nvGraphicFramePr>
          <p:cNvPr id="10" name="Table 9"/>
          <p:cNvGraphicFramePr>
            <a:graphicFrameLocks noGrp="1"/>
          </p:cNvGraphicFramePr>
          <p:nvPr/>
        </p:nvGraphicFramePr>
        <p:xfrm>
          <a:off x="566928" y="2286000"/>
          <a:ext cx="5212078" cy="1371600"/>
        </p:xfrm>
        <a:graphic>
          <a:graphicData uri="http://schemas.openxmlformats.org/drawingml/2006/table">
            <a:tbl>
              <a:tblPr firstRow="1" bandRow="1">
                <a:tableStyleId>{5C22544A-7EE6-4342-B048-85BDC9FD1C3A}</a:tableStyleId>
              </a:tblPr>
              <a:tblGrid>
                <a:gridCol w="1678466"/>
                <a:gridCol w="1236764"/>
                <a:gridCol w="1060084"/>
                <a:gridCol w="1236764"/>
              </a:tblGrid>
              <a:tr h="274320">
                <a:tc>
                  <a:txBody>
                    <a:bodyPr wrap="square"/>
                    <a:lstStyle/>
                    <a:p>
                      <a:pPr algn="l"/>
                      <a:r>
                        <a:rPr sz="780" b="1">
                          <a:solidFill>
                            <a:srgbClr val="6B7B74"/>
                          </a:solidFill>
                          <a:latin typeface="Manrope"/>
                        </a:rPr>
                        <a:t>CONVERSION RATE</a:t>
                      </a:r>
                    </a:p>
                  </a:txBody>
                  <a:tcPr marL="45720" marR="45720" marT="18288" marB="18288" anchor="ctr">
                    <a:solidFill>
                      <a:srgbClr val="051412"/>
                    </a:solidFill>
                  </a:tcPr>
                </a:tc>
                <a:tc>
                  <a:txBody>
                    <a:bodyPr wrap="square"/>
                    <a:lstStyle/>
                    <a:p>
                      <a:pPr algn="r"/>
                      <a:r>
                        <a:rPr sz="780" b="1">
                          <a:solidFill>
                            <a:srgbClr val="6B7B74"/>
                          </a:solidFill>
                          <a:latin typeface="Manrope"/>
                        </a:rPr>
                        <a:t>SESSIONS/MO</a:t>
                      </a:r>
                    </a:p>
                  </a:txBody>
                  <a:tcPr marL="45720" marR="45720" marT="18288" marB="18288" anchor="ctr">
                    <a:solidFill>
                      <a:srgbClr val="051412"/>
                    </a:solidFill>
                  </a:tcPr>
                </a:tc>
                <a:tc>
                  <a:txBody>
                    <a:bodyPr wrap="square"/>
                    <a:lstStyle/>
                    <a:p>
                      <a:pPr algn="r"/>
                      <a:r>
                        <a:rPr sz="780" b="1">
                          <a:solidFill>
                            <a:srgbClr val="6B7B74"/>
                          </a:solidFill>
                          <a:latin typeface="Manrope"/>
                        </a:rPr>
                        <a:t>+0.1PP</a:t>
                      </a:r>
                    </a:p>
                  </a:txBody>
                  <a:tcPr marL="45720" marR="45720" marT="18288" marB="18288" anchor="ctr">
                    <a:solidFill>
                      <a:srgbClr val="051412"/>
                    </a:solidFill>
                  </a:tcPr>
                </a:tc>
                <a:tc>
                  <a:txBody>
                    <a:bodyPr wrap="square"/>
                    <a:lstStyle/>
                    <a:p>
                      <a:pPr algn="r"/>
                      <a:r>
                        <a:rPr sz="780" b="1">
                          <a:solidFill>
                            <a:srgbClr val="6B7B74"/>
                          </a:solidFill>
                          <a:latin typeface="Manrope"/>
                        </a:rPr>
                        <a:t>PER YEAR</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1.0%</a:t>
                      </a:r>
                    </a:p>
                  </a:txBody>
                  <a:tcPr marL="45720" marR="45720" marT="18288" marB="18288" anchor="ctr">
                    <a:solidFill>
                      <a:srgbClr val="051412"/>
                    </a:solidFill>
                  </a:tcPr>
                </a:tc>
                <a:tc>
                  <a:txBody>
                    <a:bodyPr wrap="square"/>
                    <a:lstStyle/>
                    <a:p>
                      <a:pPr algn="r"/>
                      <a:r>
                        <a:rPr sz="1050" b="0">
                          <a:solidFill>
                            <a:srgbClr val="E8F2EC"/>
                          </a:solidFill>
                          <a:latin typeface="Manrope"/>
                        </a:rPr>
                        <a:t>63,450</a:t>
                      </a:r>
                    </a:p>
                  </a:txBody>
                  <a:tcPr marL="45720" marR="45720" marT="18288" marB="18288" anchor="ctr">
                    <a:solidFill>
                      <a:srgbClr val="051412"/>
                    </a:solidFill>
                  </a:tcPr>
                </a:tc>
                <a:tc>
                  <a:txBody>
                    <a:bodyPr wrap="square"/>
                    <a:lstStyle/>
                    <a:p>
                      <a:pPr algn="r"/>
                      <a:r>
                        <a:rPr sz="1050" b="0">
                          <a:solidFill>
                            <a:srgbClr val="E8F2EC"/>
                          </a:solidFill>
                          <a:latin typeface="Manrope"/>
                        </a:rPr>
                        <a:t>£28,122</a:t>
                      </a:r>
                    </a:p>
                  </a:txBody>
                  <a:tcPr marL="45720" marR="45720" marT="18288" marB="18288" anchor="ctr">
                    <a:solidFill>
                      <a:srgbClr val="051412"/>
                    </a:solidFill>
                  </a:tcPr>
                </a:tc>
                <a:tc>
                  <a:txBody>
                    <a:bodyPr wrap="square"/>
                    <a:lstStyle/>
                    <a:p>
                      <a:pPr algn="r"/>
                      <a:r>
                        <a:rPr sz="1050" b="0">
                          <a:solidFill>
                            <a:srgbClr val="E8F2EC"/>
                          </a:solidFill>
                          <a:latin typeface="Manrope"/>
                        </a:rPr>
                        <a:t>£337,460</a:t>
                      </a:r>
                    </a:p>
                  </a:txBody>
                  <a:tcPr marL="45720" marR="45720" marT="18288" marB="18288" anchor="ctr">
                    <a:solidFill>
                      <a:srgbClr val="051412"/>
                    </a:solidFill>
                  </a:tcPr>
                </a:tc>
              </a:tr>
              <a:tr h="274320">
                <a:tc>
                  <a:txBody>
                    <a:bodyPr wrap="square"/>
                    <a:lstStyle/>
                    <a:p>
                      <a:pPr algn="l"/>
                      <a:r>
                        <a:rPr sz="1050" b="1">
                          <a:solidFill>
                            <a:srgbClr val="8EFEBB"/>
                          </a:solidFill>
                          <a:latin typeface="Manrope"/>
                        </a:rPr>
                        <a:t>1.45% — measured</a:t>
                      </a:r>
                    </a:p>
                  </a:txBody>
                  <a:tcPr marL="45720" marR="45720" marT="18288" marB="18288" anchor="ctr">
                    <a:solidFill>
                      <a:srgbClr val="0B2A24"/>
                    </a:solidFill>
                  </a:tcPr>
                </a:tc>
                <a:tc>
                  <a:txBody>
                    <a:bodyPr wrap="square"/>
                    <a:lstStyle/>
                    <a:p>
                      <a:pPr algn="r"/>
                      <a:r>
                        <a:rPr sz="1050" b="1">
                          <a:solidFill>
                            <a:srgbClr val="8EFEBB"/>
                          </a:solidFill>
                          <a:latin typeface="Manrope"/>
                        </a:rPr>
                        <a:t>44,132</a:t>
                      </a:r>
                    </a:p>
                  </a:txBody>
                  <a:tcPr marL="45720" marR="45720" marT="18288" marB="18288" anchor="ctr">
                    <a:solidFill>
                      <a:srgbClr val="0B2A24"/>
                    </a:solidFill>
                  </a:tcPr>
                </a:tc>
                <a:tc>
                  <a:txBody>
                    <a:bodyPr wrap="square"/>
                    <a:lstStyle/>
                    <a:p>
                      <a:pPr algn="r"/>
                      <a:r>
                        <a:rPr sz="1050" b="1">
                          <a:solidFill>
                            <a:srgbClr val="8EFEBB"/>
                          </a:solidFill>
                          <a:latin typeface="Manrope"/>
                        </a:rPr>
                        <a:t>£19,242</a:t>
                      </a:r>
                    </a:p>
                  </a:txBody>
                  <a:tcPr marL="45720" marR="45720" marT="18288" marB="18288" anchor="ctr">
                    <a:solidFill>
                      <a:srgbClr val="0B2A24"/>
                    </a:solidFill>
                  </a:tcPr>
                </a:tc>
                <a:tc>
                  <a:txBody>
                    <a:bodyPr wrap="square"/>
                    <a:lstStyle/>
                    <a:p>
                      <a:pPr algn="r"/>
                      <a:r>
                        <a:rPr sz="1050" b="1">
                          <a:solidFill>
                            <a:srgbClr val="8EFEBB"/>
                          </a:solidFill>
                          <a:latin typeface="Manrope"/>
                        </a:rPr>
                        <a:t>£230,899</a:t>
                      </a:r>
                    </a:p>
                  </a:txBody>
                  <a:tcPr marL="45720" marR="45720" marT="18288" marB="18288" anchor="ctr">
                    <a:solidFill>
                      <a:srgbClr val="0B2A24"/>
                    </a:solidFill>
                  </a:tcPr>
                </a:tc>
              </a:tr>
              <a:tr h="274320">
                <a:tc>
                  <a:txBody>
                    <a:bodyPr wrap="square"/>
                    <a:lstStyle/>
                    <a:p>
                      <a:pPr algn="l"/>
                      <a:r>
                        <a:rPr sz="1050" b="0">
                          <a:solidFill>
                            <a:srgbClr val="E8F2EC"/>
                          </a:solidFill>
                          <a:latin typeface="Manrope"/>
                        </a:rPr>
                        <a:t>2.0%</a:t>
                      </a:r>
                    </a:p>
                  </a:txBody>
                  <a:tcPr marL="45720" marR="45720" marT="18288" marB="18288" anchor="ctr">
                    <a:solidFill>
                      <a:srgbClr val="051412"/>
                    </a:solidFill>
                  </a:tcPr>
                </a:tc>
                <a:tc>
                  <a:txBody>
                    <a:bodyPr wrap="square"/>
                    <a:lstStyle/>
                    <a:p>
                      <a:pPr algn="r"/>
                      <a:r>
                        <a:rPr sz="1050" b="0">
                          <a:solidFill>
                            <a:srgbClr val="E8F2EC"/>
                          </a:solidFill>
                          <a:latin typeface="Manrope"/>
                        </a:rPr>
                        <a:t>31,725</a:t>
                      </a:r>
                    </a:p>
                  </a:txBody>
                  <a:tcPr marL="45720" marR="45720" marT="18288" marB="18288" anchor="ctr">
                    <a:solidFill>
                      <a:srgbClr val="051412"/>
                    </a:solidFill>
                  </a:tcPr>
                </a:tc>
                <a:tc>
                  <a:txBody>
                    <a:bodyPr wrap="square"/>
                    <a:lstStyle/>
                    <a:p>
                      <a:pPr algn="r"/>
                      <a:r>
                        <a:rPr sz="1050" b="0">
                          <a:solidFill>
                            <a:srgbClr val="E8F2EC"/>
                          </a:solidFill>
                          <a:latin typeface="Manrope"/>
                        </a:rPr>
                        <a:t>£14,061</a:t>
                      </a:r>
                    </a:p>
                  </a:txBody>
                  <a:tcPr marL="45720" marR="45720" marT="18288" marB="18288" anchor="ctr">
                    <a:solidFill>
                      <a:srgbClr val="051412"/>
                    </a:solidFill>
                  </a:tcPr>
                </a:tc>
                <a:tc>
                  <a:txBody>
                    <a:bodyPr wrap="square"/>
                    <a:lstStyle/>
                    <a:p>
                      <a:pPr algn="r"/>
                      <a:r>
                        <a:rPr sz="1050" b="0">
                          <a:solidFill>
                            <a:srgbClr val="E8F2EC"/>
                          </a:solidFill>
                          <a:latin typeface="Manrope"/>
                        </a:rPr>
                        <a:t>£168,730</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2.5%</a:t>
                      </a:r>
                    </a:p>
                  </a:txBody>
                  <a:tcPr marL="45720" marR="45720" marT="18288" marB="18288" anchor="ctr">
                    <a:solidFill>
                      <a:srgbClr val="051412"/>
                    </a:solidFill>
                  </a:tcPr>
                </a:tc>
                <a:tc>
                  <a:txBody>
                    <a:bodyPr wrap="square"/>
                    <a:lstStyle/>
                    <a:p>
                      <a:pPr algn="r"/>
                      <a:r>
                        <a:rPr sz="1050" b="0">
                          <a:solidFill>
                            <a:srgbClr val="E8F2EC"/>
                          </a:solidFill>
                          <a:latin typeface="Manrope"/>
                        </a:rPr>
                        <a:t>25,380</a:t>
                      </a:r>
                    </a:p>
                  </a:txBody>
                  <a:tcPr marL="45720" marR="45720" marT="18288" marB="18288" anchor="ctr">
                    <a:solidFill>
                      <a:srgbClr val="051412"/>
                    </a:solidFill>
                  </a:tcPr>
                </a:tc>
                <a:tc>
                  <a:txBody>
                    <a:bodyPr wrap="square"/>
                    <a:lstStyle/>
                    <a:p>
                      <a:pPr algn="r"/>
                      <a:r>
                        <a:rPr sz="1050" b="0">
                          <a:solidFill>
                            <a:srgbClr val="E8F2EC"/>
                          </a:solidFill>
                          <a:latin typeface="Manrope"/>
                        </a:rPr>
                        <a:t>£11,249</a:t>
                      </a:r>
                    </a:p>
                  </a:txBody>
                  <a:tcPr marL="45720" marR="45720" marT="18288" marB="18288" anchor="ctr">
                    <a:solidFill>
                      <a:srgbClr val="051412"/>
                    </a:solidFill>
                  </a:tcPr>
                </a:tc>
                <a:tc>
                  <a:txBody>
                    <a:bodyPr wrap="square"/>
                    <a:lstStyle/>
                    <a:p>
                      <a:pPr algn="r"/>
                      <a:r>
                        <a:rPr sz="1050" b="0">
                          <a:solidFill>
                            <a:srgbClr val="E8F2EC"/>
                          </a:solidFill>
                          <a:latin typeface="Manrope"/>
                        </a:rPr>
                        <a:t>£134,984</a:t>
                      </a:r>
                    </a:p>
                  </a:txBody>
                  <a:tcPr marL="45720" marR="45720" marT="18288" marB="18288" anchor="ctr">
                    <a:solidFill>
                      <a:srgbClr val="051412"/>
                    </a:solidFill>
                  </a:tcPr>
                </a:tc>
              </a:tr>
            </a:tbl>
          </a:graphicData>
        </a:graphic>
      </p:graphicFrame>
      <p:sp>
        <p:nvSpPr>
          <p:cNvPr id="11" name="TextBox 10"/>
          <p:cNvSpPr txBox="1"/>
          <p:nvPr/>
        </p:nvSpPr>
        <p:spPr>
          <a:xfrm>
            <a:off x="566928" y="3767328"/>
            <a:ext cx="5212080" cy="45720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Measured at 1.45% across the eleven clean months before the bot anomaly, ranging 1.05% to 2.08%.</a:t>
            </a:r>
          </a:p>
        </p:txBody>
      </p:sp>
      <p:sp>
        <p:nvSpPr>
          <p:cNvPr id="12" name="Rounded Rectangle 11"/>
          <p:cNvSpPr/>
          <p:nvPr/>
        </p:nvSpPr>
        <p:spPr>
          <a:xfrm>
            <a:off x="566928" y="4315968"/>
            <a:ext cx="5212080" cy="146304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4517136"/>
            <a:ext cx="4754880" cy="1097280"/>
          </a:xfrm>
          <a:prstGeom prst="rect">
            <a:avLst/>
          </a:prstGeom>
          <a:noFill/>
        </p:spPr>
        <p:txBody>
          <a:bodyPr wrap="square" lIns="0" rIns="0" tIns="0" bIns="0">
            <a:spAutoFit/>
          </a:bodyPr>
          <a:lstStyle/>
          <a:p>
            <a:pPr>
              <a:lnSpc>
                <a:spcPct val="140000"/>
              </a:lnSpc>
              <a:spcAft>
                <a:spcPts val="0"/>
              </a:spcAft>
            </a:pPr>
            <a:r>
              <a:rPr sz="1100" b="1" i="0">
                <a:solidFill>
                  <a:srgbClr val="8EFEBB"/>
                </a:solidFill>
                <a:latin typeface="Manrope"/>
              </a:rPr>
              <a:t>Every 0.1 of a point is worth about £19,250 a month — £231,000 a year. </a:t>
            </a:r>
            <a:r>
              <a:rPr sz="1100" b="0" i="0">
                <a:solidFill>
                  <a:srgbClr val="B9C7C0"/>
                </a:solidFill>
                <a:latin typeface="Manrope"/>
              </a:rPr>
              <a:t>Closing the whole gap on conversion alone would mean moving 1.45% to 2.67%. That is a very large ask from CRO by itself, which is the honest reason the roadmap needs the new revenue lines as well as the fixes.</a:t>
            </a:r>
          </a:p>
        </p:txBody>
      </p:sp>
      <p:sp>
        <p:nvSpPr>
          <p:cNvPr id="14" name="TextBox 13"/>
          <p:cNvSpPr txBox="1"/>
          <p:nvPr/>
        </p:nvSpPr>
        <p:spPr>
          <a:xfrm>
            <a:off x="6053328" y="2029968"/>
            <a:ext cx="5571439" cy="182880"/>
          </a:xfrm>
          <a:prstGeom prst="rect">
            <a:avLst/>
          </a:prstGeom>
          <a:noFill/>
        </p:spPr>
        <p:txBody>
          <a:bodyPr wrap="square" lIns="0" rIns="0" tIns="0" bIns="0" anchor="t">
            <a:spAutoFit/>
          </a:bodyPr>
          <a:lstStyle/>
          <a:p>
            <a:pPr algn="l"/>
            <a:r>
              <a:rPr sz="850" b="1" i="0" spc="160">
                <a:solidFill>
                  <a:srgbClr val="6B7B74"/>
                </a:solidFill>
                <a:latin typeface="Manrope"/>
              </a:rPr>
              <a:t>MODELLED MONTHLY REVENUE · ORGANIC CAPTURE × CONVERSION RATE</a:t>
            </a:r>
          </a:p>
        </p:txBody>
      </p:sp>
      <p:graphicFrame>
        <p:nvGraphicFramePr>
          <p:cNvPr id="15" name="Table 14"/>
          <p:cNvGraphicFramePr>
            <a:graphicFrameLocks noGrp="1"/>
          </p:cNvGraphicFramePr>
          <p:nvPr/>
        </p:nvGraphicFramePr>
        <p:xfrm>
          <a:off x="6053328" y="2286000"/>
          <a:ext cx="5571435" cy="1152144"/>
        </p:xfrm>
        <a:graphic>
          <a:graphicData uri="http://schemas.openxmlformats.org/drawingml/2006/table">
            <a:tbl>
              <a:tblPr firstRow="1" bandRow="1">
                <a:tableStyleId>{5C22544A-7EE6-4342-B048-85BDC9FD1C3A}</a:tableStyleId>
              </a:tblPr>
              <a:tblGrid>
                <a:gridCol w="1751023"/>
                <a:gridCol w="955103"/>
                <a:gridCol w="955103"/>
                <a:gridCol w="955103"/>
                <a:gridCol w="955103"/>
              </a:tblGrid>
              <a:tr h="274320">
                <a:tc>
                  <a:txBody>
                    <a:bodyPr wrap="square"/>
                    <a:lstStyle/>
                    <a:p>
                      <a:pPr algn="l"/>
                      <a:r>
                        <a:rPr sz="780" b="1">
                          <a:solidFill>
                            <a:srgbClr val="6B7B74"/>
                          </a:solidFill>
                          <a:latin typeface="Manrope"/>
                        </a:rPr>
                        <a:t>ORGANIC SCENARIO</a:t>
                      </a:r>
                    </a:p>
                  </a:txBody>
                  <a:tcPr marL="45720" marR="45720" marT="18288" marB="18288" anchor="ctr">
                    <a:solidFill>
                      <a:srgbClr val="051412"/>
                    </a:solidFill>
                  </a:tcPr>
                </a:tc>
                <a:tc>
                  <a:txBody>
                    <a:bodyPr wrap="square"/>
                    <a:lstStyle/>
                    <a:p>
                      <a:pPr algn="r"/>
                      <a:r>
                        <a:rPr sz="780" b="1">
                          <a:solidFill>
                            <a:srgbClr val="6B7B74"/>
                          </a:solidFill>
                          <a:latin typeface="Manrope"/>
                        </a:rPr>
                        <a:t>CR 1.50%</a:t>
                      </a:r>
                    </a:p>
                  </a:txBody>
                  <a:tcPr marL="45720" marR="45720" marT="18288" marB="18288" anchor="ctr">
                    <a:solidFill>
                      <a:srgbClr val="051412"/>
                    </a:solidFill>
                  </a:tcPr>
                </a:tc>
                <a:tc>
                  <a:txBody>
                    <a:bodyPr wrap="square"/>
                    <a:lstStyle/>
                    <a:p>
                      <a:pPr algn="r"/>
                      <a:r>
                        <a:rPr sz="780" b="1">
                          <a:solidFill>
                            <a:srgbClr val="6B7B74"/>
                          </a:solidFill>
                          <a:latin typeface="Manrope"/>
                        </a:rPr>
                        <a:t>CR 1.65%</a:t>
                      </a:r>
                    </a:p>
                  </a:txBody>
                  <a:tcPr marL="45720" marR="45720" marT="18288" marB="18288" anchor="ctr">
                    <a:solidFill>
                      <a:srgbClr val="051412"/>
                    </a:solidFill>
                  </a:tcPr>
                </a:tc>
                <a:tc>
                  <a:txBody>
                    <a:bodyPr wrap="square"/>
                    <a:lstStyle/>
                    <a:p>
                      <a:pPr algn="r"/>
                      <a:r>
                        <a:rPr sz="780" b="1">
                          <a:solidFill>
                            <a:srgbClr val="6B7B74"/>
                          </a:solidFill>
                          <a:latin typeface="Manrope"/>
                        </a:rPr>
                        <a:t>CR 1.80%</a:t>
                      </a:r>
                    </a:p>
                  </a:txBody>
                  <a:tcPr marL="45720" marR="45720" marT="18288" marB="18288" anchor="ctr">
                    <a:solidFill>
                      <a:srgbClr val="051412"/>
                    </a:solidFill>
                  </a:tcPr>
                </a:tc>
                <a:tc>
                  <a:txBody>
                    <a:bodyPr wrap="square"/>
                    <a:lstStyle/>
                    <a:p>
                      <a:pPr algn="r"/>
                      <a:r>
                        <a:rPr sz="780" b="1">
                          <a:solidFill>
                            <a:srgbClr val="6B7B74"/>
                          </a:solidFill>
                          <a:latin typeface="Manrope"/>
                        </a:rPr>
                        <a:t>CR 2.00%</a:t>
                      </a:r>
                    </a:p>
                  </a:txBody>
                  <a:tcPr marL="45720" marR="45720" marT="18288" marB="18288" anchor="ctr">
                    <a:solidFill>
                      <a:srgbClr val="051412"/>
                    </a:solidFill>
                  </a:tcPr>
                </a:tc>
              </a:tr>
              <a:tr h="292608">
                <a:tc>
                  <a:txBody>
                    <a:bodyPr wrap="square"/>
                    <a:lstStyle/>
                    <a:p>
                      <a:pPr algn="l"/>
                      <a:r>
                        <a:rPr sz="1050" b="0">
                          <a:solidFill>
                            <a:srgbClr val="E8F2EC"/>
                          </a:solidFill>
                          <a:latin typeface="Manrope"/>
                        </a:rPr>
                        <a:t>Flat — no release</a:t>
                      </a:r>
                    </a:p>
                  </a:txBody>
                  <a:tcPr marL="45720" marR="45720" marT="18288" marB="18288" anchor="ctr">
                    <a:solidFill>
                      <a:srgbClr val="051412"/>
                    </a:solidFill>
                  </a:tcPr>
                </a:tc>
                <a:tc>
                  <a:txBody>
                    <a:bodyPr wrap="square"/>
                    <a:lstStyle/>
                    <a:p>
                      <a:pPr algn="r"/>
                      <a:r>
                        <a:rPr sz="1050" b="0">
                          <a:solidFill>
                            <a:srgbClr val="E8F2EC"/>
                          </a:solidFill>
                          <a:latin typeface="Manrope"/>
                        </a:rPr>
                        <a:t>£281,217</a:t>
                      </a:r>
                    </a:p>
                  </a:txBody>
                  <a:tcPr marL="45720" marR="45720" marT="18288" marB="18288" anchor="ctr">
                    <a:solidFill>
                      <a:srgbClr val="051412"/>
                    </a:solidFill>
                  </a:tcPr>
                </a:tc>
                <a:tc>
                  <a:txBody>
                    <a:bodyPr wrap="square"/>
                    <a:lstStyle/>
                    <a:p>
                      <a:pPr algn="r"/>
                      <a:r>
                        <a:rPr sz="1050" b="0">
                          <a:solidFill>
                            <a:srgbClr val="E8F2EC"/>
                          </a:solidFill>
                          <a:latin typeface="Manrope"/>
                        </a:rPr>
                        <a:t>£309,338</a:t>
                      </a:r>
                    </a:p>
                  </a:txBody>
                  <a:tcPr marL="45720" marR="45720" marT="18288" marB="18288" anchor="ctr">
                    <a:solidFill>
                      <a:srgbClr val="051412"/>
                    </a:solidFill>
                  </a:tcPr>
                </a:tc>
                <a:tc>
                  <a:txBody>
                    <a:bodyPr wrap="square"/>
                    <a:lstStyle/>
                    <a:p>
                      <a:pPr algn="r"/>
                      <a:r>
                        <a:rPr sz="1050" b="0">
                          <a:solidFill>
                            <a:srgbClr val="E8F2EC"/>
                          </a:solidFill>
                          <a:latin typeface="Manrope"/>
                        </a:rPr>
                        <a:t>£337,460</a:t>
                      </a:r>
                    </a:p>
                  </a:txBody>
                  <a:tcPr marL="45720" marR="45720" marT="18288" marB="18288" anchor="ctr">
                    <a:solidFill>
                      <a:srgbClr val="051412"/>
                    </a:solidFill>
                  </a:tcPr>
                </a:tc>
                <a:tc>
                  <a:txBody>
                    <a:bodyPr wrap="square"/>
                    <a:lstStyle/>
                    <a:p>
                      <a:pPr algn="r"/>
                      <a:r>
                        <a:rPr sz="1050" b="0">
                          <a:solidFill>
                            <a:srgbClr val="E8F2EC"/>
                          </a:solidFill>
                          <a:latin typeface="Manrope"/>
                        </a:rPr>
                        <a:t>£374,956</a:t>
                      </a:r>
                    </a:p>
                  </a:txBody>
                  <a:tcPr marL="45720" marR="45720" marT="18288" marB="18288" anchor="ctr">
                    <a:solidFill>
                      <a:srgbClr val="051412"/>
                    </a:solidFill>
                  </a:tcPr>
                </a:tc>
              </a:tr>
              <a:tr h="292608">
                <a:tc>
                  <a:txBody>
                    <a:bodyPr wrap="square"/>
                    <a:lstStyle/>
                    <a:p>
                      <a:pPr algn="l"/>
                      <a:r>
                        <a:rPr sz="1050" b="0">
                          <a:solidFill>
                            <a:srgbClr val="E8F2EC"/>
                          </a:solidFill>
                          <a:latin typeface="Manrope"/>
                        </a:rPr>
                        <a:t>1.8× — head fix, snippets</a:t>
                      </a:r>
                    </a:p>
                  </a:txBody>
                  <a:tcPr marL="45720" marR="45720" marT="18288" marB="18288" anchor="ctr">
                    <a:solidFill>
                      <a:srgbClr val="051412"/>
                    </a:solidFill>
                  </a:tcPr>
                </a:tc>
                <a:tc>
                  <a:txBody>
                    <a:bodyPr wrap="square"/>
                    <a:lstStyle/>
                    <a:p>
                      <a:pPr algn="r"/>
                      <a:r>
                        <a:rPr sz="1050" b="0">
                          <a:solidFill>
                            <a:srgbClr val="E8F2EC"/>
                          </a:solidFill>
                          <a:latin typeface="Manrope"/>
                        </a:rPr>
                        <a:t>£316,670</a:t>
                      </a:r>
                    </a:p>
                  </a:txBody>
                  <a:tcPr marL="45720" marR="45720" marT="18288" marB="18288" anchor="ctr">
                    <a:solidFill>
                      <a:srgbClr val="051412"/>
                    </a:solidFill>
                  </a:tcPr>
                </a:tc>
                <a:tc>
                  <a:txBody>
                    <a:bodyPr wrap="square"/>
                    <a:lstStyle/>
                    <a:p>
                      <a:pPr algn="r"/>
                      <a:r>
                        <a:rPr sz="1050" b="0">
                          <a:solidFill>
                            <a:srgbClr val="E8F2EC"/>
                          </a:solidFill>
                          <a:latin typeface="Manrope"/>
                        </a:rPr>
                        <a:t>£348,337</a:t>
                      </a:r>
                    </a:p>
                  </a:txBody>
                  <a:tcPr marL="45720" marR="45720" marT="18288" marB="18288" anchor="ctr">
                    <a:solidFill>
                      <a:srgbClr val="051412"/>
                    </a:solidFill>
                  </a:tcPr>
                </a:tc>
                <a:tc>
                  <a:txBody>
                    <a:bodyPr wrap="square"/>
                    <a:lstStyle/>
                    <a:p>
                      <a:pPr algn="r"/>
                      <a:r>
                        <a:rPr sz="1050" b="0">
                          <a:solidFill>
                            <a:srgbClr val="E8F2EC"/>
                          </a:solidFill>
                          <a:latin typeface="Manrope"/>
                        </a:rPr>
                        <a:t>£380,004</a:t>
                      </a:r>
                    </a:p>
                  </a:txBody>
                  <a:tcPr marL="45720" marR="45720" marT="18288" marB="18288" anchor="ctr">
                    <a:solidFill>
                      <a:srgbClr val="051412"/>
                    </a:solidFill>
                  </a:tcPr>
                </a:tc>
                <a:tc>
                  <a:txBody>
                    <a:bodyPr wrap="square"/>
                    <a:lstStyle/>
                    <a:p>
                      <a:pPr algn="r"/>
                      <a:r>
                        <a:rPr sz="1050" b="0">
                          <a:solidFill>
                            <a:srgbClr val="E8F2EC"/>
                          </a:solidFill>
                          <a:latin typeface="Manrope"/>
                        </a:rPr>
                        <a:t>£422,227</a:t>
                      </a:r>
                    </a:p>
                  </a:txBody>
                  <a:tcPr marL="45720" marR="45720" marT="18288" marB="18288" anchor="ctr">
                    <a:solidFill>
                      <a:srgbClr val="051412"/>
                    </a:solidFill>
                  </a:tcPr>
                </a:tc>
              </a:tr>
              <a:tr h="292608">
                <a:tc>
                  <a:txBody>
                    <a:bodyPr wrap="square"/>
                    <a:lstStyle/>
                    <a:p>
                      <a:pPr algn="l"/>
                      <a:r>
                        <a:rPr sz="1050" b="1">
                          <a:solidFill>
                            <a:srgbClr val="8EFEBB"/>
                          </a:solidFill>
                          <a:latin typeface="Manrope"/>
                        </a:rPr>
                        <a:t>2.7× — head terms to pos. 6</a:t>
                      </a:r>
                    </a:p>
                  </a:txBody>
                  <a:tcPr marL="45720" marR="45720" marT="18288" marB="18288" anchor="ctr">
                    <a:solidFill>
                      <a:srgbClr val="0B2A24"/>
                    </a:solidFill>
                  </a:tcPr>
                </a:tc>
                <a:tc>
                  <a:txBody>
                    <a:bodyPr wrap="square"/>
                    <a:lstStyle/>
                    <a:p>
                      <a:pPr algn="r"/>
                      <a:r>
                        <a:rPr sz="1050" b="1">
                          <a:solidFill>
                            <a:srgbClr val="8EFEBB"/>
                          </a:solidFill>
                          <a:latin typeface="Manrope"/>
                        </a:rPr>
                        <a:t>£356,555</a:t>
                      </a:r>
                    </a:p>
                  </a:txBody>
                  <a:tcPr marL="45720" marR="45720" marT="18288" marB="18288" anchor="ctr">
                    <a:solidFill>
                      <a:srgbClr val="0B2A24"/>
                    </a:solidFill>
                  </a:tcPr>
                </a:tc>
                <a:tc>
                  <a:txBody>
                    <a:bodyPr wrap="square"/>
                    <a:lstStyle/>
                    <a:p>
                      <a:pPr algn="r"/>
                      <a:r>
                        <a:rPr sz="1050" b="1">
                          <a:solidFill>
                            <a:srgbClr val="8EFEBB"/>
                          </a:solidFill>
                          <a:latin typeface="Manrope"/>
                        </a:rPr>
                        <a:t>£392,210</a:t>
                      </a:r>
                    </a:p>
                  </a:txBody>
                  <a:tcPr marL="45720" marR="45720" marT="18288" marB="18288" anchor="ctr">
                    <a:solidFill>
                      <a:srgbClr val="0B2A24"/>
                    </a:solidFill>
                  </a:tcPr>
                </a:tc>
                <a:tc>
                  <a:txBody>
                    <a:bodyPr wrap="square"/>
                    <a:lstStyle/>
                    <a:p>
                      <a:pPr algn="r"/>
                      <a:r>
                        <a:rPr sz="1050" b="1">
                          <a:solidFill>
                            <a:srgbClr val="8EFEBB"/>
                          </a:solidFill>
                          <a:latin typeface="Manrope"/>
                        </a:rPr>
                        <a:t>£427,866</a:t>
                      </a:r>
                    </a:p>
                  </a:txBody>
                  <a:tcPr marL="45720" marR="45720" marT="18288" marB="18288" anchor="ctr">
                    <a:solidFill>
                      <a:srgbClr val="0B2A24"/>
                    </a:solidFill>
                  </a:tcPr>
                </a:tc>
                <a:tc>
                  <a:txBody>
                    <a:bodyPr wrap="square"/>
                    <a:lstStyle/>
                    <a:p>
                      <a:pPr algn="r"/>
                      <a:r>
                        <a:rPr sz="1050" b="1">
                          <a:solidFill>
                            <a:srgbClr val="8EFEBB"/>
                          </a:solidFill>
                          <a:latin typeface="Manrope"/>
                        </a:rPr>
                        <a:t>£475,407</a:t>
                      </a:r>
                    </a:p>
                  </a:txBody>
                  <a:tcPr marL="45720" marR="45720" marT="18288" marB="18288" anchor="ctr">
                    <a:solidFill>
                      <a:srgbClr val="0B2A24"/>
                    </a:solidFill>
                  </a:tcPr>
                </a:tc>
              </a:tr>
            </a:tbl>
          </a:graphicData>
        </a:graphic>
      </p:graphicFrame>
      <p:sp>
        <p:nvSpPr>
          <p:cNvPr id="16" name="TextBox 15"/>
          <p:cNvSpPr txBox="1"/>
          <p:nvPr/>
        </p:nvSpPr>
        <p:spPr>
          <a:xfrm>
            <a:off x="6053328" y="3547872"/>
            <a:ext cx="5571439" cy="36576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Other channels held flat. Paid restructure sits on top of this and is counted separately.</a:t>
            </a:r>
          </a:p>
        </p:txBody>
      </p:sp>
      <p:sp>
        <p:nvSpPr>
          <p:cNvPr id="17" name="Rounded Rectangle 16"/>
          <p:cNvSpPr/>
          <p:nvPr/>
        </p:nvSpPr>
        <p:spPr>
          <a:xfrm>
            <a:off x="6053328" y="3986784"/>
            <a:ext cx="5571439" cy="178308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91072" y="4169664"/>
            <a:ext cx="5114239" cy="274320"/>
          </a:xfrm>
          <a:prstGeom prst="rect">
            <a:avLst/>
          </a:prstGeom>
          <a:noFill/>
        </p:spPr>
        <p:txBody>
          <a:bodyPr wrap="square" lIns="0" rIns="0" tIns="0" bIns="0" anchor="t">
            <a:spAutoFit/>
          </a:bodyPr>
          <a:lstStyle/>
          <a:p>
            <a:pPr algn="l"/>
            <a:r>
              <a:rPr sz="1250" b="1" i="0">
                <a:solidFill>
                  <a:srgbClr val="8EFEBB"/>
                </a:solidFill>
                <a:latin typeface="Manrope"/>
              </a:rPr>
              <a:t>The most important thing this model says</a:t>
            </a:r>
          </a:p>
        </p:txBody>
      </p:sp>
      <p:sp>
        <p:nvSpPr>
          <p:cNvPr id="19" name="TextBox 18"/>
          <p:cNvSpPr txBox="1"/>
          <p:nvPr/>
        </p:nvSpPr>
        <p:spPr>
          <a:xfrm>
            <a:off x="6291072" y="4517136"/>
            <a:ext cx="5114239" cy="1097280"/>
          </a:xfrm>
          <a:prstGeom prst="rect">
            <a:avLst/>
          </a:prstGeom>
          <a:noFill/>
        </p:spPr>
        <p:txBody>
          <a:bodyPr wrap="square" lIns="0" rIns="0" tIns="0" bIns="0">
            <a:spAutoFit/>
          </a:bodyPr>
          <a:lstStyle/>
          <a:p>
            <a:pPr>
              <a:lnSpc>
                <a:spcPct val="140000"/>
              </a:lnSpc>
              <a:spcAft>
                <a:spcPts val="0"/>
              </a:spcAft>
            </a:pPr>
            <a:r>
              <a:rPr sz="1100" b="0" i="0">
                <a:solidFill>
                  <a:srgbClr val="B9C7C0"/>
                </a:solidFill>
                <a:latin typeface="Manrope"/>
              </a:rPr>
              <a:t>The best realistic case for site work alone lands at about £475,000 — close to target but not over it. Fixing the site is worth roughly </a:t>
            </a:r>
            <a:r>
              <a:rPr sz="1100" b="1" i="0">
                <a:solidFill>
                  <a:srgbClr val="FFFFFF"/>
                </a:solidFill>
                <a:latin typeface="Manrope"/>
              </a:rPr>
              <a:t>£147k–£194k a month</a:t>
            </a:r>
            <a:r>
              <a:rPr sz="1100" b="0" i="0">
                <a:solidFill>
                  <a:srgbClr val="B9C7C0"/>
                </a:solidFill>
                <a:latin typeface="Manrope"/>
              </a:rPr>
              <a:t> and is by far the cheapest revenue in the plan. But it does not reach £500k on its own. The two halves of the strategy are complementary, not alternatives.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06 · THE FUNNEL, STAGE BY STAGE</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Why each fix </a:t>
            </a:r>
            <a:r>
              <a:rPr sz="2700" b="1" i="1" spc="-70">
                <a:solidFill>
                  <a:srgbClr val="8EFEBB"/>
                </a:solidFill>
                <a:latin typeface="Instrument Serif"/>
              </a:rPr>
              <a:t>converts</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These are trust mechanics at the decision moment, not persuasion. They remove reasons to doubt the number on the screen.</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09</a:t>
            </a:r>
          </a:p>
        </p:txBody>
      </p:sp>
      <p:sp>
        <p:nvSpPr>
          <p:cNvPr id="9" name="Rounded Rectangle 8"/>
          <p:cNvSpPr/>
          <p:nvPr/>
        </p:nvSpPr>
        <p:spPr>
          <a:xfrm>
            <a:off x="566928" y="2029968"/>
            <a:ext cx="3515258" cy="1956816"/>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2194560"/>
            <a:ext cx="3149498" cy="182880"/>
          </a:xfrm>
          <a:prstGeom prst="rect">
            <a:avLst/>
          </a:prstGeom>
          <a:noFill/>
        </p:spPr>
        <p:txBody>
          <a:bodyPr wrap="square" lIns="0" rIns="0" tIns="0" bIns="0" anchor="t">
            <a:spAutoFit/>
          </a:bodyPr>
          <a:lstStyle/>
          <a:p>
            <a:pPr algn="l"/>
            <a:r>
              <a:rPr sz="800" b="1" i="0" spc="160">
                <a:solidFill>
                  <a:srgbClr val="8EFEBB"/>
                </a:solidFill>
                <a:latin typeface="Manrope"/>
              </a:rPr>
              <a:t>STAGE 1 · IMPRESSION → CLICK</a:t>
            </a:r>
          </a:p>
        </p:txBody>
      </p:sp>
      <p:sp>
        <p:nvSpPr>
          <p:cNvPr id="11" name="TextBox 10"/>
          <p:cNvSpPr txBox="1"/>
          <p:nvPr/>
        </p:nvSpPr>
        <p:spPr>
          <a:xfrm>
            <a:off x="768096" y="2432304"/>
            <a:ext cx="3149498" cy="274320"/>
          </a:xfrm>
          <a:prstGeom prst="rect">
            <a:avLst/>
          </a:prstGeom>
          <a:noFill/>
        </p:spPr>
        <p:txBody>
          <a:bodyPr wrap="square" lIns="0" rIns="0" tIns="0" bIns="0" anchor="t">
            <a:spAutoFit/>
          </a:bodyPr>
          <a:lstStyle/>
          <a:p>
            <a:pPr algn="l"/>
            <a:r>
              <a:rPr sz="1200" b="1" i="0" spc="-30">
                <a:solidFill>
                  <a:srgbClr val="FFFFFF"/>
                </a:solidFill>
                <a:latin typeface="Manrope"/>
              </a:rPr>
              <a:t>The head fix and the snippet</a:t>
            </a:r>
          </a:p>
        </p:txBody>
      </p:sp>
      <p:sp>
        <p:nvSpPr>
          <p:cNvPr id="12" name="TextBox 11"/>
          <p:cNvSpPr txBox="1"/>
          <p:nvPr/>
        </p:nvSpPr>
        <p:spPr>
          <a:xfrm>
            <a:off x="768096" y="2761488"/>
            <a:ext cx="3149498" cy="1097280"/>
          </a:xfrm>
          <a:prstGeom prst="rect">
            <a:avLst/>
          </a:prstGeom>
          <a:noFill/>
        </p:spPr>
        <p:txBody>
          <a:bodyPr wrap="square" lIns="0" rIns="0" tIns="0" bIns="0">
            <a:spAutoFit/>
          </a:bodyPr>
          <a:lstStyle/>
          <a:p>
            <a:pPr>
              <a:lnSpc>
                <a:spcPct val="132000"/>
              </a:lnSpc>
              <a:spcAft>
                <a:spcPts val="0"/>
              </a:spcAft>
            </a:pPr>
            <a:r>
              <a:rPr sz="940" b="0" i="0">
                <a:solidFill>
                  <a:srgbClr val="B9C7C0"/>
                </a:solidFill>
                <a:latin typeface="Manrope"/>
              </a:rPr>
              <a:t>610,376 impressions are served every month and 98.9% are thrown away. Restoring the head means Google reads the written title and description rather than auto-generating one, and honours the canonical so the clean collection page ranks.</a:t>
            </a:r>
          </a:p>
        </p:txBody>
      </p:sp>
      <p:sp>
        <p:nvSpPr>
          <p:cNvPr id="13" name="Rounded Rectangle 12"/>
          <p:cNvSpPr/>
          <p:nvPr/>
        </p:nvSpPr>
        <p:spPr>
          <a:xfrm>
            <a:off x="566928" y="4114800"/>
            <a:ext cx="3515258" cy="1956816"/>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4279392"/>
            <a:ext cx="3149498" cy="182880"/>
          </a:xfrm>
          <a:prstGeom prst="rect">
            <a:avLst/>
          </a:prstGeom>
          <a:noFill/>
        </p:spPr>
        <p:txBody>
          <a:bodyPr wrap="square" lIns="0" rIns="0" tIns="0" bIns="0" anchor="t">
            <a:spAutoFit/>
          </a:bodyPr>
          <a:lstStyle/>
          <a:p>
            <a:pPr algn="l"/>
            <a:r>
              <a:rPr sz="800" b="1" i="0" spc="160">
                <a:solidFill>
                  <a:srgbClr val="8EFEBB"/>
                </a:solidFill>
                <a:latin typeface="Manrope"/>
              </a:rPr>
              <a:t>STAGE 2 · CLICK → ENGAGED</a:t>
            </a:r>
          </a:p>
        </p:txBody>
      </p:sp>
      <p:sp>
        <p:nvSpPr>
          <p:cNvPr id="15" name="TextBox 14"/>
          <p:cNvSpPr txBox="1"/>
          <p:nvPr/>
        </p:nvSpPr>
        <p:spPr>
          <a:xfrm>
            <a:off x="768096" y="4517136"/>
            <a:ext cx="3149498" cy="274320"/>
          </a:xfrm>
          <a:prstGeom prst="rect">
            <a:avLst/>
          </a:prstGeom>
          <a:noFill/>
        </p:spPr>
        <p:txBody>
          <a:bodyPr wrap="square" lIns="0" rIns="0" tIns="0" bIns="0" anchor="t">
            <a:spAutoFit/>
          </a:bodyPr>
          <a:lstStyle/>
          <a:p>
            <a:pPr algn="l"/>
            <a:r>
              <a:rPr sz="1200" b="1" i="0" spc="-30">
                <a:solidFill>
                  <a:srgbClr val="FFFFFF"/>
                </a:solidFill>
                <a:latin typeface="Manrope"/>
              </a:rPr>
              <a:t>Seven videos, streaming 31.4 MB</a:t>
            </a:r>
          </a:p>
        </p:txBody>
      </p:sp>
      <p:sp>
        <p:nvSpPr>
          <p:cNvPr id="16" name="TextBox 15"/>
          <p:cNvSpPr txBox="1"/>
          <p:nvPr/>
        </p:nvSpPr>
        <p:spPr>
          <a:xfrm>
            <a:off x="768096" y="4846320"/>
            <a:ext cx="3149498" cy="1097280"/>
          </a:xfrm>
          <a:prstGeom prst="rect">
            <a:avLst/>
          </a:prstGeom>
          <a:noFill/>
        </p:spPr>
        <p:txBody>
          <a:bodyPr wrap="square" lIns="0" rIns="0" tIns="0" bIns="0">
            <a:spAutoFit/>
          </a:bodyPr>
          <a:lstStyle/>
          <a:p>
            <a:pPr>
              <a:lnSpc>
                <a:spcPct val="132000"/>
              </a:lnSpc>
              <a:spcAft>
                <a:spcPts val="0"/>
              </a:spcAft>
            </a:pPr>
            <a:r>
              <a:rPr sz="940" b="0" i="0">
                <a:solidFill>
                  <a:srgbClr val="B9C7C0"/>
                </a:solidFill>
                <a:latin typeface="Manrope"/>
              </a:rPr>
              <a:t>Testimonial videos autoplayed on every product page, streaming 31.4 MB in 38 seconds without the customer scrolling. They competed for bandwidth with the size options — which is why options took 45 seconds to become usable.</a:t>
            </a:r>
          </a:p>
        </p:txBody>
      </p:sp>
      <p:sp>
        <p:nvSpPr>
          <p:cNvPr id="17" name="Rounded Rectangle 16"/>
          <p:cNvSpPr/>
          <p:nvPr/>
        </p:nvSpPr>
        <p:spPr>
          <a:xfrm>
            <a:off x="4338218" y="2029968"/>
            <a:ext cx="3515258" cy="1956816"/>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39386" y="2194560"/>
            <a:ext cx="3149498" cy="182880"/>
          </a:xfrm>
          <a:prstGeom prst="rect">
            <a:avLst/>
          </a:prstGeom>
          <a:noFill/>
        </p:spPr>
        <p:txBody>
          <a:bodyPr wrap="square" lIns="0" rIns="0" tIns="0" bIns="0" anchor="t">
            <a:spAutoFit/>
          </a:bodyPr>
          <a:lstStyle/>
          <a:p>
            <a:pPr algn="l"/>
            <a:r>
              <a:rPr sz="800" b="1" i="0" spc="160">
                <a:solidFill>
                  <a:srgbClr val="EF4444"/>
                </a:solidFill>
                <a:latin typeface="Manrope"/>
              </a:rPr>
              <a:t>STAGE 3 · ENGAGED → ADD TO CART</a:t>
            </a:r>
          </a:p>
        </p:txBody>
      </p:sp>
      <p:sp>
        <p:nvSpPr>
          <p:cNvPr id="19" name="TextBox 18"/>
          <p:cNvSpPr txBox="1"/>
          <p:nvPr/>
        </p:nvSpPr>
        <p:spPr>
          <a:xfrm>
            <a:off x="4539386" y="2432304"/>
            <a:ext cx="3149498" cy="274320"/>
          </a:xfrm>
          <a:prstGeom prst="rect">
            <a:avLst/>
          </a:prstGeom>
          <a:noFill/>
        </p:spPr>
        <p:txBody>
          <a:bodyPr wrap="square" lIns="0" rIns="0" tIns="0" bIns="0" anchor="t">
            <a:spAutoFit/>
          </a:bodyPr>
          <a:lstStyle/>
          <a:p>
            <a:pPr algn="l"/>
            <a:r>
              <a:rPr sz="1200" b="1" i="0" spc="-30">
                <a:solidFill>
                  <a:srgbClr val="FFFFFF"/>
                </a:solidFill>
                <a:latin typeface="Manrope"/>
              </a:rPr>
              <a:t>The primary button did nothing</a:t>
            </a:r>
          </a:p>
        </p:txBody>
      </p:sp>
      <p:sp>
        <p:nvSpPr>
          <p:cNvPr id="20" name="TextBox 19"/>
          <p:cNvSpPr txBox="1"/>
          <p:nvPr/>
        </p:nvSpPr>
        <p:spPr>
          <a:xfrm>
            <a:off x="4539386" y="2761488"/>
            <a:ext cx="3149498" cy="1097280"/>
          </a:xfrm>
          <a:prstGeom prst="rect">
            <a:avLst/>
          </a:prstGeom>
          <a:noFill/>
        </p:spPr>
        <p:txBody>
          <a:bodyPr wrap="square" lIns="0" rIns="0" tIns="0" bIns="0">
            <a:spAutoFit/>
          </a:bodyPr>
          <a:lstStyle/>
          <a:p>
            <a:pPr>
              <a:lnSpc>
                <a:spcPct val="132000"/>
              </a:lnSpc>
              <a:spcAft>
                <a:spcPts val="0"/>
              </a:spcAft>
            </a:pPr>
            <a:r>
              <a:rPr sz="940" b="0" i="0">
                <a:solidFill>
                  <a:srgbClr val="B9C7C0"/>
                </a:solidFill>
                <a:latin typeface="Manrope"/>
              </a:rPr>
              <a:t>Tapping Add to cart before choosing options produced no request, no message and no change of state. A customer at maximum intent presses the main button and the site does not acknowledge it. All five recommendation cards also showed £6.68 against a configured £24.65.</a:t>
            </a:r>
          </a:p>
        </p:txBody>
      </p:sp>
      <p:sp>
        <p:nvSpPr>
          <p:cNvPr id="21" name="Rounded Rectangle 20"/>
          <p:cNvSpPr/>
          <p:nvPr/>
        </p:nvSpPr>
        <p:spPr>
          <a:xfrm>
            <a:off x="4338218" y="4114800"/>
            <a:ext cx="3515258" cy="1956816"/>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39386" y="4279392"/>
            <a:ext cx="3149498" cy="182880"/>
          </a:xfrm>
          <a:prstGeom prst="rect">
            <a:avLst/>
          </a:prstGeom>
          <a:noFill/>
        </p:spPr>
        <p:txBody>
          <a:bodyPr wrap="square" lIns="0" rIns="0" tIns="0" bIns="0" anchor="t">
            <a:spAutoFit/>
          </a:bodyPr>
          <a:lstStyle/>
          <a:p>
            <a:pPr algn="l"/>
            <a:r>
              <a:rPr sz="800" b="1" i="0" spc="160">
                <a:solidFill>
                  <a:srgbClr val="8EFEBB"/>
                </a:solidFill>
                <a:latin typeface="Manrope"/>
              </a:rPr>
              <a:t>STAGE 4 · ADD TO CART → CART</a:t>
            </a:r>
          </a:p>
        </p:txBody>
      </p:sp>
      <p:sp>
        <p:nvSpPr>
          <p:cNvPr id="23" name="TextBox 22"/>
          <p:cNvSpPr txBox="1"/>
          <p:nvPr/>
        </p:nvSpPr>
        <p:spPr>
          <a:xfrm>
            <a:off x="4539386" y="4517136"/>
            <a:ext cx="3149498" cy="274320"/>
          </a:xfrm>
          <a:prstGeom prst="rect">
            <a:avLst/>
          </a:prstGeom>
          <a:noFill/>
        </p:spPr>
        <p:txBody>
          <a:bodyPr wrap="square" lIns="0" rIns="0" tIns="0" bIns="0" anchor="t">
            <a:spAutoFit/>
          </a:bodyPr>
          <a:lstStyle/>
          <a:p>
            <a:pPr algn="l"/>
            <a:r>
              <a:rPr sz="1200" b="1" i="0" spc="-30">
                <a:solidFill>
                  <a:srgbClr val="FFFFFF"/>
                </a:solidFill>
                <a:latin typeface="Manrope"/>
              </a:rPr>
              <a:t>The £0.00 drawer</a:t>
            </a:r>
          </a:p>
        </p:txBody>
      </p:sp>
      <p:sp>
        <p:nvSpPr>
          <p:cNvPr id="24" name="TextBox 23"/>
          <p:cNvSpPr txBox="1"/>
          <p:nvPr/>
        </p:nvSpPr>
        <p:spPr>
          <a:xfrm>
            <a:off x="4539386" y="4846320"/>
            <a:ext cx="3149498" cy="1097280"/>
          </a:xfrm>
          <a:prstGeom prst="rect">
            <a:avLst/>
          </a:prstGeom>
          <a:noFill/>
        </p:spPr>
        <p:txBody>
          <a:bodyPr wrap="square" lIns="0" rIns="0" tIns="0" bIns="0">
            <a:spAutoFit/>
          </a:bodyPr>
          <a:lstStyle/>
          <a:p>
            <a:pPr>
              <a:lnSpc>
                <a:spcPct val="132000"/>
              </a:lnSpc>
              <a:spcAft>
                <a:spcPts val="0"/>
              </a:spcAft>
            </a:pPr>
            <a:r>
              <a:rPr sz="940" b="0" i="0">
                <a:solidFill>
                  <a:srgbClr val="B9C7C0"/>
                </a:solidFill>
                <a:latin typeface="Manrope"/>
              </a:rPr>
              <a:t>After a successful add the drawer showed a blank title, a £0.00 subtotal and “Add £50.00 to reach the £50 minimum” — while the cart itself was correct. It stayed wrong for roughly six seconds.</a:t>
            </a:r>
          </a:p>
        </p:txBody>
      </p:sp>
      <p:sp>
        <p:nvSpPr>
          <p:cNvPr id="25" name="Rounded Rectangle 24"/>
          <p:cNvSpPr/>
          <p:nvPr/>
        </p:nvSpPr>
        <p:spPr>
          <a:xfrm>
            <a:off x="8109508" y="2029968"/>
            <a:ext cx="3515258" cy="1956816"/>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310676" y="2194560"/>
            <a:ext cx="3149498" cy="182880"/>
          </a:xfrm>
          <a:prstGeom prst="rect">
            <a:avLst/>
          </a:prstGeom>
          <a:noFill/>
        </p:spPr>
        <p:txBody>
          <a:bodyPr wrap="square" lIns="0" rIns="0" tIns="0" bIns="0" anchor="t">
            <a:spAutoFit/>
          </a:bodyPr>
          <a:lstStyle/>
          <a:p>
            <a:pPr algn="l"/>
            <a:r>
              <a:rPr sz="800" b="1" i="0" spc="160">
                <a:solidFill>
                  <a:srgbClr val="EF4444"/>
                </a:solidFill>
                <a:latin typeface="Manrope"/>
              </a:rPr>
              <a:t>STAGE 5 · CART → CHECKOUT</a:t>
            </a:r>
          </a:p>
        </p:txBody>
      </p:sp>
      <p:sp>
        <p:nvSpPr>
          <p:cNvPr id="27" name="TextBox 26"/>
          <p:cNvSpPr txBox="1"/>
          <p:nvPr/>
        </p:nvSpPr>
        <p:spPr>
          <a:xfrm>
            <a:off x="8310676" y="2432304"/>
            <a:ext cx="3149498" cy="274320"/>
          </a:xfrm>
          <a:prstGeom prst="rect">
            <a:avLst/>
          </a:prstGeom>
          <a:noFill/>
        </p:spPr>
        <p:txBody>
          <a:bodyPr wrap="square" lIns="0" rIns="0" tIns="0" bIns="0" anchor="t">
            <a:spAutoFit/>
          </a:bodyPr>
          <a:lstStyle/>
          <a:p>
            <a:pPr algn="l"/>
            <a:r>
              <a:rPr sz="1200" b="1" i="0" spc="-30">
                <a:solidFill>
                  <a:srgbClr val="FFFFFF"/>
                </a:solidFill>
                <a:latin typeface="Manrope"/>
              </a:rPr>
              <a:t>The minimum-order trap</a:t>
            </a:r>
          </a:p>
        </p:txBody>
      </p:sp>
      <p:sp>
        <p:nvSpPr>
          <p:cNvPr id="28" name="TextBox 27"/>
          <p:cNvSpPr txBox="1"/>
          <p:nvPr/>
        </p:nvSpPr>
        <p:spPr>
          <a:xfrm>
            <a:off x="8310676" y="2761488"/>
            <a:ext cx="3149498" cy="1097280"/>
          </a:xfrm>
          <a:prstGeom prst="rect">
            <a:avLst/>
          </a:prstGeom>
          <a:noFill/>
        </p:spPr>
        <p:txBody>
          <a:bodyPr wrap="square" lIns="0" rIns="0" tIns="0" bIns="0">
            <a:spAutoFit/>
          </a:bodyPr>
          <a:lstStyle/>
          <a:p>
            <a:pPr>
              <a:lnSpc>
                <a:spcPct val="132000"/>
              </a:lnSpc>
              <a:spcAft>
                <a:spcPts val="0"/>
              </a:spcAft>
            </a:pPr>
            <a:r>
              <a:rPr sz="940" b="0" i="0">
                <a:solidFill>
                  <a:srgbClr val="B9C7C0"/>
                </a:solidFill>
                <a:latin typeface="Manrope"/>
              </a:rPr>
              <a:t>A basket under £50 passed the whole funnel with Checkout enabled, then hit a red banner at the final step. A total loss at the highest-intent point on the site, after the customer has already invested the configuration effort.</a:t>
            </a:r>
          </a:p>
        </p:txBody>
      </p:sp>
      <p:sp>
        <p:nvSpPr>
          <p:cNvPr id="29" name="Rounded Rectangle 28"/>
          <p:cNvSpPr/>
          <p:nvPr/>
        </p:nvSpPr>
        <p:spPr>
          <a:xfrm>
            <a:off x="8109508" y="4114800"/>
            <a:ext cx="3515258" cy="1956816"/>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10676" y="4279392"/>
            <a:ext cx="3149498" cy="182880"/>
          </a:xfrm>
          <a:prstGeom prst="rect">
            <a:avLst/>
          </a:prstGeom>
          <a:noFill/>
        </p:spPr>
        <p:txBody>
          <a:bodyPr wrap="square" lIns="0" rIns="0" tIns="0" bIns="0" anchor="t">
            <a:spAutoFit/>
          </a:bodyPr>
          <a:lstStyle/>
          <a:p>
            <a:pPr algn="l"/>
            <a:r>
              <a:rPr sz="800" b="1" i="0" spc="160">
                <a:solidFill>
                  <a:srgbClr val="8EFEBB"/>
                </a:solidFill>
                <a:latin typeface="Manrope"/>
              </a:rPr>
              <a:t>STILL UPSTREAM</a:t>
            </a:r>
          </a:p>
        </p:txBody>
      </p:sp>
      <p:sp>
        <p:nvSpPr>
          <p:cNvPr id="31" name="TextBox 30"/>
          <p:cNvSpPr txBox="1"/>
          <p:nvPr/>
        </p:nvSpPr>
        <p:spPr>
          <a:xfrm>
            <a:off x="8310676" y="4517136"/>
            <a:ext cx="3149498" cy="274320"/>
          </a:xfrm>
          <a:prstGeom prst="rect">
            <a:avLst/>
          </a:prstGeom>
          <a:noFill/>
        </p:spPr>
        <p:txBody>
          <a:bodyPr wrap="square" lIns="0" rIns="0" tIns="0" bIns="0" anchor="t">
            <a:spAutoFit/>
          </a:bodyPr>
          <a:lstStyle/>
          <a:p>
            <a:pPr algn="l"/>
            <a:r>
              <a:rPr sz="1200" b="1" i="0" spc="-30">
                <a:solidFill>
                  <a:srgbClr val="FFFFFF"/>
                </a:solidFill>
                <a:latin typeface="Manrope"/>
              </a:rPr>
              <a:t>The nine-second wait</a:t>
            </a:r>
          </a:p>
        </p:txBody>
      </p:sp>
      <p:sp>
        <p:nvSpPr>
          <p:cNvPr id="32" name="TextBox 31"/>
          <p:cNvSpPr txBox="1"/>
          <p:nvPr/>
        </p:nvSpPr>
        <p:spPr>
          <a:xfrm>
            <a:off x="8310676" y="4846320"/>
            <a:ext cx="3149498" cy="1097280"/>
          </a:xfrm>
          <a:prstGeom prst="rect">
            <a:avLst/>
          </a:prstGeom>
          <a:noFill/>
        </p:spPr>
        <p:txBody>
          <a:bodyPr wrap="square" lIns="0" rIns="0" tIns="0" bIns="0">
            <a:spAutoFit/>
          </a:bodyPr>
          <a:lstStyle/>
          <a:p>
            <a:pPr>
              <a:lnSpc>
                <a:spcPct val="132000"/>
              </a:lnSpc>
              <a:spcAft>
                <a:spcPts val="0"/>
              </a:spcAft>
            </a:pPr>
            <a:r>
              <a:rPr sz="940" b="0" i="0">
                <a:solidFill>
                  <a:srgbClr val="B9C7C0"/>
                </a:solidFill>
                <a:latin typeface="Manrope"/>
              </a:rPr>
              <a:t>The configurator posts to the cart and receives three rejections before succeeding, so tap-to-drawer measures 9.6 seconds. A watchdog message turns dead time into explained time, but only replacing the configurator removes the wait.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06 · MEASURED LOSS</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1" spc="-70">
                <a:solidFill>
                  <a:srgbClr val="8EFEBB"/>
                </a:solidFill>
                <a:latin typeface="Instrument Serif"/>
              </a:rPr>
              <a:t>£65,452</a:t>
            </a:r>
            <a:r>
              <a:rPr sz="2700" b="1" i="0" spc="-70">
                <a:solidFill>
                  <a:srgbClr val="FFFFFF"/>
                </a:solidFill>
                <a:latin typeface="Manrope"/>
              </a:rPr>
              <a:t> a month is abandoned at checkout</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Newly readable checkout data quantifies exactly what the funnel fixes are aimed at — and what no email is currently chasing.</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10</a:t>
            </a:r>
          </a:p>
        </p:txBody>
      </p:sp>
      <p:sp>
        <p:nvSpPr>
          <p:cNvPr id="9" name="TextBox 8"/>
          <p:cNvSpPr txBox="1"/>
          <p:nvPr/>
        </p:nvSpPr>
        <p:spPr>
          <a:xfrm>
            <a:off x="566928" y="2029968"/>
            <a:ext cx="5760720" cy="182880"/>
          </a:xfrm>
          <a:prstGeom prst="rect">
            <a:avLst/>
          </a:prstGeom>
          <a:noFill/>
        </p:spPr>
        <p:txBody>
          <a:bodyPr wrap="square" lIns="0" rIns="0" tIns="0" bIns="0" anchor="t">
            <a:spAutoFit/>
          </a:bodyPr>
          <a:lstStyle/>
          <a:p>
            <a:pPr algn="l"/>
            <a:r>
              <a:rPr sz="850" b="1" i="0" spc="160">
                <a:solidFill>
                  <a:srgbClr val="6B7B74"/>
                </a:solidFill>
                <a:latin typeface="Manrope"/>
              </a:rPr>
              <a:t>ABANDONED CHECKOUTS BY BASKET VALUE · 60 DAYS TO 9 SEP 2026</a:t>
            </a:r>
          </a:p>
        </p:txBody>
      </p:sp>
      <p:graphicFrame>
        <p:nvGraphicFramePr>
          <p:cNvPr id="10" name="Table 9"/>
          <p:cNvGraphicFramePr>
            <a:graphicFrameLocks noGrp="1"/>
          </p:cNvGraphicFramePr>
          <p:nvPr/>
        </p:nvGraphicFramePr>
        <p:xfrm>
          <a:off x="566928" y="2286000"/>
          <a:ext cx="5760718" cy="1920240"/>
        </p:xfrm>
        <a:graphic>
          <a:graphicData uri="http://schemas.openxmlformats.org/drawingml/2006/table">
            <a:tbl>
              <a:tblPr firstRow="1" bandRow="1">
                <a:tableStyleId>{5C22544A-7EE6-4342-B048-85BDC9FD1C3A}</a:tableStyleId>
              </a:tblPr>
              <a:tblGrid>
                <a:gridCol w="2455388"/>
                <a:gridCol w="1133256"/>
                <a:gridCol w="944380"/>
                <a:gridCol w="1227694"/>
              </a:tblGrid>
              <a:tr h="274320">
                <a:tc>
                  <a:txBody>
                    <a:bodyPr wrap="square"/>
                    <a:lstStyle/>
                    <a:p>
                      <a:pPr algn="l"/>
                      <a:r>
                        <a:rPr sz="780" b="1">
                          <a:solidFill>
                            <a:srgbClr val="6B7B74"/>
                          </a:solidFill>
                          <a:latin typeface="Manrope"/>
                        </a:rPr>
                        <a:t>BASKET VALUE</a:t>
                      </a:r>
                    </a:p>
                  </a:txBody>
                  <a:tcPr marL="45720" marR="45720" marT="18288" marB="18288" anchor="ctr">
                    <a:solidFill>
                      <a:srgbClr val="051412"/>
                    </a:solidFill>
                  </a:tcPr>
                </a:tc>
                <a:tc>
                  <a:txBody>
                    <a:bodyPr wrap="square"/>
                    <a:lstStyle/>
                    <a:p>
                      <a:pPr algn="r"/>
                      <a:r>
                        <a:rPr sz="780" b="1">
                          <a:solidFill>
                            <a:srgbClr val="6B7B74"/>
                          </a:solidFill>
                          <a:latin typeface="Manrope"/>
                        </a:rPr>
                        <a:t>ABANDONED</a:t>
                      </a:r>
                    </a:p>
                  </a:txBody>
                  <a:tcPr marL="45720" marR="45720" marT="18288" marB="18288" anchor="ctr">
                    <a:solidFill>
                      <a:srgbClr val="051412"/>
                    </a:solidFill>
                  </a:tcPr>
                </a:tc>
                <a:tc>
                  <a:txBody>
                    <a:bodyPr wrap="square"/>
                    <a:lstStyle/>
                    <a:p>
                      <a:pPr algn="r"/>
                      <a:r>
                        <a:rPr sz="780" b="1">
                          <a:solidFill>
                            <a:srgbClr val="6B7B74"/>
                          </a:solidFill>
                          <a:latin typeface="Manrope"/>
                        </a:rPr>
                        <a:t>SHARE</a:t>
                      </a:r>
                    </a:p>
                  </a:txBody>
                  <a:tcPr marL="45720" marR="45720" marT="18288" marB="18288" anchor="ctr">
                    <a:solidFill>
                      <a:srgbClr val="051412"/>
                    </a:solidFill>
                  </a:tcPr>
                </a:tc>
                <a:tc>
                  <a:txBody>
                    <a:bodyPr wrap="square"/>
                    <a:lstStyle/>
                    <a:p>
                      <a:pPr algn="r"/>
                      <a:r>
                        <a:rPr sz="780" b="1">
                          <a:solidFill>
                            <a:srgbClr val="6B7B74"/>
                          </a:solidFill>
                          <a:latin typeface="Manrope"/>
                        </a:rPr>
                        <a:t>VALUE</a:t>
                      </a:r>
                    </a:p>
                  </a:txBody>
                  <a:tcPr marL="45720" marR="45720" marT="18288" marB="18288" anchor="ctr">
                    <a:solidFill>
                      <a:srgbClr val="051412"/>
                    </a:solidFill>
                  </a:tcPr>
                </a:tc>
              </a:tr>
              <a:tr h="274320">
                <a:tc>
                  <a:txBody>
                    <a:bodyPr wrap="square"/>
                    <a:lstStyle/>
                    <a:p>
                      <a:pPr algn="l"/>
                      <a:r>
                        <a:rPr sz="1050" b="0">
                          <a:solidFill>
                            <a:srgbClr val="EF4444"/>
                          </a:solidFill>
                          <a:latin typeface="Manrope"/>
                        </a:rPr>
                        <a:t>Under £50 — could not check out</a:t>
                      </a:r>
                    </a:p>
                  </a:txBody>
                  <a:tcPr marL="45720" marR="45720" marT="18288" marB="18288" anchor="ctr">
                    <a:solidFill>
                      <a:srgbClr val="051412"/>
                    </a:solidFill>
                  </a:tcPr>
                </a:tc>
                <a:tc>
                  <a:txBody>
                    <a:bodyPr wrap="square"/>
                    <a:lstStyle/>
                    <a:p>
                      <a:pPr algn="r"/>
                      <a:r>
                        <a:rPr sz="1050" b="0">
                          <a:solidFill>
                            <a:srgbClr val="EF4444"/>
                          </a:solidFill>
                          <a:latin typeface="Manrope"/>
                        </a:rPr>
                        <a:t>44</a:t>
                      </a:r>
                    </a:p>
                  </a:txBody>
                  <a:tcPr marL="45720" marR="45720" marT="18288" marB="18288" anchor="ctr">
                    <a:solidFill>
                      <a:srgbClr val="051412"/>
                    </a:solidFill>
                  </a:tcPr>
                </a:tc>
                <a:tc>
                  <a:txBody>
                    <a:bodyPr wrap="square"/>
                    <a:lstStyle/>
                    <a:p>
                      <a:pPr algn="r"/>
                      <a:r>
                        <a:rPr sz="1050" b="0">
                          <a:solidFill>
                            <a:srgbClr val="EF4444"/>
                          </a:solidFill>
                          <a:latin typeface="Manrope"/>
                        </a:rPr>
                        <a:t>9.5%</a:t>
                      </a:r>
                    </a:p>
                  </a:txBody>
                  <a:tcPr marL="45720" marR="45720" marT="18288" marB="18288" anchor="ctr">
                    <a:solidFill>
                      <a:srgbClr val="051412"/>
                    </a:solidFill>
                  </a:tcPr>
                </a:tc>
                <a:tc>
                  <a:txBody>
                    <a:bodyPr wrap="square"/>
                    <a:lstStyle/>
                    <a:p>
                      <a:pPr algn="r"/>
                      <a:r>
                        <a:rPr sz="1050" b="0">
                          <a:solidFill>
                            <a:srgbClr val="EF4444"/>
                          </a:solidFill>
                          <a:latin typeface="Manrope"/>
                        </a:rPr>
                        <a:t>£1,591</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£50 – £100</a:t>
                      </a:r>
                    </a:p>
                  </a:txBody>
                  <a:tcPr marL="45720" marR="45720" marT="18288" marB="18288" anchor="ctr">
                    <a:solidFill>
                      <a:srgbClr val="051412"/>
                    </a:solidFill>
                  </a:tcPr>
                </a:tc>
                <a:tc>
                  <a:txBody>
                    <a:bodyPr wrap="square"/>
                    <a:lstStyle/>
                    <a:p>
                      <a:pPr algn="r"/>
                      <a:r>
                        <a:rPr sz="1050" b="0">
                          <a:solidFill>
                            <a:srgbClr val="E8F2EC"/>
                          </a:solidFill>
                          <a:latin typeface="Manrope"/>
                        </a:rPr>
                        <a:t>116</a:t>
                      </a:r>
                    </a:p>
                  </a:txBody>
                  <a:tcPr marL="45720" marR="45720" marT="18288" marB="18288" anchor="ctr">
                    <a:solidFill>
                      <a:srgbClr val="051412"/>
                    </a:solidFill>
                  </a:tcPr>
                </a:tc>
                <a:tc>
                  <a:txBody>
                    <a:bodyPr wrap="square"/>
                    <a:lstStyle/>
                    <a:p>
                      <a:pPr algn="r"/>
                      <a:r>
                        <a:rPr sz="1050" b="0">
                          <a:solidFill>
                            <a:srgbClr val="E8F2EC"/>
                          </a:solidFill>
                          <a:latin typeface="Manrope"/>
                        </a:rPr>
                        <a:t>25.0%</a:t>
                      </a:r>
                    </a:p>
                  </a:txBody>
                  <a:tcPr marL="45720" marR="45720" marT="18288" marB="18288" anchor="ctr">
                    <a:solidFill>
                      <a:srgbClr val="051412"/>
                    </a:solidFill>
                  </a:tcPr>
                </a:tc>
                <a:tc>
                  <a:txBody>
                    <a:bodyPr wrap="square"/>
                    <a:lstStyle/>
                    <a:p>
                      <a:pPr algn="r"/>
                      <a:r>
                        <a:rPr sz="1050" b="0">
                          <a:solidFill>
                            <a:srgbClr val="E8F2EC"/>
                          </a:solidFill>
                          <a:latin typeface="Manrope"/>
                        </a:rPr>
                        <a:t>£9,231</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£100 – £250</a:t>
                      </a:r>
                    </a:p>
                  </a:txBody>
                  <a:tcPr marL="45720" marR="45720" marT="18288" marB="18288" anchor="ctr">
                    <a:solidFill>
                      <a:srgbClr val="051412"/>
                    </a:solidFill>
                  </a:tcPr>
                </a:tc>
                <a:tc>
                  <a:txBody>
                    <a:bodyPr wrap="square"/>
                    <a:lstStyle/>
                    <a:p>
                      <a:pPr algn="r"/>
                      <a:r>
                        <a:rPr sz="1050" b="0">
                          <a:solidFill>
                            <a:srgbClr val="E8F2EC"/>
                          </a:solidFill>
                          <a:latin typeface="Manrope"/>
                        </a:rPr>
                        <a:t>177</a:t>
                      </a:r>
                    </a:p>
                  </a:txBody>
                  <a:tcPr marL="45720" marR="45720" marT="18288" marB="18288" anchor="ctr">
                    <a:solidFill>
                      <a:srgbClr val="051412"/>
                    </a:solidFill>
                  </a:tcPr>
                </a:tc>
                <a:tc>
                  <a:txBody>
                    <a:bodyPr wrap="square"/>
                    <a:lstStyle/>
                    <a:p>
                      <a:pPr algn="r"/>
                      <a:r>
                        <a:rPr sz="1050" b="0">
                          <a:solidFill>
                            <a:srgbClr val="E8F2EC"/>
                          </a:solidFill>
                          <a:latin typeface="Manrope"/>
                        </a:rPr>
                        <a:t>38.1%</a:t>
                      </a:r>
                    </a:p>
                  </a:txBody>
                  <a:tcPr marL="45720" marR="45720" marT="18288" marB="18288" anchor="ctr">
                    <a:solidFill>
                      <a:srgbClr val="051412"/>
                    </a:solidFill>
                  </a:tcPr>
                </a:tc>
                <a:tc>
                  <a:txBody>
                    <a:bodyPr wrap="square"/>
                    <a:lstStyle/>
                    <a:p>
                      <a:pPr algn="r"/>
                      <a:r>
                        <a:rPr sz="1050" b="0">
                          <a:solidFill>
                            <a:srgbClr val="E8F2EC"/>
                          </a:solidFill>
                          <a:latin typeface="Manrope"/>
                        </a:rPr>
                        <a:t>£26,693</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£250 – £500</a:t>
                      </a:r>
                    </a:p>
                  </a:txBody>
                  <a:tcPr marL="45720" marR="45720" marT="18288" marB="18288" anchor="ctr">
                    <a:solidFill>
                      <a:srgbClr val="051412"/>
                    </a:solidFill>
                  </a:tcPr>
                </a:tc>
                <a:tc>
                  <a:txBody>
                    <a:bodyPr wrap="square"/>
                    <a:lstStyle/>
                    <a:p>
                      <a:pPr algn="r"/>
                      <a:r>
                        <a:rPr sz="1050" b="0">
                          <a:solidFill>
                            <a:srgbClr val="E8F2EC"/>
                          </a:solidFill>
                          <a:latin typeface="Manrope"/>
                        </a:rPr>
                        <a:t>69</a:t>
                      </a:r>
                    </a:p>
                  </a:txBody>
                  <a:tcPr marL="45720" marR="45720" marT="18288" marB="18288" anchor="ctr">
                    <a:solidFill>
                      <a:srgbClr val="051412"/>
                    </a:solidFill>
                  </a:tcPr>
                </a:tc>
                <a:tc>
                  <a:txBody>
                    <a:bodyPr wrap="square"/>
                    <a:lstStyle/>
                    <a:p>
                      <a:pPr algn="r"/>
                      <a:r>
                        <a:rPr sz="1050" b="0">
                          <a:solidFill>
                            <a:srgbClr val="E8F2EC"/>
                          </a:solidFill>
                          <a:latin typeface="Manrope"/>
                        </a:rPr>
                        <a:t>14.9%</a:t>
                      </a:r>
                    </a:p>
                  </a:txBody>
                  <a:tcPr marL="45720" marR="45720" marT="18288" marB="18288" anchor="ctr">
                    <a:solidFill>
                      <a:srgbClr val="051412"/>
                    </a:solidFill>
                  </a:tcPr>
                </a:tc>
                <a:tc>
                  <a:txBody>
                    <a:bodyPr wrap="square"/>
                    <a:lstStyle/>
                    <a:p>
                      <a:pPr algn="r"/>
                      <a:r>
                        <a:rPr sz="1050" b="0">
                          <a:solidFill>
                            <a:srgbClr val="E8F2EC"/>
                          </a:solidFill>
                          <a:latin typeface="Manrope"/>
                        </a:rPr>
                        <a:t>£23,907</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£500 – £1,000</a:t>
                      </a:r>
                    </a:p>
                  </a:txBody>
                  <a:tcPr marL="45720" marR="45720" marT="18288" marB="18288" anchor="ctr">
                    <a:solidFill>
                      <a:srgbClr val="051412"/>
                    </a:solidFill>
                  </a:tcPr>
                </a:tc>
                <a:tc>
                  <a:txBody>
                    <a:bodyPr wrap="square"/>
                    <a:lstStyle/>
                    <a:p>
                      <a:pPr algn="r"/>
                      <a:r>
                        <a:rPr sz="1050" b="0">
                          <a:solidFill>
                            <a:srgbClr val="E8F2EC"/>
                          </a:solidFill>
                          <a:latin typeface="Manrope"/>
                        </a:rPr>
                        <a:t>38</a:t>
                      </a:r>
                    </a:p>
                  </a:txBody>
                  <a:tcPr marL="45720" marR="45720" marT="18288" marB="18288" anchor="ctr">
                    <a:solidFill>
                      <a:srgbClr val="051412"/>
                    </a:solidFill>
                  </a:tcPr>
                </a:tc>
                <a:tc>
                  <a:txBody>
                    <a:bodyPr wrap="square"/>
                    <a:lstStyle/>
                    <a:p>
                      <a:pPr algn="r"/>
                      <a:r>
                        <a:rPr sz="1050" b="0">
                          <a:solidFill>
                            <a:srgbClr val="E8F2EC"/>
                          </a:solidFill>
                          <a:latin typeface="Manrope"/>
                        </a:rPr>
                        <a:t>8.2%</a:t>
                      </a:r>
                    </a:p>
                  </a:txBody>
                  <a:tcPr marL="45720" marR="45720" marT="18288" marB="18288" anchor="ctr">
                    <a:solidFill>
                      <a:srgbClr val="051412"/>
                    </a:solidFill>
                  </a:tcPr>
                </a:tc>
                <a:tc>
                  <a:txBody>
                    <a:bodyPr wrap="square"/>
                    <a:lstStyle/>
                    <a:p>
                      <a:pPr algn="r"/>
                      <a:r>
                        <a:rPr sz="1050" b="0">
                          <a:solidFill>
                            <a:srgbClr val="E8F2EC"/>
                          </a:solidFill>
                          <a:latin typeface="Manrope"/>
                        </a:rPr>
                        <a:t>£25,988</a:t>
                      </a:r>
                    </a:p>
                  </a:txBody>
                  <a:tcPr marL="45720" marR="45720" marT="18288" marB="18288" anchor="ctr">
                    <a:solidFill>
                      <a:srgbClr val="051412"/>
                    </a:solidFill>
                  </a:tcPr>
                </a:tc>
              </a:tr>
              <a:tr h="274320">
                <a:tc>
                  <a:txBody>
                    <a:bodyPr wrap="square"/>
                    <a:lstStyle/>
                    <a:p>
                      <a:pPr algn="l"/>
                      <a:r>
                        <a:rPr sz="1050" b="1">
                          <a:solidFill>
                            <a:srgbClr val="8EFEBB"/>
                          </a:solidFill>
                          <a:latin typeface="Manrope"/>
                        </a:rPr>
                        <a:t>£1,000 and over</a:t>
                      </a:r>
                    </a:p>
                  </a:txBody>
                  <a:tcPr marL="45720" marR="45720" marT="18288" marB="18288" anchor="ctr">
                    <a:solidFill>
                      <a:srgbClr val="0B2A24"/>
                    </a:solidFill>
                  </a:tcPr>
                </a:tc>
                <a:tc>
                  <a:txBody>
                    <a:bodyPr wrap="square"/>
                    <a:lstStyle/>
                    <a:p>
                      <a:pPr algn="r"/>
                      <a:r>
                        <a:rPr sz="1050" b="1">
                          <a:solidFill>
                            <a:srgbClr val="8EFEBB"/>
                          </a:solidFill>
                          <a:latin typeface="Manrope"/>
                        </a:rPr>
                        <a:t>20</a:t>
                      </a:r>
                    </a:p>
                  </a:txBody>
                  <a:tcPr marL="45720" marR="45720" marT="18288" marB="18288" anchor="ctr">
                    <a:solidFill>
                      <a:srgbClr val="0B2A24"/>
                    </a:solidFill>
                  </a:tcPr>
                </a:tc>
                <a:tc>
                  <a:txBody>
                    <a:bodyPr wrap="square"/>
                    <a:lstStyle/>
                    <a:p>
                      <a:pPr algn="r"/>
                      <a:r>
                        <a:rPr sz="1050" b="1">
                          <a:solidFill>
                            <a:srgbClr val="8EFEBB"/>
                          </a:solidFill>
                          <a:latin typeface="Manrope"/>
                        </a:rPr>
                        <a:t>4.3%</a:t>
                      </a:r>
                    </a:p>
                  </a:txBody>
                  <a:tcPr marL="45720" marR="45720" marT="18288" marB="18288" anchor="ctr">
                    <a:solidFill>
                      <a:srgbClr val="0B2A24"/>
                    </a:solidFill>
                  </a:tcPr>
                </a:tc>
                <a:tc>
                  <a:txBody>
                    <a:bodyPr wrap="square"/>
                    <a:lstStyle/>
                    <a:p>
                      <a:pPr algn="r"/>
                      <a:r>
                        <a:rPr sz="1050" b="1">
                          <a:solidFill>
                            <a:srgbClr val="8EFEBB"/>
                          </a:solidFill>
                          <a:latin typeface="Manrope"/>
                        </a:rPr>
                        <a:t>£43,494</a:t>
                      </a:r>
                    </a:p>
                  </a:txBody>
                  <a:tcPr marL="45720" marR="45720" marT="18288" marB="18288" anchor="ctr">
                    <a:solidFill>
                      <a:srgbClr val="0B2A24"/>
                    </a:solidFill>
                  </a:tcPr>
                </a:tc>
              </a:tr>
            </a:tbl>
          </a:graphicData>
        </a:graphic>
      </p:graphicFrame>
      <p:sp>
        <p:nvSpPr>
          <p:cNvPr id="11" name="Rounded Rectangle 10"/>
          <p:cNvSpPr/>
          <p:nvPr/>
        </p:nvSpPr>
        <p:spPr>
          <a:xfrm>
            <a:off x="566928" y="4151376"/>
            <a:ext cx="5760720" cy="150876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 y="4334256"/>
            <a:ext cx="3657600" cy="182880"/>
          </a:xfrm>
          <a:prstGeom prst="rect">
            <a:avLst/>
          </a:prstGeom>
          <a:noFill/>
        </p:spPr>
        <p:txBody>
          <a:bodyPr wrap="square" lIns="0" rIns="0" tIns="0" bIns="0" anchor="t">
            <a:spAutoFit/>
          </a:bodyPr>
          <a:lstStyle/>
          <a:p>
            <a:pPr algn="l"/>
            <a:r>
              <a:rPr sz="850" b="1" i="0" spc="160">
                <a:solidFill>
                  <a:srgbClr val="8EFEBB"/>
                </a:solidFill>
                <a:latin typeface="Manrope"/>
              </a:rPr>
              <a:t>ABANDONED AT CHECKOUT, PER MONTH</a:t>
            </a:r>
          </a:p>
        </p:txBody>
      </p:sp>
      <p:sp>
        <p:nvSpPr>
          <p:cNvPr id="13" name="TextBox 12"/>
          <p:cNvSpPr txBox="1"/>
          <p:nvPr/>
        </p:nvSpPr>
        <p:spPr>
          <a:xfrm>
            <a:off x="804672" y="4572000"/>
            <a:ext cx="3657600" cy="502920"/>
          </a:xfrm>
          <a:prstGeom prst="rect">
            <a:avLst/>
          </a:prstGeom>
          <a:noFill/>
        </p:spPr>
        <p:txBody>
          <a:bodyPr wrap="square" lIns="0" rIns="0" tIns="0" bIns="0" anchor="t">
            <a:spAutoFit/>
          </a:bodyPr>
          <a:lstStyle/>
          <a:p>
            <a:pPr algn="l"/>
            <a:r>
              <a:rPr sz="3400" b="1" i="0" spc="-60">
                <a:solidFill>
                  <a:srgbClr val="8EFEBB"/>
                </a:solidFill>
                <a:latin typeface="Manrope"/>
              </a:rPr>
              <a:t>£65,452</a:t>
            </a:r>
          </a:p>
        </p:txBody>
      </p:sp>
      <p:sp>
        <p:nvSpPr>
          <p:cNvPr id="14" name="TextBox 13"/>
          <p:cNvSpPr txBox="1"/>
          <p:nvPr/>
        </p:nvSpPr>
        <p:spPr>
          <a:xfrm>
            <a:off x="804672" y="5084064"/>
            <a:ext cx="5303520" cy="457200"/>
          </a:xfrm>
          <a:prstGeom prst="rect">
            <a:avLst/>
          </a:prstGeom>
          <a:noFill/>
        </p:spPr>
        <p:txBody>
          <a:bodyPr wrap="square" lIns="0" rIns="0" tIns="0" bIns="0">
            <a:spAutoFit/>
          </a:bodyPr>
          <a:lstStyle/>
          <a:p>
            <a:pPr>
              <a:lnSpc>
                <a:spcPct val="135000"/>
              </a:lnSpc>
              <a:spcAft>
                <a:spcPts val="0"/>
              </a:spcAft>
            </a:pPr>
            <a:r>
              <a:rPr sz="1100" b="0" i="0">
                <a:solidFill>
                  <a:srgbClr val="B9C7C0"/>
                </a:solidFill>
                <a:latin typeface="Manrope"/>
              </a:rPr>
              <a:t>Recovering a tenth of it is </a:t>
            </a:r>
            <a:r>
              <a:rPr sz="1100" b="1" i="0">
                <a:solidFill>
                  <a:srgbClr val="FFFFFF"/>
                </a:solidFill>
                <a:latin typeface="Manrope"/>
              </a:rPr>
              <a:t>£6,545 a month, £78,542 a year</a:t>
            </a:r>
            <a:r>
              <a:rPr sz="1100" b="0" i="0">
                <a:solidFill>
                  <a:srgbClr val="B9C7C0"/>
                </a:solidFill>
                <a:latin typeface="Manrope"/>
              </a:rPr>
              <a:t> — and abandoned-checkout email is not currently running.</a:t>
            </a:r>
          </a:p>
        </p:txBody>
      </p:sp>
      <p:sp>
        <p:nvSpPr>
          <p:cNvPr id="15" name="Rounded Rectangle 14"/>
          <p:cNvSpPr/>
          <p:nvPr/>
        </p:nvSpPr>
        <p:spPr>
          <a:xfrm>
            <a:off x="6601968" y="2029968"/>
            <a:ext cx="5022799" cy="1170432"/>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39712" y="2194560"/>
            <a:ext cx="4565599" cy="274320"/>
          </a:xfrm>
          <a:prstGeom prst="rect">
            <a:avLst/>
          </a:prstGeom>
          <a:noFill/>
        </p:spPr>
        <p:txBody>
          <a:bodyPr wrap="square" lIns="0" rIns="0" tIns="0" bIns="0" anchor="t">
            <a:spAutoFit/>
          </a:bodyPr>
          <a:lstStyle/>
          <a:p>
            <a:pPr algn="l"/>
            <a:r>
              <a:rPr sz="1200" b="1" i="0">
                <a:solidFill>
                  <a:srgbClr val="FFFFFF"/>
                </a:solidFill>
                <a:latin typeface="Manrope"/>
              </a:rPr>
              <a:t>9.5% were structurally incapable of completing</a:t>
            </a:r>
          </a:p>
        </p:txBody>
      </p:sp>
      <p:sp>
        <p:nvSpPr>
          <p:cNvPr id="17" name="TextBox 16"/>
          <p:cNvSpPr txBox="1"/>
          <p:nvPr/>
        </p:nvSpPr>
        <p:spPr>
          <a:xfrm>
            <a:off x="6839712" y="2523744"/>
            <a:ext cx="4565599" cy="621792"/>
          </a:xfrm>
          <a:prstGeom prst="rect">
            <a:avLst/>
          </a:prstGeom>
          <a:noFill/>
        </p:spPr>
        <p:txBody>
          <a:bodyPr wrap="square" lIns="0" rIns="0" tIns="0" bIns="0">
            <a:spAutoFit/>
          </a:bodyPr>
          <a:lstStyle/>
          <a:p>
            <a:pPr>
              <a:lnSpc>
                <a:spcPct val="135000"/>
              </a:lnSpc>
              <a:spcAft>
                <a:spcPts val="0"/>
              </a:spcAft>
            </a:pPr>
            <a:r>
              <a:rPr sz="980" b="0" i="0">
                <a:solidFill>
                  <a:srgbClr val="B9C7C0"/>
                </a:solidFill>
                <a:latin typeface="Manrope"/>
              </a:rPr>
              <a:t>Forty-four abandoned baskets sat under the £50 minimum. Those customers could not check out however much they wanted to — the rejection came at the final step. This is exactly the trap the wave 1 gate closes, and it is already built.</a:t>
            </a:r>
          </a:p>
        </p:txBody>
      </p:sp>
      <p:sp>
        <p:nvSpPr>
          <p:cNvPr id="18" name="Rounded Rectangle 17"/>
          <p:cNvSpPr/>
          <p:nvPr/>
        </p:nvSpPr>
        <p:spPr>
          <a:xfrm>
            <a:off x="6601968" y="3328416"/>
            <a:ext cx="5022799" cy="1170432"/>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39712" y="3493008"/>
            <a:ext cx="4565599" cy="274320"/>
          </a:xfrm>
          <a:prstGeom prst="rect">
            <a:avLst/>
          </a:prstGeom>
          <a:noFill/>
        </p:spPr>
        <p:txBody>
          <a:bodyPr wrap="square" lIns="0" rIns="0" tIns="0" bIns="0" anchor="t">
            <a:spAutoFit/>
          </a:bodyPr>
          <a:lstStyle/>
          <a:p>
            <a:pPr algn="l"/>
            <a:r>
              <a:rPr sz="1200" b="1" i="0">
                <a:solidFill>
                  <a:srgbClr val="FFFFFF"/>
                </a:solidFill>
                <a:latin typeface="Manrope"/>
              </a:rPr>
              <a:t>The biggest baskets abandon most expensively</a:t>
            </a:r>
          </a:p>
        </p:txBody>
      </p:sp>
      <p:sp>
        <p:nvSpPr>
          <p:cNvPr id="20" name="TextBox 19"/>
          <p:cNvSpPr txBox="1"/>
          <p:nvPr/>
        </p:nvSpPr>
        <p:spPr>
          <a:xfrm>
            <a:off x="6839712" y="3822191"/>
            <a:ext cx="4565599" cy="621792"/>
          </a:xfrm>
          <a:prstGeom prst="rect">
            <a:avLst/>
          </a:prstGeom>
          <a:noFill/>
        </p:spPr>
        <p:txBody>
          <a:bodyPr wrap="square" lIns="0" rIns="0" tIns="0" bIns="0">
            <a:spAutoFit/>
          </a:bodyPr>
          <a:lstStyle/>
          <a:p>
            <a:pPr>
              <a:lnSpc>
                <a:spcPct val="135000"/>
              </a:lnSpc>
              <a:spcAft>
                <a:spcPts val="0"/>
              </a:spcAft>
            </a:pPr>
            <a:r>
              <a:rPr sz="980" b="0" i="0">
                <a:solidFill>
                  <a:srgbClr val="B9C7C0"/>
                </a:solidFill>
                <a:latin typeface="Manrope"/>
              </a:rPr>
              <a:t>Twenty abandoned baskets over £1,000 carry £43,494 — a third of the total value from 4.3% of abandonments. These are precisely the orders most exposed to the nine-second add to cart and the £0.00 drawer.</a:t>
            </a:r>
          </a:p>
        </p:txBody>
      </p:sp>
      <p:sp>
        <p:nvSpPr>
          <p:cNvPr id="21" name="Rounded Rectangle 20"/>
          <p:cNvSpPr/>
          <p:nvPr/>
        </p:nvSpPr>
        <p:spPr>
          <a:xfrm>
            <a:off x="6601968" y="4626864"/>
            <a:ext cx="5022799" cy="1170432"/>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39712" y="4791456"/>
            <a:ext cx="4565599" cy="274320"/>
          </a:xfrm>
          <a:prstGeom prst="rect">
            <a:avLst/>
          </a:prstGeom>
          <a:noFill/>
        </p:spPr>
        <p:txBody>
          <a:bodyPr wrap="square" lIns="0" rIns="0" tIns="0" bIns="0" anchor="t">
            <a:spAutoFit/>
          </a:bodyPr>
          <a:lstStyle/>
          <a:p>
            <a:pPr algn="l"/>
            <a:r>
              <a:rPr sz="1200" b="1" i="0">
                <a:solidFill>
                  <a:srgbClr val="8EFEBB"/>
                </a:solidFill>
                <a:latin typeface="Manrope"/>
              </a:rPr>
              <a:t>Two fixes, both cheap</a:t>
            </a:r>
          </a:p>
        </p:txBody>
      </p:sp>
      <p:sp>
        <p:nvSpPr>
          <p:cNvPr id="23" name="TextBox 22"/>
          <p:cNvSpPr txBox="1"/>
          <p:nvPr/>
        </p:nvSpPr>
        <p:spPr>
          <a:xfrm>
            <a:off x="6839712" y="5120640"/>
            <a:ext cx="4565599" cy="621792"/>
          </a:xfrm>
          <a:prstGeom prst="rect">
            <a:avLst/>
          </a:prstGeom>
          <a:noFill/>
        </p:spPr>
        <p:txBody>
          <a:bodyPr wrap="square" lIns="0" rIns="0" tIns="0" bIns="0">
            <a:spAutoFit/>
          </a:bodyPr>
          <a:lstStyle/>
          <a:p>
            <a:pPr>
              <a:lnSpc>
                <a:spcPct val="135000"/>
              </a:lnSpc>
              <a:spcAft>
                <a:spcPts val="0"/>
              </a:spcAft>
            </a:pPr>
            <a:r>
              <a:rPr sz="980" b="0" i="0">
                <a:solidFill>
                  <a:srgbClr val="B9C7C0"/>
                </a:solidFill>
                <a:latin typeface="Manrope"/>
              </a:rPr>
              <a:t>The funnel work already merged addresses the mechanical causes. The recovery email — which does not exist — addresses the rest. Together they are the clearest example in this deck of revenue that needs no new traffic, no new products and no new budget.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07 · LEVER · ORGANIC</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610,000 impressions a month, converting at </a:t>
            </a:r>
            <a:r>
              <a:rPr sz="2700" b="1" i="1" spc="-70">
                <a:solidFill>
                  <a:srgbClr val="8EFEBB"/>
                </a:solidFill>
                <a:latin typeface="Instrument Serif"/>
              </a:rPr>
              <a:t>1.09%</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Ranking fourth and taking zero clicks from thousands of impressions is not a ranking problem. It is a presentation problem.</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11</a:t>
            </a:r>
          </a:p>
        </p:txBody>
      </p:sp>
      <p:sp>
        <p:nvSpPr>
          <p:cNvPr id="9" name="TextBox 8"/>
          <p:cNvSpPr txBox="1"/>
          <p:nvPr/>
        </p:nvSpPr>
        <p:spPr>
          <a:xfrm>
            <a:off x="566928" y="2029968"/>
            <a:ext cx="5394960" cy="182880"/>
          </a:xfrm>
          <a:prstGeom prst="rect">
            <a:avLst/>
          </a:prstGeom>
          <a:noFill/>
        </p:spPr>
        <p:txBody>
          <a:bodyPr wrap="square" lIns="0" rIns="0" tIns="0" bIns="0" anchor="t">
            <a:spAutoFit/>
          </a:bodyPr>
          <a:lstStyle/>
          <a:p>
            <a:pPr algn="l"/>
            <a:r>
              <a:rPr sz="850" b="1" i="0" spc="160">
                <a:solidFill>
                  <a:srgbClr val="6B7B74"/>
                </a:solidFill>
                <a:latin typeface="Manrope"/>
              </a:rPr>
              <a:t>RANKING ON PAGE ONE, TAKING NO CLICKS</a:t>
            </a:r>
          </a:p>
        </p:txBody>
      </p:sp>
      <p:graphicFrame>
        <p:nvGraphicFramePr>
          <p:cNvPr id="10" name="Table 9"/>
          <p:cNvGraphicFramePr>
            <a:graphicFrameLocks noGrp="1"/>
          </p:cNvGraphicFramePr>
          <p:nvPr/>
        </p:nvGraphicFramePr>
        <p:xfrm>
          <a:off x="566928" y="2286000"/>
          <a:ext cx="5394957" cy="1920240"/>
        </p:xfrm>
        <a:graphic>
          <a:graphicData uri="http://schemas.openxmlformats.org/drawingml/2006/table">
            <a:tbl>
              <a:tblPr firstRow="1" bandRow="1">
                <a:tableStyleId>{5C22544A-7EE6-4342-B048-85BDC9FD1C3A}</a:tableStyleId>
              </a:tblPr>
              <a:tblGrid>
                <a:gridCol w="1945723"/>
                <a:gridCol w="840198"/>
                <a:gridCol w="1061303"/>
                <a:gridCol w="707535"/>
                <a:gridCol w="840198"/>
              </a:tblGrid>
              <a:tr h="274320">
                <a:tc>
                  <a:txBody>
                    <a:bodyPr wrap="square"/>
                    <a:lstStyle/>
                    <a:p>
                      <a:pPr algn="l"/>
                      <a:r>
                        <a:rPr sz="780" b="1">
                          <a:solidFill>
                            <a:srgbClr val="6B7B74"/>
                          </a:solidFill>
                          <a:latin typeface="Manrope"/>
                        </a:rPr>
                        <a:t>QUERY</a:t>
                      </a:r>
                    </a:p>
                  </a:txBody>
                  <a:tcPr marL="45720" marR="45720" marT="18288" marB="18288" anchor="ctr">
                    <a:solidFill>
                      <a:srgbClr val="051412"/>
                    </a:solidFill>
                  </a:tcPr>
                </a:tc>
                <a:tc>
                  <a:txBody>
                    <a:bodyPr wrap="square"/>
                    <a:lstStyle/>
                    <a:p>
                      <a:pPr algn="r"/>
                      <a:r>
                        <a:rPr sz="780" b="1">
                          <a:solidFill>
                            <a:srgbClr val="6B7B74"/>
                          </a:solidFill>
                          <a:latin typeface="Manrope"/>
                        </a:rPr>
                        <a:t>POSITION</a:t>
                      </a:r>
                    </a:p>
                  </a:txBody>
                  <a:tcPr marL="45720" marR="45720" marT="18288" marB="18288" anchor="ctr">
                    <a:solidFill>
                      <a:srgbClr val="051412"/>
                    </a:solidFill>
                  </a:tcPr>
                </a:tc>
                <a:tc>
                  <a:txBody>
                    <a:bodyPr wrap="square"/>
                    <a:lstStyle/>
                    <a:p>
                      <a:pPr algn="r"/>
                      <a:r>
                        <a:rPr sz="780" b="1">
                          <a:solidFill>
                            <a:srgbClr val="6B7B74"/>
                          </a:solidFill>
                          <a:latin typeface="Manrope"/>
                        </a:rPr>
                        <a:t>IMPRESSIONS</a:t>
                      </a:r>
                    </a:p>
                  </a:txBody>
                  <a:tcPr marL="45720" marR="45720" marT="18288" marB="18288" anchor="ctr">
                    <a:solidFill>
                      <a:srgbClr val="051412"/>
                    </a:solidFill>
                  </a:tcPr>
                </a:tc>
                <a:tc>
                  <a:txBody>
                    <a:bodyPr wrap="square"/>
                    <a:lstStyle/>
                    <a:p>
                      <a:pPr algn="r"/>
                      <a:r>
                        <a:rPr sz="780" b="1">
                          <a:solidFill>
                            <a:srgbClr val="6B7B74"/>
                          </a:solidFill>
                          <a:latin typeface="Manrope"/>
                        </a:rPr>
                        <a:t>CLICKS</a:t>
                      </a:r>
                    </a:p>
                  </a:txBody>
                  <a:tcPr marL="45720" marR="45720" marT="18288" marB="18288" anchor="ctr">
                    <a:solidFill>
                      <a:srgbClr val="051412"/>
                    </a:solidFill>
                  </a:tcPr>
                </a:tc>
                <a:tc>
                  <a:txBody>
                    <a:bodyPr wrap="square"/>
                    <a:lstStyle/>
                    <a:p>
                      <a:pPr algn="r"/>
                      <a:r>
                        <a:rPr sz="780" b="1">
                          <a:solidFill>
                            <a:srgbClr val="6B7B74"/>
                          </a:solidFill>
                          <a:latin typeface="Manrope"/>
                        </a:rPr>
                        <a:t>CTR</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architrave corner mouldings</a:t>
                      </a:r>
                    </a:p>
                  </a:txBody>
                  <a:tcPr marL="45720" marR="45720" marT="18288" marB="18288" anchor="ctr">
                    <a:solidFill>
                      <a:srgbClr val="051412"/>
                    </a:solidFill>
                  </a:tcPr>
                </a:tc>
                <a:tc>
                  <a:txBody>
                    <a:bodyPr wrap="square"/>
                    <a:lstStyle/>
                    <a:p>
                      <a:pPr algn="r"/>
                      <a:r>
                        <a:rPr sz="1050" b="0">
                          <a:solidFill>
                            <a:srgbClr val="E8F2EC"/>
                          </a:solidFill>
                          <a:latin typeface="Manrope"/>
                        </a:rPr>
                        <a:t>5.2</a:t>
                      </a:r>
                    </a:p>
                  </a:txBody>
                  <a:tcPr marL="45720" marR="45720" marT="18288" marB="18288" anchor="ctr">
                    <a:solidFill>
                      <a:srgbClr val="051412"/>
                    </a:solidFill>
                  </a:tcPr>
                </a:tc>
                <a:tc>
                  <a:txBody>
                    <a:bodyPr wrap="square"/>
                    <a:lstStyle/>
                    <a:p>
                      <a:pPr algn="r"/>
                      <a:r>
                        <a:rPr sz="1050" b="0">
                          <a:solidFill>
                            <a:srgbClr val="E8F2EC"/>
                          </a:solidFill>
                          <a:latin typeface="Manrope"/>
                        </a:rPr>
                        <a:t>5,981</a:t>
                      </a:r>
                    </a:p>
                  </a:txBody>
                  <a:tcPr marL="45720" marR="45720" marT="18288" marB="18288" anchor="ctr">
                    <a:solidFill>
                      <a:srgbClr val="051412"/>
                    </a:solidFill>
                  </a:tcPr>
                </a:tc>
                <a:tc>
                  <a:txBody>
                    <a:bodyPr wrap="square"/>
                    <a:lstStyle/>
                    <a:p>
                      <a:pPr algn="r"/>
                      <a:r>
                        <a:rPr sz="1050" b="0">
                          <a:solidFill>
                            <a:srgbClr val="E8F2EC"/>
                          </a:solidFill>
                          <a:latin typeface="Manrope"/>
                        </a:rPr>
                        <a:t>0</a:t>
                      </a:r>
                    </a:p>
                  </a:txBody>
                  <a:tcPr marL="45720" marR="45720" marT="18288" marB="18288" anchor="ctr">
                    <a:solidFill>
                      <a:srgbClr val="051412"/>
                    </a:solidFill>
                  </a:tcPr>
                </a:tc>
                <a:tc>
                  <a:txBody>
                    <a:bodyPr wrap="square"/>
                    <a:lstStyle/>
                    <a:p>
                      <a:pPr algn="r"/>
                      <a:r>
                        <a:rPr sz="1050" b="0">
                          <a:solidFill>
                            <a:srgbClr val="E8F2EC"/>
                          </a:solidFill>
                          <a:latin typeface="Manrope"/>
                        </a:rPr>
                        <a:t>0.00%</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decorative mdf mouldings</a:t>
                      </a:r>
                    </a:p>
                  </a:txBody>
                  <a:tcPr marL="45720" marR="45720" marT="18288" marB="18288" anchor="ctr">
                    <a:solidFill>
                      <a:srgbClr val="051412"/>
                    </a:solidFill>
                  </a:tcPr>
                </a:tc>
                <a:tc>
                  <a:txBody>
                    <a:bodyPr wrap="square"/>
                    <a:lstStyle/>
                    <a:p>
                      <a:pPr algn="r"/>
                      <a:r>
                        <a:rPr sz="1050" b="0">
                          <a:solidFill>
                            <a:srgbClr val="E8F2EC"/>
                          </a:solidFill>
                          <a:latin typeface="Manrope"/>
                        </a:rPr>
                        <a:t>4.4</a:t>
                      </a:r>
                    </a:p>
                  </a:txBody>
                  <a:tcPr marL="45720" marR="45720" marT="18288" marB="18288" anchor="ctr">
                    <a:solidFill>
                      <a:srgbClr val="051412"/>
                    </a:solidFill>
                  </a:tcPr>
                </a:tc>
                <a:tc>
                  <a:txBody>
                    <a:bodyPr wrap="square"/>
                    <a:lstStyle/>
                    <a:p>
                      <a:pPr algn="r"/>
                      <a:r>
                        <a:rPr sz="1050" b="0">
                          <a:solidFill>
                            <a:srgbClr val="E8F2EC"/>
                          </a:solidFill>
                          <a:latin typeface="Manrope"/>
                        </a:rPr>
                        <a:t>3,572</a:t>
                      </a:r>
                    </a:p>
                  </a:txBody>
                  <a:tcPr marL="45720" marR="45720" marT="18288" marB="18288" anchor="ctr">
                    <a:solidFill>
                      <a:srgbClr val="051412"/>
                    </a:solidFill>
                  </a:tcPr>
                </a:tc>
                <a:tc>
                  <a:txBody>
                    <a:bodyPr wrap="square"/>
                    <a:lstStyle/>
                    <a:p>
                      <a:pPr algn="r"/>
                      <a:r>
                        <a:rPr sz="1050" b="0">
                          <a:solidFill>
                            <a:srgbClr val="E8F2EC"/>
                          </a:solidFill>
                          <a:latin typeface="Manrope"/>
                        </a:rPr>
                        <a:t>0</a:t>
                      </a:r>
                    </a:p>
                  </a:txBody>
                  <a:tcPr marL="45720" marR="45720" marT="18288" marB="18288" anchor="ctr">
                    <a:solidFill>
                      <a:srgbClr val="051412"/>
                    </a:solidFill>
                  </a:tcPr>
                </a:tc>
                <a:tc>
                  <a:txBody>
                    <a:bodyPr wrap="square"/>
                    <a:lstStyle/>
                    <a:p>
                      <a:pPr algn="r"/>
                      <a:r>
                        <a:rPr sz="1050" b="0">
                          <a:solidFill>
                            <a:srgbClr val="E8F2EC"/>
                          </a:solidFill>
                          <a:latin typeface="Manrope"/>
                        </a:rPr>
                        <a:t>0.00%</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mouldings and skirtings</a:t>
                      </a:r>
                    </a:p>
                  </a:txBody>
                  <a:tcPr marL="45720" marR="45720" marT="18288" marB="18288" anchor="ctr">
                    <a:solidFill>
                      <a:srgbClr val="051412"/>
                    </a:solidFill>
                  </a:tcPr>
                </a:tc>
                <a:tc>
                  <a:txBody>
                    <a:bodyPr wrap="square"/>
                    <a:lstStyle/>
                    <a:p>
                      <a:pPr algn="r"/>
                      <a:r>
                        <a:rPr sz="1050" b="0">
                          <a:solidFill>
                            <a:srgbClr val="E8F2EC"/>
                          </a:solidFill>
                          <a:latin typeface="Manrope"/>
                        </a:rPr>
                        <a:t>6.7</a:t>
                      </a:r>
                    </a:p>
                  </a:txBody>
                  <a:tcPr marL="45720" marR="45720" marT="18288" marB="18288" anchor="ctr">
                    <a:solidFill>
                      <a:srgbClr val="051412"/>
                    </a:solidFill>
                  </a:tcPr>
                </a:tc>
                <a:tc>
                  <a:txBody>
                    <a:bodyPr wrap="square"/>
                    <a:lstStyle/>
                    <a:p>
                      <a:pPr algn="r"/>
                      <a:r>
                        <a:rPr sz="1050" b="0">
                          <a:solidFill>
                            <a:srgbClr val="E8F2EC"/>
                          </a:solidFill>
                          <a:latin typeface="Manrope"/>
                        </a:rPr>
                        <a:t>4,755</a:t>
                      </a:r>
                    </a:p>
                  </a:txBody>
                  <a:tcPr marL="45720" marR="45720" marT="18288" marB="18288" anchor="ctr">
                    <a:solidFill>
                      <a:srgbClr val="051412"/>
                    </a:solidFill>
                  </a:tcPr>
                </a:tc>
                <a:tc>
                  <a:txBody>
                    <a:bodyPr wrap="square"/>
                    <a:lstStyle/>
                    <a:p>
                      <a:pPr algn="r"/>
                      <a:r>
                        <a:rPr sz="1050" b="0">
                          <a:solidFill>
                            <a:srgbClr val="E8F2EC"/>
                          </a:solidFill>
                          <a:latin typeface="Manrope"/>
                        </a:rPr>
                        <a:t>0</a:t>
                      </a:r>
                    </a:p>
                  </a:txBody>
                  <a:tcPr marL="45720" marR="45720" marT="18288" marB="18288" anchor="ctr">
                    <a:solidFill>
                      <a:srgbClr val="051412"/>
                    </a:solidFill>
                  </a:tcPr>
                </a:tc>
                <a:tc>
                  <a:txBody>
                    <a:bodyPr wrap="square"/>
                    <a:lstStyle/>
                    <a:p>
                      <a:pPr algn="r"/>
                      <a:r>
                        <a:rPr sz="1050" b="0">
                          <a:solidFill>
                            <a:srgbClr val="E8F2EC"/>
                          </a:solidFill>
                          <a:latin typeface="Manrope"/>
                        </a:rPr>
                        <a:t>0.00%</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mdf mouldings near me</a:t>
                      </a:r>
                    </a:p>
                  </a:txBody>
                  <a:tcPr marL="45720" marR="45720" marT="18288" marB="18288" anchor="ctr">
                    <a:solidFill>
                      <a:srgbClr val="051412"/>
                    </a:solidFill>
                  </a:tcPr>
                </a:tc>
                <a:tc>
                  <a:txBody>
                    <a:bodyPr wrap="square"/>
                    <a:lstStyle/>
                    <a:p>
                      <a:pPr algn="r"/>
                      <a:r>
                        <a:rPr sz="1050" b="0">
                          <a:solidFill>
                            <a:srgbClr val="E8F2EC"/>
                          </a:solidFill>
                          <a:latin typeface="Manrope"/>
                        </a:rPr>
                        <a:t>6.6</a:t>
                      </a:r>
                    </a:p>
                  </a:txBody>
                  <a:tcPr marL="45720" marR="45720" marT="18288" marB="18288" anchor="ctr">
                    <a:solidFill>
                      <a:srgbClr val="051412"/>
                    </a:solidFill>
                  </a:tcPr>
                </a:tc>
                <a:tc>
                  <a:txBody>
                    <a:bodyPr wrap="square"/>
                    <a:lstStyle/>
                    <a:p>
                      <a:pPr algn="r"/>
                      <a:r>
                        <a:rPr sz="1050" b="0">
                          <a:solidFill>
                            <a:srgbClr val="E8F2EC"/>
                          </a:solidFill>
                          <a:latin typeface="Manrope"/>
                        </a:rPr>
                        <a:t>2,082</a:t>
                      </a:r>
                    </a:p>
                  </a:txBody>
                  <a:tcPr marL="45720" marR="45720" marT="18288" marB="18288" anchor="ctr">
                    <a:solidFill>
                      <a:srgbClr val="051412"/>
                    </a:solidFill>
                  </a:tcPr>
                </a:tc>
                <a:tc>
                  <a:txBody>
                    <a:bodyPr wrap="square"/>
                    <a:lstStyle/>
                    <a:p>
                      <a:pPr algn="r"/>
                      <a:r>
                        <a:rPr sz="1050" b="0">
                          <a:solidFill>
                            <a:srgbClr val="E8F2EC"/>
                          </a:solidFill>
                          <a:latin typeface="Manrope"/>
                        </a:rPr>
                        <a:t>0</a:t>
                      </a:r>
                    </a:p>
                  </a:txBody>
                  <a:tcPr marL="45720" marR="45720" marT="18288" marB="18288" anchor="ctr">
                    <a:solidFill>
                      <a:srgbClr val="051412"/>
                    </a:solidFill>
                  </a:tcPr>
                </a:tc>
                <a:tc>
                  <a:txBody>
                    <a:bodyPr wrap="square"/>
                    <a:lstStyle/>
                    <a:p>
                      <a:pPr algn="r"/>
                      <a:r>
                        <a:rPr sz="1050" b="0">
                          <a:solidFill>
                            <a:srgbClr val="E8F2EC"/>
                          </a:solidFill>
                          <a:latin typeface="Manrope"/>
                        </a:rPr>
                        <a:t>0.00%</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stepped architrave</a:t>
                      </a:r>
                    </a:p>
                  </a:txBody>
                  <a:tcPr marL="45720" marR="45720" marT="18288" marB="18288" anchor="ctr">
                    <a:solidFill>
                      <a:srgbClr val="051412"/>
                    </a:solidFill>
                  </a:tcPr>
                </a:tc>
                <a:tc>
                  <a:txBody>
                    <a:bodyPr wrap="square"/>
                    <a:lstStyle/>
                    <a:p>
                      <a:pPr algn="r"/>
                      <a:r>
                        <a:rPr sz="1050" b="0">
                          <a:solidFill>
                            <a:srgbClr val="E8F2EC"/>
                          </a:solidFill>
                          <a:latin typeface="Manrope"/>
                        </a:rPr>
                        <a:t>4.8</a:t>
                      </a:r>
                    </a:p>
                  </a:txBody>
                  <a:tcPr marL="45720" marR="45720" marT="18288" marB="18288" anchor="ctr">
                    <a:solidFill>
                      <a:srgbClr val="051412"/>
                    </a:solidFill>
                  </a:tcPr>
                </a:tc>
                <a:tc>
                  <a:txBody>
                    <a:bodyPr wrap="square"/>
                    <a:lstStyle/>
                    <a:p>
                      <a:pPr algn="r"/>
                      <a:r>
                        <a:rPr sz="1050" b="0">
                          <a:solidFill>
                            <a:srgbClr val="E8F2EC"/>
                          </a:solidFill>
                          <a:latin typeface="Manrope"/>
                        </a:rPr>
                        <a:t>8,633</a:t>
                      </a:r>
                    </a:p>
                  </a:txBody>
                  <a:tcPr marL="45720" marR="45720" marT="18288" marB="18288" anchor="ctr">
                    <a:solidFill>
                      <a:srgbClr val="051412"/>
                    </a:solidFill>
                  </a:tcPr>
                </a:tc>
                <a:tc>
                  <a:txBody>
                    <a:bodyPr wrap="square"/>
                    <a:lstStyle/>
                    <a:p>
                      <a:pPr algn="r"/>
                      <a:r>
                        <a:rPr sz="1050" b="0">
                          <a:solidFill>
                            <a:srgbClr val="E8F2EC"/>
                          </a:solidFill>
                          <a:latin typeface="Manrope"/>
                        </a:rPr>
                        <a:t>4</a:t>
                      </a:r>
                    </a:p>
                  </a:txBody>
                  <a:tcPr marL="45720" marR="45720" marT="18288" marB="18288" anchor="ctr">
                    <a:solidFill>
                      <a:srgbClr val="051412"/>
                    </a:solidFill>
                  </a:tcPr>
                </a:tc>
                <a:tc>
                  <a:txBody>
                    <a:bodyPr wrap="square"/>
                    <a:lstStyle/>
                    <a:p>
                      <a:pPr algn="r"/>
                      <a:r>
                        <a:rPr sz="1050" b="0">
                          <a:solidFill>
                            <a:srgbClr val="E8F2EC"/>
                          </a:solidFill>
                          <a:latin typeface="Manrope"/>
                        </a:rPr>
                        <a:t>0.05%</a:t>
                      </a:r>
                    </a:p>
                  </a:txBody>
                  <a:tcPr marL="45720" marR="45720" marT="18288" marB="18288" anchor="ctr">
                    <a:solidFill>
                      <a:srgbClr val="051412"/>
                    </a:solidFill>
                  </a:tcPr>
                </a:tc>
              </a:tr>
              <a:tr h="274320">
                <a:tc>
                  <a:txBody>
                    <a:bodyPr wrap="square"/>
                    <a:lstStyle/>
                    <a:p>
                      <a:pPr algn="l"/>
                      <a:r>
                        <a:rPr sz="1050" b="0">
                          <a:solidFill>
                            <a:srgbClr val="E8F2EC"/>
                          </a:solidFill>
                          <a:latin typeface="Manrope"/>
                        </a:rPr>
                        <a:t>architrave around windows</a:t>
                      </a:r>
                    </a:p>
                  </a:txBody>
                  <a:tcPr marL="45720" marR="45720" marT="18288" marB="18288" anchor="ctr">
                    <a:solidFill>
                      <a:srgbClr val="051412"/>
                    </a:solidFill>
                  </a:tcPr>
                </a:tc>
                <a:tc>
                  <a:txBody>
                    <a:bodyPr wrap="square"/>
                    <a:lstStyle/>
                    <a:p>
                      <a:pPr algn="r"/>
                      <a:r>
                        <a:rPr sz="1050" b="0">
                          <a:solidFill>
                            <a:srgbClr val="E8F2EC"/>
                          </a:solidFill>
                          <a:latin typeface="Manrope"/>
                        </a:rPr>
                        <a:t>8.3</a:t>
                      </a:r>
                    </a:p>
                  </a:txBody>
                  <a:tcPr marL="45720" marR="45720" marT="18288" marB="18288" anchor="ctr">
                    <a:solidFill>
                      <a:srgbClr val="051412"/>
                    </a:solidFill>
                  </a:tcPr>
                </a:tc>
                <a:tc>
                  <a:txBody>
                    <a:bodyPr wrap="square"/>
                    <a:lstStyle/>
                    <a:p>
                      <a:pPr algn="r"/>
                      <a:r>
                        <a:rPr sz="1050" b="0">
                          <a:solidFill>
                            <a:srgbClr val="E8F2EC"/>
                          </a:solidFill>
                          <a:latin typeface="Manrope"/>
                        </a:rPr>
                        <a:t>6,912</a:t>
                      </a:r>
                    </a:p>
                  </a:txBody>
                  <a:tcPr marL="45720" marR="45720" marT="18288" marB="18288" anchor="ctr">
                    <a:solidFill>
                      <a:srgbClr val="051412"/>
                    </a:solidFill>
                  </a:tcPr>
                </a:tc>
                <a:tc>
                  <a:txBody>
                    <a:bodyPr wrap="square"/>
                    <a:lstStyle/>
                    <a:p>
                      <a:pPr algn="r"/>
                      <a:r>
                        <a:rPr sz="1050" b="0">
                          <a:solidFill>
                            <a:srgbClr val="E8F2EC"/>
                          </a:solidFill>
                          <a:latin typeface="Manrope"/>
                        </a:rPr>
                        <a:t>2</a:t>
                      </a:r>
                    </a:p>
                  </a:txBody>
                  <a:tcPr marL="45720" marR="45720" marT="18288" marB="18288" anchor="ctr">
                    <a:solidFill>
                      <a:srgbClr val="051412"/>
                    </a:solidFill>
                  </a:tcPr>
                </a:tc>
                <a:tc>
                  <a:txBody>
                    <a:bodyPr wrap="square"/>
                    <a:lstStyle/>
                    <a:p>
                      <a:pPr algn="r"/>
                      <a:r>
                        <a:rPr sz="1050" b="0">
                          <a:solidFill>
                            <a:srgbClr val="E8F2EC"/>
                          </a:solidFill>
                          <a:latin typeface="Manrope"/>
                        </a:rPr>
                        <a:t>0.03%</a:t>
                      </a:r>
                    </a:p>
                  </a:txBody>
                  <a:tcPr marL="45720" marR="45720" marT="18288" marB="18288" anchor="ctr">
                    <a:solidFill>
                      <a:srgbClr val="051412"/>
                    </a:solidFill>
                  </a:tcPr>
                </a:tc>
              </a:tr>
            </a:tbl>
          </a:graphicData>
        </a:graphic>
      </p:graphicFrame>
      <p:sp>
        <p:nvSpPr>
          <p:cNvPr id="11" name="TextBox 10"/>
          <p:cNvSpPr txBox="1"/>
          <p:nvPr/>
        </p:nvSpPr>
        <p:spPr>
          <a:xfrm>
            <a:off x="566928" y="4114800"/>
            <a:ext cx="5394960" cy="411480"/>
          </a:xfrm>
          <a:prstGeom prst="rect">
            <a:avLst/>
          </a:prstGeom>
          <a:noFill/>
        </p:spPr>
        <p:txBody>
          <a:bodyPr wrap="square" lIns="0" rIns="0" tIns="0" bIns="0">
            <a:spAutoFit/>
          </a:bodyPr>
          <a:lstStyle/>
          <a:p>
            <a:pPr>
              <a:lnSpc>
                <a:spcPct val="135000"/>
              </a:lnSpc>
              <a:spcAft>
                <a:spcPts val="0"/>
              </a:spcAft>
            </a:pPr>
            <a:r>
              <a:rPr sz="980" b="0" i="0">
                <a:solidFill>
                  <a:srgbClr val="6B7B74"/>
                </a:solidFill>
                <a:latin typeface="Manrope"/>
              </a:rPr>
              <a:t>At an average position of 10.4 the expected click-through rate is roughly 2.5–3%. The site earns 1.09%.</a:t>
            </a:r>
          </a:p>
        </p:txBody>
      </p:sp>
      <p:sp>
        <p:nvSpPr>
          <p:cNvPr id="12" name="Rounded Rectangle 11"/>
          <p:cNvSpPr/>
          <p:nvPr/>
        </p:nvSpPr>
        <p:spPr>
          <a:xfrm>
            <a:off x="566928" y="4590288"/>
            <a:ext cx="5394960" cy="118872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4773168"/>
            <a:ext cx="4937760" cy="868680"/>
          </a:xfrm>
          <a:prstGeom prst="rect">
            <a:avLst/>
          </a:prstGeom>
          <a:noFill/>
        </p:spPr>
        <p:txBody>
          <a:bodyPr wrap="square" lIns="0" rIns="0" tIns="0" bIns="0">
            <a:spAutoFit/>
          </a:bodyPr>
          <a:lstStyle/>
          <a:p>
            <a:pPr>
              <a:lnSpc>
                <a:spcPct val="138000"/>
              </a:lnSpc>
              <a:spcAft>
                <a:spcPts val="0"/>
              </a:spcAft>
            </a:pPr>
            <a:r>
              <a:rPr sz="1080" b="1" i="0">
                <a:solidFill>
                  <a:srgbClr val="8EFEBB"/>
                </a:solidFill>
                <a:latin typeface="Manrope"/>
              </a:rPr>
              <a:t>584 keywords already sit on page one, 237 in the top three. </a:t>
            </a:r>
            <a:r>
              <a:rPr sz="1080" b="0" i="0">
                <a:solidFill>
                  <a:srgbClr val="B9C7C0"/>
                </a:solidFill>
                <a:latin typeface="Manrope"/>
              </a:rPr>
              <a:t>A further 157,400 monthly searches sit on 30 head terms stranded on page two: architrave (26,000, position 18), dado rail (25,000, position 34), window sill (25,000, position 25).</a:t>
            </a:r>
          </a:p>
        </p:txBody>
      </p:sp>
      <p:sp>
        <p:nvSpPr>
          <p:cNvPr id="14" name="Rounded Rectangle 13"/>
          <p:cNvSpPr/>
          <p:nvPr/>
        </p:nvSpPr>
        <p:spPr>
          <a:xfrm>
            <a:off x="6236208" y="2029968"/>
            <a:ext cx="5388559" cy="288036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73952" y="2231136"/>
            <a:ext cx="4931359" cy="182880"/>
          </a:xfrm>
          <a:prstGeom prst="rect">
            <a:avLst/>
          </a:prstGeom>
          <a:noFill/>
        </p:spPr>
        <p:txBody>
          <a:bodyPr wrap="square" lIns="0" rIns="0" tIns="0" bIns="0" anchor="t">
            <a:spAutoFit/>
          </a:bodyPr>
          <a:lstStyle/>
          <a:p>
            <a:pPr algn="l"/>
            <a:r>
              <a:rPr sz="850" b="1" i="0" spc="160">
                <a:solidFill>
                  <a:srgbClr val="6B7B74"/>
                </a:solidFill>
                <a:latin typeface="Manrope"/>
              </a:rPr>
              <a:t>ESTIMATED MONTHLY ORGANIC VISITS · GB</a:t>
            </a:r>
          </a:p>
        </p:txBody>
      </p:sp>
      <p:sp>
        <p:nvSpPr>
          <p:cNvPr id="16" name="TextBox 15"/>
          <p:cNvSpPr txBox="1"/>
          <p:nvPr/>
        </p:nvSpPr>
        <p:spPr>
          <a:xfrm>
            <a:off x="6473952" y="2560320"/>
            <a:ext cx="1737360" cy="219456"/>
          </a:xfrm>
          <a:prstGeom prst="rect">
            <a:avLst/>
          </a:prstGeom>
          <a:noFill/>
        </p:spPr>
        <p:txBody>
          <a:bodyPr wrap="square" lIns="0" rIns="0" tIns="0" bIns="0" anchor="t">
            <a:spAutoFit/>
          </a:bodyPr>
          <a:lstStyle/>
          <a:p>
            <a:pPr algn="l"/>
            <a:r>
              <a:rPr sz="950" b="0" i="0">
                <a:solidFill>
                  <a:srgbClr val="B9C7C0"/>
                </a:solidFill>
                <a:latin typeface="Manrope"/>
              </a:rPr>
              <a:t>skirting4u.co.uk</a:t>
            </a:r>
          </a:p>
        </p:txBody>
      </p:sp>
      <p:sp>
        <p:nvSpPr>
          <p:cNvPr id="17" name="Rectangle 16"/>
          <p:cNvSpPr/>
          <p:nvPr/>
        </p:nvSpPr>
        <p:spPr>
          <a:xfrm>
            <a:off x="8156448" y="2596896"/>
            <a:ext cx="2736799"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48111" y="2560320"/>
            <a:ext cx="777240" cy="219456"/>
          </a:xfrm>
          <a:prstGeom prst="rect">
            <a:avLst/>
          </a:prstGeom>
          <a:noFill/>
        </p:spPr>
        <p:txBody>
          <a:bodyPr wrap="square" lIns="0" rIns="0" tIns="0" bIns="0" anchor="t">
            <a:spAutoFit/>
          </a:bodyPr>
          <a:lstStyle/>
          <a:p>
            <a:pPr algn="l"/>
            <a:r>
              <a:rPr sz="860" b="1" i="0">
                <a:solidFill>
                  <a:srgbClr val="6B7B74"/>
                </a:solidFill>
                <a:latin typeface="Manrope"/>
              </a:rPr>
              <a:t>62,130</a:t>
            </a:r>
          </a:p>
        </p:txBody>
      </p:sp>
      <p:sp>
        <p:nvSpPr>
          <p:cNvPr id="19" name="TextBox 18"/>
          <p:cNvSpPr txBox="1"/>
          <p:nvPr/>
        </p:nvSpPr>
        <p:spPr>
          <a:xfrm>
            <a:off x="6473952" y="2843784"/>
            <a:ext cx="1737360" cy="219456"/>
          </a:xfrm>
          <a:prstGeom prst="rect">
            <a:avLst/>
          </a:prstGeom>
          <a:noFill/>
        </p:spPr>
        <p:txBody>
          <a:bodyPr wrap="square" lIns="0" rIns="0" tIns="0" bIns="0" anchor="t">
            <a:spAutoFit/>
          </a:bodyPr>
          <a:lstStyle/>
          <a:p>
            <a:pPr algn="l"/>
            <a:r>
              <a:rPr sz="950" b="0" i="0">
                <a:solidFill>
                  <a:srgbClr val="B9C7C0"/>
                </a:solidFill>
                <a:latin typeface="Manrope"/>
              </a:rPr>
              <a:t>mdfskirtingworld.co.uk</a:t>
            </a:r>
          </a:p>
        </p:txBody>
      </p:sp>
      <p:sp>
        <p:nvSpPr>
          <p:cNvPr id="20" name="Rectangle 19"/>
          <p:cNvSpPr/>
          <p:nvPr/>
        </p:nvSpPr>
        <p:spPr>
          <a:xfrm>
            <a:off x="8156448" y="2880360"/>
            <a:ext cx="1783302"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94614" y="2843784"/>
            <a:ext cx="777240" cy="219456"/>
          </a:xfrm>
          <a:prstGeom prst="rect">
            <a:avLst/>
          </a:prstGeom>
          <a:noFill/>
        </p:spPr>
        <p:txBody>
          <a:bodyPr wrap="square" lIns="0" rIns="0" tIns="0" bIns="0" anchor="t">
            <a:spAutoFit/>
          </a:bodyPr>
          <a:lstStyle/>
          <a:p>
            <a:pPr algn="l"/>
            <a:r>
              <a:rPr sz="860" b="1" i="0">
                <a:solidFill>
                  <a:srgbClr val="6B7B74"/>
                </a:solidFill>
                <a:latin typeface="Manrope"/>
              </a:rPr>
              <a:t>40,484</a:t>
            </a:r>
          </a:p>
        </p:txBody>
      </p:sp>
      <p:sp>
        <p:nvSpPr>
          <p:cNvPr id="22" name="TextBox 21"/>
          <p:cNvSpPr txBox="1"/>
          <p:nvPr/>
        </p:nvSpPr>
        <p:spPr>
          <a:xfrm>
            <a:off x="6473952" y="3127248"/>
            <a:ext cx="1737360" cy="219456"/>
          </a:xfrm>
          <a:prstGeom prst="rect">
            <a:avLst/>
          </a:prstGeom>
          <a:noFill/>
        </p:spPr>
        <p:txBody>
          <a:bodyPr wrap="square" lIns="0" rIns="0" tIns="0" bIns="0" anchor="t">
            <a:spAutoFit/>
          </a:bodyPr>
          <a:lstStyle/>
          <a:p>
            <a:pPr algn="l"/>
            <a:r>
              <a:rPr sz="950" b="0" i="0">
                <a:solidFill>
                  <a:srgbClr val="B9C7C0"/>
                </a:solidFill>
                <a:latin typeface="Manrope"/>
              </a:rPr>
              <a:t>nationalskirting.co.uk</a:t>
            </a:r>
          </a:p>
        </p:txBody>
      </p:sp>
      <p:sp>
        <p:nvSpPr>
          <p:cNvPr id="23" name="Rectangle 22"/>
          <p:cNvSpPr/>
          <p:nvPr/>
        </p:nvSpPr>
        <p:spPr>
          <a:xfrm>
            <a:off x="8156448" y="3163824"/>
            <a:ext cx="617222"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8534" y="3127248"/>
            <a:ext cx="777240" cy="219456"/>
          </a:xfrm>
          <a:prstGeom prst="rect">
            <a:avLst/>
          </a:prstGeom>
          <a:noFill/>
        </p:spPr>
        <p:txBody>
          <a:bodyPr wrap="square" lIns="0" rIns="0" tIns="0" bIns="0" anchor="t">
            <a:spAutoFit/>
          </a:bodyPr>
          <a:lstStyle/>
          <a:p>
            <a:pPr algn="l"/>
            <a:r>
              <a:rPr sz="860" b="1" i="0">
                <a:solidFill>
                  <a:srgbClr val="6B7B74"/>
                </a:solidFill>
                <a:latin typeface="Manrope"/>
              </a:rPr>
              <a:t>14,012</a:t>
            </a:r>
          </a:p>
        </p:txBody>
      </p:sp>
      <p:sp>
        <p:nvSpPr>
          <p:cNvPr id="25" name="TextBox 24"/>
          <p:cNvSpPr txBox="1"/>
          <p:nvPr/>
        </p:nvSpPr>
        <p:spPr>
          <a:xfrm>
            <a:off x="6473952" y="3410712"/>
            <a:ext cx="1737360" cy="219456"/>
          </a:xfrm>
          <a:prstGeom prst="rect">
            <a:avLst/>
          </a:prstGeom>
          <a:noFill/>
        </p:spPr>
        <p:txBody>
          <a:bodyPr wrap="square" lIns="0" rIns="0" tIns="0" bIns="0" anchor="t">
            <a:spAutoFit/>
          </a:bodyPr>
          <a:lstStyle/>
          <a:p>
            <a:pPr algn="l"/>
            <a:r>
              <a:rPr sz="950" b="0" i="0">
                <a:solidFill>
                  <a:srgbClr val="B9C7C0"/>
                </a:solidFill>
                <a:latin typeface="Manrope"/>
              </a:rPr>
              <a:t>wmboyle.co.uk</a:t>
            </a:r>
          </a:p>
        </p:txBody>
      </p:sp>
      <p:sp>
        <p:nvSpPr>
          <p:cNvPr id="26" name="Rectangle 25"/>
          <p:cNvSpPr/>
          <p:nvPr/>
        </p:nvSpPr>
        <p:spPr>
          <a:xfrm>
            <a:off x="8156448" y="3447288"/>
            <a:ext cx="598677"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09989" y="3410712"/>
            <a:ext cx="777240" cy="219456"/>
          </a:xfrm>
          <a:prstGeom prst="rect">
            <a:avLst/>
          </a:prstGeom>
          <a:noFill/>
        </p:spPr>
        <p:txBody>
          <a:bodyPr wrap="square" lIns="0" rIns="0" tIns="0" bIns="0" anchor="t">
            <a:spAutoFit/>
          </a:bodyPr>
          <a:lstStyle/>
          <a:p>
            <a:pPr algn="l"/>
            <a:r>
              <a:rPr sz="860" b="1" i="0">
                <a:solidFill>
                  <a:srgbClr val="6B7B74"/>
                </a:solidFill>
                <a:latin typeface="Manrope"/>
              </a:rPr>
              <a:t>13,591</a:t>
            </a:r>
          </a:p>
        </p:txBody>
      </p:sp>
      <p:sp>
        <p:nvSpPr>
          <p:cNvPr id="28" name="TextBox 27"/>
          <p:cNvSpPr txBox="1"/>
          <p:nvPr/>
        </p:nvSpPr>
        <p:spPr>
          <a:xfrm>
            <a:off x="6473952" y="3694176"/>
            <a:ext cx="1737360" cy="219456"/>
          </a:xfrm>
          <a:prstGeom prst="rect">
            <a:avLst/>
          </a:prstGeom>
          <a:noFill/>
        </p:spPr>
        <p:txBody>
          <a:bodyPr wrap="square" lIns="0" rIns="0" tIns="0" bIns="0" anchor="t">
            <a:spAutoFit/>
          </a:bodyPr>
          <a:lstStyle/>
          <a:p>
            <a:pPr algn="l"/>
            <a:r>
              <a:rPr sz="950" b="0" i="0">
                <a:solidFill>
                  <a:srgbClr val="B9C7C0"/>
                </a:solidFill>
                <a:latin typeface="Manrope"/>
              </a:rPr>
              <a:t>skirtingboardsdirect.com</a:t>
            </a:r>
          </a:p>
        </p:txBody>
      </p:sp>
      <p:sp>
        <p:nvSpPr>
          <p:cNvPr id="29" name="Rectangle 28"/>
          <p:cNvSpPr/>
          <p:nvPr/>
        </p:nvSpPr>
        <p:spPr>
          <a:xfrm>
            <a:off x="8156448" y="3730752"/>
            <a:ext cx="411643"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22955" y="3694176"/>
            <a:ext cx="777240" cy="219456"/>
          </a:xfrm>
          <a:prstGeom prst="rect">
            <a:avLst/>
          </a:prstGeom>
          <a:noFill/>
        </p:spPr>
        <p:txBody>
          <a:bodyPr wrap="square" lIns="0" rIns="0" tIns="0" bIns="0" anchor="t">
            <a:spAutoFit/>
          </a:bodyPr>
          <a:lstStyle/>
          <a:p>
            <a:pPr algn="l"/>
            <a:r>
              <a:rPr sz="860" b="1" i="0">
                <a:solidFill>
                  <a:srgbClr val="6B7B74"/>
                </a:solidFill>
                <a:latin typeface="Manrope"/>
              </a:rPr>
              <a:t>9,345</a:t>
            </a:r>
          </a:p>
        </p:txBody>
      </p:sp>
      <p:sp>
        <p:nvSpPr>
          <p:cNvPr id="31" name="TextBox 30"/>
          <p:cNvSpPr txBox="1"/>
          <p:nvPr/>
        </p:nvSpPr>
        <p:spPr>
          <a:xfrm>
            <a:off x="6473952" y="3977640"/>
            <a:ext cx="1737360" cy="219456"/>
          </a:xfrm>
          <a:prstGeom prst="rect">
            <a:avLst/>
          </a:prstGeom>
          <a:noFill/>
        </p:spPr>
        <p:txBody>
          <a:bodyPr wrap="square" lIns="0" rIns="0" tIns="0" bIns="0" anchor="t">
            <a:spAutoFit/>
          </a:bodyPr>
          <a:lstStyle/>
          <a:p>
            <a:pPr algn="l"/>
            <a:r>
              <a:rPr sz="950" b="0" i="0">
                <a:solidFill>
                  <a:srgbClr val="B9C7C0"/>
                </a:solidFill>
                <a:latin typeface="Manrope"/>
              </a:rPr>
              <a:t>skirtingsrus.co.uk</a:t>
            </a:r>
          </a:p>
        </p:txBody>
      </p:sp>
      <p:sp>
        <p:nvSpPr>
          <p:cNvPr id="32" name="Rectangle 31"/>
          <p:cNvSpPr/>
          <p:nvPr/>
        </p:nvSpPr>
        <p:spPr>
          <a:xfrm>
            <a:off x="8156448" y="4014216"/>
            <a:ext cx="350326"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61638" y="3977640"/>
            <a:ext cx="777240" cy="219456"/>
          </a:xfrm>
          <a:prstGeom prst="rect">
            <a:avLst/>
          </a:prstGeom>
          <a:noFill/>
        </p:spPr>
        <p:txBody>
          <a:bodyPr wrap="square" lIns="0" rIns="0" tIns="0" bIns="0" anchor="t">
            <a:spAutoFit/>
          </a:bodyPr>
          <a:lstStyle/>
          <a:p>
            <a:pPr algn="l"/>
            <a:r>
              <a:rPr sz="860" b="1" i="0">
                <a:solidFill>
                  <a:srgbClr val="6B7B74"/>
                </a:solidFill>
                <a:latin typeface="Manrope"/>
              </a:rPr>
              <a:t>7,953</a:t>
            </a:r>
          </a:p>
        </p:txBody>
      </p:sp>
      <p:sp>
        <p:nvSpPr>
          <p:cNvPr id="34" name="TextBox 33"/>
          <p:cNvSpPr txBox="1"/>
          <p:nvPr/>
        </p:nvSpPr>
        <p:spPr>
          <a:xfrm>
            <a:off x="6473952" y="4261104"/>
            <a:ext cx="1737360" cy="219456"/>
          </a:xfrm>
          <a:prstGeom prst="rect">
            <a:avLst/>
          </a:prstGeom>
          <a:noFill/>
        </p:spPr>
        <p:txBody>
          <a:bodyPr wrap="square" lIns="0" rIns="0" tIns="0" bIns="0" anchor="t">
            <a:spAutoFit/>
          </a:bodyPr>
          <a:lstStyle/>
          <a:p>
            <a:pPr algn="l"/>
            <a:r>
              <a:rPr sz="950" b="1" i="0">
                <a:solidFill>
                  <a:srgbClr val="8EFEBB"/>
                </a:solidFill>
                <a:latin typeface="Manrope"/>
              </a:rPr>
              <a:t>MR Mouldings</a:t>
            </a:r>
          </a:p>
        </p:txBody>
      </p:sp>
      <p:sp>
        <p:nvSpPr>
          <p:cNvPr id="35" name="Rectangle 34"/>
          <p:cNvSpPr/>
          <p:nvPr/>
        </p:nvSpPr>
        <p:spPr>
          <a:xfrm>
            <a:off x="8156448" y="4297680"/>
            <a:ext cx="300726" cy="14173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12038" y="4261104"/>
            <a:ext cx="777240" cy="219456"/>
          </a:xfrm>
          <a:prstGeom prst="rect">
            <a:avLst/>
          </a:prstGeom>
          <a:noFill/>
        </p:spPr>
        <p:txBody>
          <a:bodyPr wrap="square" lIns="0" rIns="0" tIns="0" bIns="0" anchor="t">
            <a:spAutoFit/>
          </a:bodyPr>
          <a:lstStyle/>
          <a:p>
            <a:pPr algn="l"/>
            <a:r>
              <a:rPr sz="860" b="1" i="0">
                <a:solidFill>
                  <a:srgbClr val="8EFEBB"/>
                </a:solidFill>
                <a:latin typeface="Manrope"/>
              </a:rPr>
              <a:t>6,827</a:t>
            </a:r>
          </a:p>
        </p:txBody>
      </p:sp>
      <p:sp>
        <p:nvSpPr>
          <p:cNvPr id="37" name="TextBox 36"/>
          <p:cNvSpPr txBox="1"/>
          <p:nvPr/>
        </p:nvSpPr>
        <p:spPr>
          <a:xfrm>
            <a:off x="6473952" y="4544568"/>
            <a:ext cx="1737360" cy="219456"/>
          </a:xfrm>
          <a:prstGeom prst="rect">
            <a:avLst/>
          </a:prstGeom>
          <a:noFill/>
        </p:spPr>
        <p:txBody>
          <a:bodyPr wrap="square" lIns="0" rIns="0" tIns="0" bIns="0" anchor="t">
            <a:spAutoFit/>
          </a:bodyPr>
          <a:lstStyle/>
          <a:p>
            <a:pPr algn="l"/>
            <a:r>
              <a:rPr sz="950" b="0" i="0">
                <a:solidFill>
                  <a:srgbClr val="B9C7C0"/>
                </a:solidFill>
                <a:latin typeface="Manrope"/>
              </a:rPr>
              <a:t>skirtingking.co.uk</a:t>
            </a:r>
          </a:p>
        </p:txBody>
      </p:sp>
      <p:sp>
        <p:nvSpPr>
          <p:cNvPr id="38" name="Rectangle 37"/>
          <p:cNvSpPr/>
          <p:nvPr/>
        </p:nvSpPr>
        <p:spPr>
          <a:xfrm>
            <a:off x="8156448" y="4581144"/>
            <a:ext cx="275045" cy="141732"/>
          </a:xfrm>
          <a:prstGeom prst="rect">
            <a:avLst/>
          </a:prstGeom>
          <a:solidFill>
            <a:srgbClr val="2C5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86357" y="4544568"/>
            <a:ext cx="777240" cy="219456"/>
          </a:xfrm>
          <a:prstGeom prst="rect">
            <a:avLst/>
          </a:prstGeom>
          <a:noFill/>
        </p:spPr>
        <p:txBody>
          <a:bodyPr wrap="square" lIns="0" rIns="0" tIns="0" bIns="0" anchor="t">
            <a:spAutoFit/>
          </a:bodyPr>
          <a:lstStyle/>
          <a:p>
            <a:pPr algn="l"/>
            <a:r>
              <a:rPr sz="860" b="1" i="0">
                <a:solidFill>
                  <a:srgbClr val="6B7B74"/>
                </a:solidFill>
                <a:latin typeface="Manrope"/>
              </a:rPr>
              <a:t>6,244</a:t>
            </a:r>
          </a:p>
        </p:txBody>
      </p:sp>
      <p:sp>
        <p:nvSpPr>
          <p:cNvPr id="40" name="TextBox 39"/>
          <p:cNvSpPr txBox="1"/>
          <p:nvPr/>
        </p:nvSpPr>
        <p:spPr>
          <a:xfrm>
            <a:off x="6236208" y="5029200"/>
            <a:ext cx="5388559" cy="685800"/>
          </a:xfrm>
          <a:prstGeom prst="rect">
            <a:avLst/>
          </a:prstGeom>
          <a:noFill/>
        </p:spPr>
        <p:txBody>
          <a:bodyPr wrap="square" lIns="0" rIns="0" tIns="0" bIns="0">
            <a:spAutoFit/>
          </a:bodyPr>
          <a:lstStyle/>
          <a:p>
            <a:pPr>
              <a:lnSpc>
                <a:spcPct val="140000"/>
              </a:lnSpc>
              <a:spcAft>
                <a:spcPts val="0"/>
              </a:spcAft>
            </a:pPr>
            <a:r>
              <a:rPr sz="980" b="0" i="0">
                <a:solidFill>
                  <a:srgbClr val="6B7B74"/>
                </a:solidFill>
                <a:latin typeface="Manrope"/>
              </a:rPr>
              <a:t>skirting4u sits on a Domain Rating of 22 against MR Mouldings' 18 — a near-identical authority profile producing nine times the traffic. skirtingboardsdirect.com outranks the site on a Domain Rating of 5. The gap is structural and on-page, not brand strength or link budget.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07 · LEVER · THE PRIZE</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The demand is already earned. </a:t>
            </a:r>
            <a:r>
              <a:rPr sz="2700" b="1" i="1" spc="-70">
                <a:solidFill>
                  <a:srgbClr val="8EFEBB"/>
                </a:solidFill>
                <a:latin typeface="Instrument Serif"/>
              </a:rPr>
              <a:t>Capture</a:t>
            </a:r>
            <a:r>
              <a:rPr sz="2700" b="1" i="0" spc="-70">
                <a:solidFill>
                  <a:srgbClr val="FFFFFF"/>
                </a:solidFill>
                <a:latin typeface="Manrope"/>
              </a:rPr>
              <a:t> is the constraint</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Organic clicks nearly doubled in twelve months without intervention. Closing the click-through gap is the cheapest traffic in the plan.</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12</a:t>
            </a:r>
          </a:p>
        </p:txBody>
      </p:sp>
      <p:sp>
        <p:nvSpPr>
          <p:cNvPr id="9" name="Rounded Rectangle 8"/>
          <p:cNvSpPr/>
          <p:nvPr/>
        </p:nvSpPr>
        <p:spPr>
          <a:xfrm>
            <a:off x="566928" y="2029968"/>
            <a:ext cx="5303520" cy="21488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4672" y="2231136"/>
            <a:ext cx="4846320" cy="182880"/>
          </a:xfrm>
          <a:prstGeom prst="rect">
            <a:avLst/>
          </a:prstGeom>
          <a:noFill/>
        </p:spPr>
        <p:txBody>
          <a:bodyPr wrap="square" lIns="0" rIns="0" tIns="0" bIns="0" anchor="t">
            <a:spAutoFit/>
          </a:bodyPr>
          <a:lstStyle/>
          <a:p>
            <a:pPr algn="l"/>
            <a:r>
              <a:rPr sz="850" b="1" i="0" spc="160">
                <a:solidFill>
                  <a:srgbClr val="6B7B74"/>
                </a:solidFill>
                <a:latin typeface="Manrope"/>
              </a:rPr>
              <a:t>ORGANIC CLICKS PER MONTH · AUG 2025 – JUL 2026</a:t>
            </a:r>
          </a:p>
        </p:txBody>
      </p:sp>
      <p:sp>
        <p:nvSpPr>
          <p:cNvPr id="11" name="Rectangle 10"/>
          <p:cNvSpPr/>
          <p:nvPr/>
        </p:nvSpPr>
        <p:spPr>
          <a:xfrm>
            <a:off x="1024128" y="3831336"/>
            <a:ext cx="4389120"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4128" y="3182373"/>
            <a:ext cx="399010" cy="42676"/>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23138" y="3110070"/>
            <a:ext cx="399010" cy="7230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2149" y="3103016"/>
            <a:ext cx="399010" cy="2743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21160" y="3103016"/>
            <a:ext cx="399010" cy="17811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20171" y="3071273"/>
            <a:ext cx="399010" cy="209854"/>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19182" y="3032476"/>
            <a:ext cx="399010" cy="38796"/>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18193" y="2956647"/>
            <a:ext cx="399010" cy="75829"/>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17204" y="2956647"/>
            <a:ext cx="399010" cy="29979"/>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16215" y="2963701"/>
            <a:ext cx="399010" cy="2743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15226" y="2861418"/>
            <a:ext cx="399010" cy="10228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14237" y="2655796"/>
            <a:ext cx="399010" cy="205622"/>
          </a:xfrm>
          <a:prstGeom prst="rect">
            <a:avLst/>
          </a:prstGeom>
          <a:solidFill>
            <a:srgbClr val="8EFE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3886200"/>
            <a:ext cx="1828800" cy="182880"/>
          </a:xfrm>
          <a:prstGeom prst="rect">
            <a:avLst/>
          </a:prstGeom>
          <a:noFill/>
        </p:spPr>
        <p:txBody>
          <a:bodyPr wrap="square" lIns="0" rIns="0" tIns="0" bIns="0" anchor="t">
            <a:spAutoFit/>
          </a:bodyPr>
          <a:lstStyle/>
          <a:p>
            <a:pPr algn="l"/>
            <a:r>
              <a:rPr sz="800" b="1" i="0" spc="110">
                <a:solidFill>
                  <a:srgbClr val="6B7B74"/>
                </a:solidFill>
                <a:latin typeface="Manrope"/>
              </a:rPr>
              <a:t>AUG 2025 · 3,438</a:t>
            </a:r>
          </a:p>
        </p:txBody>
      </p:sp>
      <p:sp>
        <p:nvSpPr>
          <p:cNvPr id="24" name="TextBox 23"/>
          <p:cNvSpPr txBox="1"/>
          <p:nvPr/>
        </p:nvSpPr>
        <p:spPr>
          <a:xfrm>
            <a:off x="3584448" y="3886200"/>
            <a:ext cx="1828800" cy="182880"/>
          </a:xfrm>
          <a:prstGeom prst="rect">
            <a:avLst/>
          </a:prstGeom>
          <a:noFill/>
        </p:spPr>
        <p:txBody>
          <a:bodyPr wrap="square" lIns="0" rIns="0" tIns="0" bIns="0" anchor="t">
            <a:spAutoFit/>
          </a:bodyPr>
          <a:lstStyle/>
          <a:p>
            <a:pPr algn="r"/>
            <a:r>
              <a:rPr sz="800" b="1" i="0" spc="110">
                <a:solidFill>
                  <a:srgbClr val="8EFEBB"/>
                </a:solidFill>
                <a:latin typeface="Manrope"/>
              </a:rPr>
              <a:t>JUL 2026 · 6,666</a:t>
            </a:r>
          </a:p>
        </p:txBody>
      </p:sp>
      <p:sp>
        <p:nvSpPr>
          <p:cNvPr id="25" name="Rounded Rectangle 24"/>
          <p:cNvSpPr/>
          <p:nvPr/>
        </p:nvSpPr>
        <p:spPr>
          <a:xfrm>
            <a:off x="566928" y="4315968"/>
            <a:ext cx="5303520" cy="14630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4672" y="4480560"/>
            <a:ext cx="4846320" cy="274320"/>
          </a:xfrm>
          <a:prstGeom prst="rect">
            <a:avLst/>
          </a:prstGeom>
          <a:noFill/>
        </p:spPr>
        <p:txBody>
          <a:bodyPr wrap="square" lIns="0" rIns="0" tIns="0" bIns="0" anchor="t">
            <a:spAutoFit/>
          </a:bodyPr>
          <a:lstStyle/>
          <a:p>
            <a:pPr algn="l"/>
            <a:r>
              <a:rPr sz="1250" b="1" i="0">
                <a:solidFill>
                  <a:srgbClr val="FFFFFF"/>
                </a:solidFill>
                <a:latin typeface="Manrope"/>
              </a:rPr>
              <a:t>Where the work goes</a:t>
            </a:r>
          </a:p>
        </p:txBody>
      </p:sp>
      <p:sp>
        <p:nvSpPr>
          <p:cNvPr id="27" name="TextBox 26"/>
          <p:cNvSpPr txBox="1"/>
          <p:nvPr/>
        </p:nvSpPr>
        <p:spPr>
          <a:xfrm>
            <a:off x="804672" y="4791456"/>
            <a:ext cx="4846320" cy="914400"/>
          </a:xfrm>
          <a:prstGeom prst="rect">
            <a:avLst/>
          </a:prstGeom>
          <a:noFill/>
        </p:spPr>
        <p:txBody>
          <a:bodyPr wrap="square" lIns="0" rIns="0" tIns="0" bIns="0">
            <a:spAutoFit/>
          </a:bodyPr>
          <a:lstStyle/>
          <a:p>
            <a:pPr>
              <a:lnSpc>
                <a:spcPct val="132000"/>
              </a:lnSpc>
              <a:spcAft>
                <a:spcPts val="700"/>
              </a:spcAft>
            </a:pPr>
            <a:r>
              <a:rPr sz="980" b="1">
                <a:solidFill>
                  <a:srgbClr val="8EFEBB"/>
                </a:solidFill>
                <a:latin typeface="Manrope"/>
              </a:rPr>
              <a:t>•  </a:t>
            </a:r>
            <a:r>
              <a:rPr sz="980" b="0">
                <a:solidFill>
                  <a:srgbClr val="B9C7C0"/>
                </a:solidFill>
                <a:latin typeface="Manrope"/>
              </a:rPr>
              <a:t>Verify the head-tag and pricing fixes, then re-request indexing on the affected collection pages</a:t>
            </a:r>
          </a:p>
          <a:p>
            <a:pPr>
              <a:lnSpc>
                <a:spcPct val="132000"/>
              </a:lnSpc>
              <a:spcAft>
                <a:spcPts val="700"/>
              </a:spcAft>
            </a:pPr>
            <a:r>
              <a:rPr sz="980" b="1">
                <a:solidFill>
                  <a:srgbClr val="8EFEBB"/>
                </a:solidFill>
                <a:latin typeface="Manrope"/>
              </a:rPr>
              <a:t>•  </a:t>
            </a:r>
            <a:r>
              <a:rPr sz="980" b="0">
                <a:solidFill>
                  <a:srgbClr val="B9C7C0"/>
                </a:solidFill>
                <a:latin typeface="Manrope"/>
              </a:rPr>
              <a:t>Rewrite titles and meta descriptions on head terms returning auto-generated snippets</a:t>
            </a:r>
          </a:p>
          <a:p>
            <a:pPr>
              <a:lnSpc>
                <a:spcPct val="132000"/>
              </a:lnSpc>
              <a:spcAft>
                <a:spcPts val="700"/>
              </a:spcAft>
            </a:pPr>
            <a:r>
              <a:rPr sz="980" b="1">
                <a:solidFill>
                  <a:srgbClr val="8EFEBB"/>
                </a:solidFill>
                <a:latin typeface="Manrope"/>
              </a:rPr>
              <a:t>•  </a:t>
            </a:r>
            <a:r>
              <a:rPr sz="980" b="0">
                <a:solidFill>
                  <a:srgbClr val="B9C7C0"/>
                </a:solidFill>
                <a:latin typeface="Manrope"/>
              </a:rPr>
              <a:t>Push the 30 page-two head terms onto page one — the cheapest volume in the account</a:t>
            </a:r>
          </a:p>
          <a:p>
            <a:pPr>
              <a:lnSpc>
                <a:spcPct val="132000"/>
              </a:lnSpc>
              <a:spcAft>
                <a:spcPts val="700"/>
              </a:spcAft>
            </a:pPr>
            <a:r>
              <a:rPr sz="980" b="1">
                <a:solidFill>
                  <a:srgbClr val="8EFEBB"/>
                </a:solidFill>
                <a:latin typeface="Manrope"/>
              </a:rPr>
              <a:t>•  </a:t>
            </a:r>
            <a:r>
              <a:rPr sz="980" b="0">
                <a:solidFill>
                  <a:srgbClr val="B9C7C0"/>
                </a:solidFill>
                <a:latin typeface="Manrope"/>
              </a:rPr>
              <a:t>Resolve filtered and paginated URLs ranking in place of clean collection pages</a:t>
            </a:r>
          </a:p>
        </p:txBody>
      </p:sp>
      <p:sp>
        <p:nvSpPr>
          <p:cNvPr id="28" name="TextBox 27"/>
          <p:cNvSpPr txBox="1"/>
          <p:nvPr/>
        </p:nvSpPr>
        <p:spPr>
          <a:xfrm>
            <a:off x="6144768" y="2029968"/>
            <a:ext cx="5479999" cy="182880"/>
          </a:xfrm>
          <a:prstGeom prst="rect">
            <a:avLst/>
          </a:prstGeom>
          <a:noFill/>
        </p:spPr>
        <p:txBody>
          <a:bodyPr wrap="square" lIns="0" rIns="0" tIns="0" bIns="0" anchor="t">
            <a:spAutoFit/>
          </a:bodyPr>
          <a:lstStyle/>
          <a:p>
            <a:pPr algn="l"/>
            <a:r>
              <a:rPr sz="850" b="1" i="0" spc="160">
                <a:solidFill>
                  <a:srgbClr val="6B7B74"/>
                </a:solidFill>
                <a:latin typeface="Manrope"/>
              </a:rPr>
              <a:t>WHAT CLOSING THE CLICK-THROUGH GAP IS WORTH</a:t>
            </a:r>
          </a:p>
        </p:txBody>
      </p:sp>
      <p:graphicFrame>
        <p:nvGraphicFramePr>
          <p:cNvPr id="29" name="Table 28"/>
          <p:cNvGraphicFramePr>
            <a:graphicFrameLocks noGrp="1"/>
          </p:cNvGraphicFramePr>
          <p:nvPr/>
        </p:nvGraphicFramePr>
        <p:xfrm>
          <a:off x="6144768" y="2286000"/>
          <a:ext cx="5479997" cy="1517904"/>
        </p:xfrm>
        <a:graphic>
          <a:graphicData uri="http://schemas.openxmlformats.org/drawingml/2006/table">
            <a:tbl>
              <a:tblPr firstRow="1" bandRow="1">
                <a:tableStyleId>{5C22544A-7EE6-4342-B048-85BDC9FD1C3A}</a:tableStyleId>
              </a:tblPr>
              <a:tblGrid>
                <a:gridCol w="2386451"/>
                <a:gridCol w="795483"/>
                <a:gridCol w="1060644"/>
                <a:gridCol w="1237419"/>
              </a:tblGrid>
              <a:tr h="274320">
                <a:tc>
                  <a:txBody>
                    <a:bodyPr wrap="square"/>
                    <a:lstStyle/>
                    <a:p>
                      <a:pPr algn="l"/>
                      <a:r>
                        <a:rPr sz="780" b="1">
                          <a:solidFill>
                            <a:srgbClr val="6B7B74"/>
                          </a:solidFill>
                          <a:latin typeface="Manrope"/>
                        </a:rPr>
                        <a:t>SCENARIO</a:t>
                      </a:r>
                    </a:p>
                  </a:txBody>
                  <a:tcPr marL="45720" marR="45720" marT="18288" marB="18288" anchor="ctr">
                    <a:solidFill>
                      <a:srgbClr val="051412"/>
                    </a:solidFill>
                  </a:tcPr>
                </a:tc>
                <a:tc>
                  <a:txBody>
                    <a:bodyPr wrap="square"/>
                    <a:lstStyle/>
                    <a:p>
                      <a:pPr algn="r"/>
                      <a:r>
                        <a:rPr sz="780" b="1">
                          <a:solidFill>
                            <a:srgbClr val="6B7B74"/>
                          </a:solidFill>
                          <a:latin typeface="Manrope"/>
                        </a:rPr>
                        <a:t>CTR</a:t>
                      </a:r>
                    </a:p>
                  </a:txBody>
                  <a:tcPr marL="45720" marR="45720" marT="18288" marB="18288" anchor="ctr">
                    <a:solidFill>
                      <a:srgbClr val="051412"/>
                    </a:solidFill>
                  </a:tcPr>
                </a:tc>
                <a:tc>
                  <a:txBody>
                    <a:bodyPr wrap="square"/>
                    <a:lstStyle/>
                    <a:p>
                      <a:pPr algn="r"/>
                      <a:r>
                        <a:rPr sz="780" b="1">
                          <a:solidFill>
                            <a:srgbClr val="6B7B74"/>
                          </a:solidFill>
                          <a:latin typeface="Manrope"/>
                        </a:rPr>
                        <a:t>CLICKS / MO</a:t>
                      </a:r>
                    </a:p>
                  </a:txBody>
                  <a:tcPr marL="45720" marR="45720" marT="18288" marB="18288" anchor="ctr">
                    <a:solidFill>
                      <a:srgbClr val="051412"/>
                    </a:solidFill>
                  </a:tcPr>
                </a:tc>
                <a:tc>
                  <a:txBody>
                    <a:bodyPr wrap="square"/>
                    <a:lstStyle/>
                    <a:p>
                      <a:pPr algn="r"/>
                      <a:r>
                        <a:rPr sz="780" b="1">
                          <a:solidFill>
                            <a:srgbClr val="6B7B74"/>
                          </a:solidFill>
                          <a:latin typeface="Manrope"/>
                        </a:rPr>
                        <a:t>REVENUE / MO</a:t>
                      </a:r>
                    </a:p>
                  </a:txBody>
                  <a:tcPr marL="45720" marR="45720" marT="18288" marB="18288" anchor="ctr">
                    <a:solidFill>
                      <a:srgbClr val="051412"/>
                    </a:solidFill>
                  </a:tcPr>
                </a:tc>
              </a:tr>
              <a:tr h="310896">
                <a:tc>
                  <a:txBody>
                    <a:bodyPr wrap="square"/>
                    <a:lstStyle/>
                    <a:p>
                      <a:pPr algn="l"/>
                      <a:r>
                        <a:rPr sz="1050" b="0">
                          <a:solidFill>
                            <a:srgbClr val="E8F2EC"/>
                          </a:solidFill>
                          <a:latin typeface="Manrope"/>
                        </a:rPr>
                        <a:t>Today — average position 10.4</a:t>
                      </a:r>
                    </a:p>
                  </a:txBody>
                  <a:tcPr marL="45720" marR="45720" marT="18288" marB="18288" anchor="ctr">
                    <a:solidFill>
                      <a:srgbClr val="051412"/>
                    </a:solidFill>
                  </a:tcPr>
                </a:tc>
                <a:tc>
                  <a:txBody>
                    <a:bodyPr wrap="square"/>
                    <a:lstStyle/>
                    <a:p>
                      <a:pPr algn="r"/>
                      <a:r>
                        <a:rPr sz="1050" b="0">
                          <a:solidFill>
                            <a:srgbClr val="E8F2EC"/>
                          </a:solidFill>
                          <a:latin typeface="Manrope"/>
                        </a:rPr>
                        <a:t>1.09%</a:t>
                      </a:r>
                    </a:p>
                  </a:txBody>
                  <a:tcPr marL="45720" marR="45720" marT="18288" marB="18288" anchor="ctr">
                    <a:solidFill>
                      <a:srgbClr val="051412"/>
                    </a:solidFill>
                  </a:tcPr>
                </a:tc>
                <a:tc>
                  <a:txBody>
                    <a:bodyPr wrap="square"/>
                    <a:lstStyle/>
                    <a:p>
                      <a:pPr algn="r"/>
                      <a:r>
                        <a:rPr sz="1050" b="0">
                          <a:solidFill>
                            <a:srgbClr val="E8F2EC"/>
                          </a:solidFill>
                          <a:latin typeface="Manrope"/>
                        </a:rPr>
                        <a:t>6,666</a:t>
                      </a:r>
                    </a:p>
                  </a:txBody>
                  <a:tcPr marL="45720" marR="45720" marT="18288" marB="18288" anchor="ctr">
                    <a:solidFill>
                      <a:srgbClr val="051412"/>
                    </a:solidFill>
                  </a:tcPr>
                </a:tc>
                <a:tc>
                  <a:txBody>
                    <a:bodyPr wrap="square"/>
                    <a:lstStyle/>
                    <a:p>
                      <a:pPr algn="r"/>
                      <a:r>
                        <a:rPr sz="1050" b="0">
                          <a:solidFill>
                            <a:srgbClr val="E8F2EC"/>
                          </a:solidFill>
                          <a:latin typeface="Manrope"/>
                        </a:rPr>
                        <a:t>£44,231</a:t>
                      </a:r>
                    </a:p>
                  </a:txBody>
                  <a:tcPr marL="45720" marR="45720" marT="18288" marB="18288" anchor="ctr">
                    <a:solidFill>
                      <a:srgbClr val="051412"/>
                    </a:solidFill>
                  </a:tcPr>
                </a:tc>
              </a:tr>
              <a:tr h="310896">
                <a:tc>
                  <a:txBody>
                    <a:bodyPr wrap="square"/>
                    <a:lstStyle/>
                    <a:p>
                      <a:pPr algn="l"/>
                      <a:r>
                        <a:rPr sz="1050" b="0">
                          <a:solidFill>
                            <a:srgbClr val="E8F2EC"/>
                          </a:solidFill>
                          <a:latin typeface="Manrope"/>
                        </a:rPr>
                        <a:t>Defects fixed, snippets honoured</a:t>
                      </a:r>
                    </a:p>
                  </a:txBody>
                  <a:tcPr marL="45720" marR="45720" marT="18288" marB="18288" anchor="ctr">
                    <a:solidFill>
                      <a:srgbClr val="051412"/>
                    </a:solidFill>
                  </a:tcPr>
                </a:tc>
                <a:tc>
                  <a:txBody>
                    <a:bodyPr wrap="square"/>
                    <a:lstStyle/>
                    <a:p>
                      <a:pPr algn="r"/>
                      <a:r>
                        <a:rPr sz="1050" b="0">
                          <a:solidFill>
                            <a:srgbClr val="E8F2EC"/>
                          </a:solidFill>
                          <a:latin typeface="Manrope"/>
                        </a:rPr>
                        <a:t>2.0%</a:t>
                      </a:r>
                    </a:p>
                  </a:txBody>
                  <a:tcPr marL="45720" marR="45720" marT="18288" marB="18288" anchor="ctr">
                    <a:solidFill>
                      <a:srgbClr val="051412"/>
                    </a:solidFill>
                  </a:tcPr>
                </a:tc>
                <a:tc>
                  <a:txBody>
                    <a:bodyPr wrap="square"/>
                    <a:lstStyle/>
                    <a:p>
                      <a:pPr algn="r"/>
                      <a:r>
                        <a:rPr sz="1050" b="0">
                          <a:solidFill>
                            <a:srgbClr val="E8F2EC"/>
                          </a:solidFill>
                          <a:latin typeface="Manrope"/>
                        </a:rPr>
                        <a:t>12,208</a:t>
                      </a:r>
                    </a:p>
                  </a:txBody>
                  <a:tcPr marL="45720" marR="45720" marT="18288" marB="18288" anchor="ctr">
                    <a:solidFill>
                      <a:srgbClr val="051412"/>
                    </a:solidFill>
                  </a:tcPr>
                </a:tc>
                <a:tc>
                  <a:txBody>
                    <a:bodyPr wrap="square"/>
                    <a:lstStyle/>
                    <a:p>
                      <a:pPr algn="r"/>
                      <a:r>
                        <a:rPr sz="1050" b="0">
                          <a:solidFill>
                            <a:srgbClr val="E8F2EC"/>
                          </a:solidFill>
                          <a:latin typeface="Manrope"/>
                        </a:rPr>
                        <a:t>£81,157</a:t>
                      </a:r>
                    </a:p>
                  </a:txBody>
                  <a:tcPr marL="45720" marR="45720" marT="18288" marB="18288" anchor="ctr">
                    <a:solidFill>
                      <a:srgbClr val="051412"/>
                    </a:solidFill>
                  </a:tcPr>
                </a:tc>
              </a:tr>
              <a:tr h="310896">
                <a:tc>
                  <a:txBody>
                    <a:bodyPr wrap="square"/>
                    <a:lstStyle/>
                    <a:p>
                      <a:pPr algn="l"/>
                      <a:r>
                        <a:rPr sz="1050" b="1">
                          <a:solidFill>
                            <a:srgbClr val="8EFEBB"/>
                          </a:solidFill>
                          <a:latin typeface="Manrope"/>
                        </a:rPr>
                        <a:t>Head terms to average position 6</a:t>
                      </a:r>
                    </a:p>
                  </a:txBody>
                  <a:tcPr marL="45720" marR="45720" marT="18288" marB="18288" anchor="ctr">
                    <a:solidFill>
                      <a:srgbClr val="0B2A24"/>
                    </a:solidFill>
                  </a:tcPr>
                </a:tc>
                <a:tc>
                  <a:txBody>
                    <a:bodyPr wrap="square"/>
                    <a:lstStyle/>
                    <a:p>
                      <a:pPr algn="r"/>
                      <a:r>
                        <a:rPr sz="1050" b="1">
                          <a:solidFill>
                            <a:srgbClr val="8EFEBB"/>
                          </a:solidFill>
                          <a:latin typeface="Manrope"/>
                        </a:rPr>
                        <a:t>3.0%</a:t>
                      </a:r>
                    </a:p>
                  </a:txBody>
                  <a:tcPr marL="45720" marR="45720" marT="18288" marB="18288" anchor="ctr">
                    <a:solidFill>
                      <a:srgbClr val="0B2A24"/>
                    </a:solidFill>
                  </a:tcPr>
                </a:tc>
                <a:tc>
                  <a:txBody>
                    <a:bodyPr wrap="square"/>
                    <a:lstStyle/>
                    <a:p>
                      <a:pPr algn="r"/>
                      <a:r>
                        <a:rPr sz="1050" b="1">
                          <a:solidFill>
                            <a:srgbClr val="8EFEBB"/>
                          </a:solidFill>
                          <a:latin typeface="Manrope"/>
                        </a:rPr>
                        <a:t>18,311</a:t>
                      </a:r>
                    </a:p>
                  </a:txBody>
                  <a:tcPr marL="45720" marR="45720" marT="18288" marB="18288" anchor="ctr">
                    <a:solidFill>
                      <a:srgbClr val="0B2A24"/>
                    </a:solidFill>
                  </a:tcPr>
                </a:tc>
                <a:tc>
                  <a:txBody>
                    <a:bodyPr wrap="square"/>
                    <a:lstStyle/>
                    <a:p>
                      <a:pPr algn="r"/>
                      <a:r>
                        <a:rPr sz="1050" b="1">
                          <a:solidFill>
                            <a:srgbClr val="8EFEBB"/>
                          </a:solidFill>
                          <a:latin typeface="Manrope"/>
                        </a:rPr>
                        <a:t>£121,736</a:t>
                      </a:r>
                    </a:p>
                  </a:txBody>
                  <a:tcPr marL="45720" marR="45720" marT="18288" marB="18288" anchor="ctr">
                    <a:solidFill>
                      <a:srgbClr val="0B2A24"/>
                    </a:solidFill>
                  </a:tcPr>
                </a:tc>
              </a:tr>
              <a:tr h="310896">
                <a:tc>
                  <a:txBody>
                    <a:bodyPr wrap="square"/>
                    <a:lstStyle/>
                    <a:p>
                      <a:pPr algn="l"/>
                      <a:r>
                        <a:rPr sz="1050" b="0">
                          <a:solidFill>
                            <a:srgbClr val="E8F2EC"/>
                          </a:solidFill>
                          <a:latin typeface="Manrope"/>
                        </a:rPr>
                        <a:t>Head terms to position 4–5</a:t>
                      </a:r>
                    </a:p>
                  </a:txBody>
                  <a:tcPr marL="45720" marR="45720" marT="18288" marB="18288" anchor="ctr">
                    <a:solidFill>
                      <a:srgbClr val="051412"/>
                    </a:solidFill>
                  </a:tcPr>
                </a:tc>
                <a:tc>
                  <a:txBody>
                    <a:bodyPr wrap="square"/>
                    <a:lstStyle/>
                    <a:p>
                      <a:pPr algn="r"/>
                      <a:r>
                        <a:rPr sz="1050" b="0">
                          <a:solidFill>
                            <a:srgbClr val="E8F2EC"/>
                          </a:solidFill>
                          <a:latin typeface="Manrope"/>
                        </a:rPr>
                        <a:t>5.0%</a:t>
                      </a:r>
                    </a:p>
                  </a:txBody>
                  <a:tcPr marL="45720" marR="45720" marT="18288" marB="18288" anchor="ctr">
                    <a:solidFill>
                      <a:srgbClr val="051412"/>
                    </a:solidFill>
                  </a:tcPr>
                </a:tc>
                <a:tc>
                  <a:txBody>
                    <a:bodyPr wrap="square"/>
                    <a:lstStyle/>
                    <a:p>
                      <a:pPr algn="r"/>
                      <a:r>
                        <a:rPr sz="1050" b="0">
                          <a:solidFill>
                            <a:srgbClr val="E8F2EC"/>
                          </a:solidFill>
                          <a:latin typeface="Manrope"/>
                        </a:rPr>
                        <a:t>30,519</a:t>
                      </a:r>
                    </a:p>
                  </a:txBody>
                  <a:tcPr marL="45720" marR="45720" marT="18288" marB="18288" anchor="ctr">
                    <a:solidFill>
                      <a:srgbClr val="051412"/>
                    </a:solidFill>
                  </a:tcPr>
                </a:tc>
                <a:tc>
                  <a:txBody>
                    <a:bodyPr wrap="square"/>
                    <a:lstStyle/>
                    <a:p>
                      <a:pPr algn="r"/>
                      <a:r>
                        <a:rPr sz="1050" b="0">
                          <a:solidFill>
                            <a:srgbClr val="E8F2EC"/>
                          </a:solidFill>
                          <a:latin typeface="Manrope"/>
                        </a:rPr>
                        <a:t>£202,894</a:t>
                      </a:r>
                    </a:p>
                  </a:txBody>
                  <a:tcPr marL="45720" marR="45720" marT="18288" marB="18288" anchor="ctr">
                    <a:solidFill>
                      <a:srgbClr val="051412"/>
                    </a:solidFill>
                  </a:tcPr>
                </a:tc>
              </a:tr>
            </a:tbl>
          </a:graphicData>
        </a:graphic>
      </p:graphicFrame>
      <p:sp>
        <p:nvSpPr>
          <p:cNvPr id="30" name="TextBox 29"/>
          <p:cNvSpPr txBox="1"/>
          <p:nvPr/>
        </p:nvSpPr>
        <p:spPr>
          <a:xfrm>
            <a:off x="6144768" y="3721608"/>
            <a:ext cx="5479999" cy="640080"/>
          </a:xfrm>
          <a:prstGeom prst="rect">
            <a:avLst/>
          </a:prstGeom>
          <a:noFill/>
        </p:spPr>
        <p:txBody>
          <a:bodyPr wrap="square" lIns="0" rIns="0" tIns="0" bIns="0">
            <a:spAutoFit/>
          </a:bodyPr>
          <a:lstStyle/>
          <a:p>
            <a:pPr>
              <a:lnSpc>
                <a:spcPct val="140000"/>
              </a:lnSpc>
              <a:spcAft>
                <a:spcPts val="0"/>
              </a:spcAft>
            </a:pPr>
            <a:r>
              <a:rPr sz="980" b="0" i="0">
                <a:solidFill>
                  <a:srgbClr val="6B7B74"/>
                </a:solidFill>
                <a:latin typeface="Manrope"/>
              </a:rPr>
              <a:t>Modelled on current impressions and a £443 average order value, at the measured 1.45–1.5% conversion rate. Impressions would also rise with position, so these are conservative on volume.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08 · LEVER · PAID MEDIA</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The account is over-segmented, and the marginal pound buys </a:t>
            </a:r>
            <a:r>
              <a:rPr sz="2700" b="1" i="1" spc="-70">
                <a:solidFill>
                  <a:srgbClr val="8EFEBB"/>
                </a:solidFill>
                <a:latin typeface="Instrument Serif"/>
              </a:rPr>
              <a:t>less</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August 2026 actuals from the Google Ads account. The structure, not the budget, is what is capping return.</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13</a:t>
            </a:r>
          </a:p>
        </p:txBody>
      </p:sp>
      <p:sp>
        <p:nvSpPr>
          <p:cNvPr id="9" name="TextBox 8"/>
          <p:cNvSpPr txBox="1"/>
          <p:nvPr/>
        </p:nvSpPr>
        <p:spPr>
          <a:xfrm>
            <a:off x="566928" y="2029968"/>
            <a:ext cx="5394960" cy="182880"/>
          </a:xfrm>
          <a:prstGeom prst="rect">
            <a:avLst/>
          </a:prstGeom>
          <a:noFill/>
        </p:spPr>
        <p:txBody>
          <a:bodyPr wrap="square" lIns="0" rIns="0" tIns="0" bIns="0" anchor="t">
            <a:spAutoFit/>
          </a:bodyPr>
          <a:lstStyle/>
          <a:p>
            <a:pPr algn="l"/>
            <a:r>
              <a:rPr sz="850" b="1" i="0" spc="160">
                <a:solidFill>
                  <a:srgbClr val="6B7B74"/>
                </a:solidFill>
                <a:latin typeface="Manrope"/>
              </a:rPr>
              <a:t>GOOGLE ADS · AUGUST 2026 · 18 LIVE CAMPAIGNS</a:t>
            </a:r>
          </a:p>
        </p:txBody>
      </p:sp>
      <p:graphicFrame>
        <p:nvGraphicFramePr>
          <p:cNvPr id="10" name="Table 9"/>
          <p:cNvGraphicFramePr>
            <a:graphicFrameLocks noGrp="1"/>
          </p:cNvGraphicFramePr>
          <p:nvPr/>
        </p:nvGraphicFramePr>
        <p:xfrm>
          <a:off x="566928" y="2286000"/>
          <a:ext cx="5394958" cy="2537460"/>
        </p:xfrm>
        <a:graphic>
          <a:graphicData uri="http://schemas.openxmlformats.org/drawingml/2006/table">
            <a:tbl>
              <a:tblPr firstRow="1" bandRow="1">
                <a:tableStyleId>{5C22544A-7EE6-4342-B048-85BDC9FD1C3A}</a:tableStyleId>
              </a:tblPr>
              <a:tblGrid>
                <a:gridCol w="2418430"/>
                <a:gridCol w="1023182"/>
                <a:gridCol w="1116198"/>
                <a:gridCol w="837148"/>
              </a:tblGrid>
              <a:tr h="274320">
                <a:tc>
                  <a:txBody>
                    <a:bodyPr wrap="square"/>
                    <a:lstStyle/>
                    <a:p>
                      <a:pPr algn="l"/>
                      <a:r>
                        <a:rPr sz="780" b="1">
                          <a:solidFill>
                            <a:srgbClr val="6B7B74"/>
                          </a:solidFill>
                          <a:latin typeface="Manrope"/>
                        </a:rPr>
                        <a:t>CAMPAIGN</a:t>
                      </a:r>
                    </a:p>
                  </a:txBody>
                  <a:tcPr marL="45720" marR="45720" marT="18288" marB="18288" anchor="ctr">
                    <a:solidFill>
                      <a:srgbClr val="051412"/>
                    </a:solidFill>
                  </a:tcPr>
                </a:tc>
                <a:tc>
                  <a:txBody>
                    <a:bodyPr wrap="square"/>
                    <a:lstStyle/>
                    <a:p>
                      <a:pPr algn="r"/>
                      <a:r>
                        <a:rPr sz="780" b="1">
                          <a:solidFill>
                            <a:srgbClr val="6B7B74"/>
                          </a:solidFill>
                          <a:latin typeface="Manrope"/>
                        </a:rPr>
                        <a:t>SPEND</a:t>
                      </a:r>
                    </a:p>
                  </a:txBody>
                  <a:tcPr marL="45720" marR="45720" marT="18288" marB="18288" anchor="ctr">
                    <a:solidFill>
                      <a:srgbClr val="051412"/>
                    </a:solidFill>
                  </a:tcPr>
                </a:tc>
                <a:tc>
                  <a:txBody>
                    <a:bodyPr wrap="square"/>
                    <a:lstStyle/>
                    <a:p>
                      <a:pPr algn="r"/>
                      <a:r>
                        <a:rPr sz="780" b="1">
                          <a:solidFill>
                            <a:srgbClr val="6B7B74"/>
                          </a:solidFill>
                          <a:latin typeface="Manrope"/>
                        </a:rPr>
                        <a:t>REVENUE</a:t>
                      </a:r>
                    </a:p>
                  </a:txBody>
                  <a:tcPr marL="45720" marR="45720" marT="18288" marB="18288" anchor="ctr">
                    <a:solidFill>
                      <a:srgbClr val="051412"/>
                    </a:solidFill>
                  </a:tcPr>
                </a:tc>
                <a:tc>
                  <a:txBody>
                    <a:bodyPr wrap="square"/>
                    <a:lstStyle/>
                    <a:p>
                      <a:pPr algn="r"/>
                      <a:r>
                        <a:rPr sz="780" b="1">
                          <a:solidFill>
                            <a:srgbClr val="6B7B74"/>
                          </a:solidFill>
                          <a:latin typeface="Manrope"/>
                        </a:rPr>
                        <a:t>ROAS</a:t>
                      </a:r>
                    </a:p>
                  </a:txBody>
                  <a:tcPr marL="45720" marR="45720" marT="18288" marB="18288" anchor="ctr">
                    <a:solidFill>
                      <a:srgbClr val="051412"/>
                    </a:solidFill>
                  </a:tcPr>
                </a:tc>
              </a:tr>
              <a:tr h="251460">
                <a:tc>
                  <a:txBody>
                    <a:bodyPr wrap="square"/>
                    <a:lstStyle/>
                    <a:p>
                      <a:pPr algn="l"/>
                      <a:r>
                        <a:rPr sz="1000" b="0">
                          <a:solidFill>
                            <a:srgbClr val="E8F2EC"/>
                          </a:solidFill>
                          <a:latin typeface="Manrope"/>
                        </a:rPr>
                        <a:t>PMax · Shopping</a:t>
                      </a:r>
                    </a:p>
                  </a:txBody>
                  <a:tcPr marL="45720" marR="45720" marT="18288" marB="18288" anchor="ctr">
                    <a:solidFill>
                      <a:srgbClr val="051412"/>
                    </a:solidFill>
                  </a:tcPr>
                </a:tc>
                <a:tc>
                  <a:txBody>
                    <a:bodyPr wrap="square"/>
                    <a:lstStyle/>
                    <a:p>
                      <a:pPr algn="r"/>
                      <a:r>
                        <a:rPr sz="1000" b="0">
                          <a:solidFill>
                            <a:srgbClr val="E8F2EC"/>
                          </a:solidFill>
                          <a:latin typeface="Manrope"/>
                        </a:rPr>
                        <a:t>£6,112</a:t>
                      </a:r>
                    </a:p>
                  </a:txBody>
                  <a:tcPr marL="45720" marR="45720" marT="18288" marB="18288" anchor="ctr">
                    <a:solidFill>
                      <a:srgbClr val="051412"/>
                    </a:solidFill>
                  </a:tcPr>
                </a:tc>
                <a:tc>
                  <a:txBody>
                    <a:bodyPr wrap="square"/>
                    <a:lstStyle/>
                    <a:p>
                      <a:pPr algn="r"/>
                      <a:r>
                        <a:rPr sz="1000" b="0">
                          <a:solidFill>
                            <a:srgbClr val="E8F2EC"/>
                          </a:solidFill>
                          <a:latin typeface="Manrope"/>
                        </a:rPr>
                        <a:t>£48,334</a:t>
                      </a:r>
                    </a:p>
                  </a:txBody>
                  <a:tcPr marL="45720" marR="45720" marT="18288" marB="18288" anchor="ctr">
                    <a:solidFill>
                      <a:srgbClr val="051412"/>
                    </a:solidFill>
                  </a:tcPr>
                </a:tc>
                <a:tc>
                  <a:txBody>
                    <a:bodyPr wrap="square"/>
                    <a:lstStyle/>
                    <a:p>
                      <a:pPr algn="r"/>
                      <a:r>
                        <a:rPr sz="1000" b="0">
                          <a:solidFill>
                            <a:srgbClr val="E8F2EC"/>
                          </a:solidFill>
                          <a:latin typeface="Manrope"/>
                        </a:rPr>
                        <a:t>7.91</a:t>
                      </a:r>
                    </a:p>
                  </a:txBody>
                  <a:tcPr marL="45720" marR="45720" marT="18288" marB="18288" anchor="ctr">
                    <a:solidFill>
                      <a:srgbClr val="051412"/>
                    </a:solidFill>
                  </a:tcPr>
                </a:tc>
              </a:tr>
              <a:tr h="251460">
                <a:tc>
                  <a:txBody>
                    <a:bodyPr wrap="square"/>
                    <a:lstStyle/>
                    <a:p>
                      <a:pPr algn="l"/>
                      <a:r>
                        <a:rPr sz="1000" b="0">
                          <a:solidFill>
                            <a:srgbClr val="E8F2EC"/>
                          </a:solidFill>
                          <a:latin typeface="Manrope"/>
                        </a:rPr>
                        <a:t>Shopping · Architraves</a:t>
                      </a:r>
                    </a:p>
                  </a:txBody>
                  <a:tcPr marL="45720" marR="45720" marT="18288" marB="18288" anchor="ctr">
                    <a:solidFill>
                      <a:srgbClr val="051412"/>
                    </a:solidFill>
                  </a:tcPr>
                </a:tc>
                <a:tc>
                  <a:txBody>
                    <a:bodyPr wrap="square"/>
                    <a:lstStyle/>
                    <a:p>
                      <a:pPr algn="r"/>
                      <a:r>
                        <a:rPr sz="1000" b="0">
                          <a:solidFill>
                            <a:srgbClr val="E8F2EC"/>
                          </a:solidFill>
                          <a:latin typeface="Manrope"/>
                        </a:rPr>
                        <a:t>£3,580</a:t>
                      </a:r>
                    </a:p>
                  </a:txBody>
                  <a:tcPr marL="45720" marR="45720" marT="18288" marB="18288" anchor="ctr">
                    <a:solidFill>
                      <a:srgbClr val="051412"/>
                    </a:solidFill>
                  </a:tcPr>
                </a:tc>
                <a:tc>
                  <a:txBody>
                    <a:bodyPr wrap="square"/>
                    <a:lstStyle/>
                    <a:p>
                      <a:pPr algn="r"/>
                      <a:r>
                        <a:rPr sz="1000" b="0">
                          <a:solidFill>
                            <a:srgbClr val="E8F2EC"/>
                          </a:solidFill>
                          <a:latin typeface="Manrope"/>
                        </a:rPr>
                        <a:t>£15,481</a:t>
                      </a:r>
                    </a:p>
                  </a:txBody>
                  <a:tcPr marL="45720" marR="45720" marT="18288" marB="18288" anchor="ctr">
                    <a:solidFill>
                      <a:srgbClr val="051412"/>
                    </a:solidFill>
                  </a:tcPr>
                </a:tc>
                <a:tc>
                  <a:txBody>
                    <a:bodyPr wrap="square"/>
                    <a:lstStyle/>
                    <a:p>
                      <a:pPr algn="r"/>
                      <a:r>
                        <a:rPr sz="1000" b="0">
                          <a:solidFill>
                            <a:srgbClr val="E8F2EC"/>
                          </a:solidFill>
                          <a:latin typeface="Manrope"/>
                        </a:rPr>
                        <a:t>4.32</a:t>
                      </a:r>
                    </a:p>
                  </a:txBody>
                  <a:tcPr marL="45720" marR="45720" marT="18288" marB="18288" anchor="ctr">
                    <a:solidFill>
                      <a:srgbClr val="051412"/>
                    </a:solidFill>
                  </a:tcPr>
                </a:tc>
              </a:tr>
              <a:tr h="251460">
                <a:tc>
                  <a:txBody>
                    <a:bodyPr wrap="square"/>
                    <a:lstStyle/>
                    <a:p>
                      <a:pPr algn="l"/>
                      <a:r>
                        <a:rPr sz="1000" b="0">
                          <a:solidFill>
                            <a:srgbClr val="E8F2EC"/>
                          </a:solidFill>
                          <a:latin typeface="Manrope"/>
                        </a:rPr>
                        <a:t>Shopping · Panel Moulds</a:t>
                      </a:r>
                    </a:p>
                  </a:txBody>
                  <a:tcPr marL="45720" marR="45720" marT="18288" marB="18288" anchor="ctr">
                    <a:solidFill>
                      <a:srgbClr val="051412"/>
                    </a:solidFill>
                  </a:tcPr>
                </a:tc>
                <a:tc>
                  <a:txBody>
                    <a:bodyPr wrap="square"/>
                    <a:lstStyle/>
                    <a:p>
                      <a:pPr algn="r"/>
                      <a:r>
                        <a:rPr sz="1000" b="0">
                          <a:solidFill>
                            <a:srgbClr val="E8F2EC"/>
                          </a:solidFill>
                          <a:latin typeface="Manrope"/>
                        </a:rPr>
                        <a:t>£3,305</a:t>
                      </a:r>
                    </a:p>
                  </a:txBody>
                  <a:tcPr marL="45720" marR="45720" marT="18288" marB="18288" anchor="ctr">
                    <a:solidFill>
                      <a:srgbClr val="051412"/>
                    </a:solidFill>
                  </a:tcPr>
                </a:tc>
                <a:tc>
                  <a:txBody>
                    <a:bodyPr wrap="square"/>
                    <a:lstStyle/>
                    <a:p>
                      <a:pPr algn="r"/>
                      <a:r>
                        <a:rPr sz="1000" b="0">
                          <a:solidFill>
                            <a:srgbClr val="E8F2EC"/>
                          </a:solidFill>
                          <a:latin typeface="Manrope"/>
                        </a:rPr>
                        <a:t>£13,253</a:t>
                      </a:r>
                    </a:p>
                  </a:txBody>
                  <a:tcPr marL="45720" marR="45720" marT="18288" marB="18288" anchor="ctr">
                    <a:solidFill>
                      <a:srgbClr val="051412"/>
                    </a:solidFill>
                  </a:tcPr>
                </a:tc>
                <a:tc>
                  <a:txBody>
                    <a:bodyPr wrap="square"/>
                    <a:lstStyle/>
                    <a:p>
                      <a:pPr algn="r"/>
                      <a:r>
                        <a:rPr sz="1000" b="0">
                          <a:solidFill>
                            <a:srgbClr val="E8F2EC"/>
                          </a:solidFill>
                          <a:latin typeface="Manrope"/>
                        </a:rPr>
                        <a:t>4.01</a:t>
                      </a:r>
                    </a:p>
                  </a:txBody>
                  <a:tcPr marL="45720" marR="45720" marT="18288" marB="18288" anchor="ctr">
                    <a:solidFill>
                      <a:srgbClr val="051412"/>
                    </a:solidFill>
                  </a:tcPr>
                </a:tc>
              </a:tr>
              <a:tr h="251460">
                <a:tc>
                  <a:txBody>
                    <a:bodyPr wrap="square"/>
                    <a:lstStyle/>
                    <a:p>
                      <a:pPr algn="l"/>
                      <a:r>
                        <a:rPr sz="1000" b="0">
                          <a:solidFill>
                            <a:srgbClr val="E8F2EC"/>
                          </a:solidFill>
                          <a:latin typeface="Manrope"/>
                        </a:rPr>
                        <a:t>Search · Skirting Boards</a:t>
                      </a:r>
                    </a:p>
                  </a:txBody>
                  <a:tcPr marL="45720" marR="45720" marT="18288" marB="18288" anchor="ctr">
                    <a:solidFill>
                      <a:srgbClr val="051412"/>
                    </a:solidFill>
                  </a:tcPr>
                </a:tc>
                <a:tc>
                  <a:txBody>
                    <a:bodyPr wrap="square"/>
                    <a:lstStyle/>
                    <a:p>
                      <a:pPr algn="r"/>
                      <a:r>
                        <a:rPr sz="1000" b="0">
                          <a:solidFill>
                            <a:srgbClr val="E8F2EC"/>
                          </a:solidFill>
                          <a:latin typeface="Manrope"/>
                        </a:rPr>
                        <a:t>£1,646</a:t>
                      </a:r>
                    </a:p>
                  </a:txBody>
                  <a:tcPr marL="45720" marR="45720" marT="18288" marB="18288" anchor="ctr">
                    <a:solidFill>
                      <a:srgbClr val="051412"/>
                    </a:solidFill>
                  </a:tcPr>
                </a:tc>
                <a:tc>
                  <a:txBody>
                    <a:bodyPr wrap="square"/>
                    <a:lstStyle/>
                    <a:p>
                      <a:pPr algn="r"/>
                      <a:r>
                        <a:rPr sz="1000" b="0">
                          <a:solidFill>
                            <a:srgbClr val="E8F2EC"/>
                          </a:solidFill>
                          <a:latin typeface="Manrope"/>
                        </a:rPr>
                        <a:t>£4,942</a:t>
                      </a:r>
                    </a:p>
                  </a:txBody>
                  <a:tcPr marL="45720" marR="45720" marT="18288" marB="18288" anchor="ctr">
                    <a:solidFill>
                      <a:srgbClr val="051412"/>
                    </a:solidFill>
                  </a:tcPr>
                </a:tc>
                <a:tc>
                  <a:txBody>
                    <a:bodyPr wrap="square"/>
                    <a:lstStyle/>
                    <a:p>
                      <a:pPr algn="r"/>
                      <a:r>
                        <a:rPr sz="1000" b="0">
                          <a:solidFill>
                            <a:srgbClr val="E8F2EC"/>
                          </a:solidFill>
                          <a:latin typeface="Manrope"/>
                        </a:rPr>
                        <a:t>3.00</a:t>
                      </a:r>
                    </a:p>
                  </a:txBody>
                  <a:tcPr marL="45720" marR="45720" marT="18288" marB="18288" anchor="ctr">
                    <a:solidFill>
                      <a:srgbClr val="051412"/>
                    </a:solidFill>
                  </a:tcPr>
                </a:tc>
              </a:tr>
              <a:tr h="251460">
                <a:tc>
                  <a:txBody>
                    <a:bodyPr wrap="square"/>
                    <a:lstStyle/>
                    <a:p>
                      <a:pPr algn="l"/>
                      <a:r>
                        <a:rPr sz="1000" b="0">
                          <a:solidFill>
                            <a:srgbClr val="E8F2EC"/>
                          </a:solidFill>
                          <a:latin typeface="Manrope"/>
                        </a:rPr>
                        <a:t>Shopping · Cornices</a:t>
                      </a:r>
                    </a:p>
                  </a:txBody>
                  <a:tcPr marL="45720" marR="45720" marT="18288" marB="18288" anchor="ctr">
                    <a:solidFill>
                      <a:srgbClr val="051412"/>
                    </a:solidFill>
                  </a:tcPr>
                </a:tc>
                <a:tc>
                  <a:txBody>
                    <a:bodyPr wrap="square"/>
                    <a:lstStyle/>
                    <a:p>
                      <a:pPr algn="r"/>
                      <a:r>
                        <a:rPr sz="1000" b="0">
                          <a:solidFill>
                            <a:srgbClr val="E8F2EC"/>
                          </a:solidFill>
                          <a:latin typeface="Manrope"/>
                        </a:rPr>
                        <a:t>£1,443</a:t>
                      </a:r>
                    </a:p>
                  </a:txBody>
                  <a:tcPr marL="45720" marR="45720" marT="18288" marB="18288" anchor="ctr">
                    <a:solidFill>
                      <a:srgbClr val="051412"/>
                    </a:solidFill>
                  </a:tcPr>
                </a:tc>
                <a:tc>
                  <a:txBody>
                    <a:bodyPr wrap="square"/>
                    <a:lstStyle/>
                    <a:p>
                      <a:pPr algn="r"/>
                      <a:r>
                        <a:rPr sz="1000" b="0">
                          <a:solidFill>
                            <a:srgbClr val="E8F2EC"/>
                          </a:solidFill>
                          <a:latin typeface="Manrope"/>
                        </a:rPr>
                        <a:t>£10,343</a:t>
                      </a:r>
                    </a:p>
                  </a:txBody>
                  <a:tcPr marL="45720" marR="45720" marT="18288" marB="18288" anchor="ctr">
                    <a:solidFill>
                      <a:srgbClr val="051412"/>
                    </a:solidFill>
                  </a:tcPr>
                </a:tc>
                <a:tc>
                  <a:txBody>
                    <a:bodyPr wrap="square"/>
                    <a:lstStyle/>
                    <a:p>
                      <a:pPr algn="r"/>
                      <a:r>
                        <a:rPr sz="1000" b="0">
                          <a:solidFill>
                            <a:srgbClr val="E8F2EC"/>
                          </a:solidFill>
                          <a:latin typeface="Manrope"/>
                        </a:rPr>
                        <a:t>7.17</a:t>
                      </a:r>
                    </a:p>
                  </a:txBody>
                  <a:tcPr marL="45720" marR="45720" marT="18288" marB="18288" anchor="ctr">
                    <a:solidFill>
                      <a:srgbClr val="051412"/>
                    </a:solidFill>
                  </a:tcPr>
                </a:tc>
              </a:tr>
              <a:tr h="251460">
                <a:tc>
                  <a:txBody>
                    <a:bodyPr wrap="square"/>
                    <a:lstStyle/>
                    <a:p>
                      <a:pPr algn="l"/>
                      <a:r>
                        <a:rPr sz="1000" b="1">
                          <a:solidFill>
                            <a:srgbClr val="8EFEBB"/>
                          </a:solidFill>
                          <a:latin typeface="Manrope"/>
                        </a:rPr>
                        <a:t>Search · Brand</a:t>
                      </a:r>
                    </a:p>
                  </a:txBody>
                  <a:tcPr marL="45720" marR="45720" marT="18288" marB="18288" anchor="ctr">
                    <a:solidFill>
                      <a:srgbClr val="0B2A24"/>
                    </a:solidFill>
                  </a:tcPr>
                </a:tc>
                <a:tc>
                  <a:txBody>
                    <a:bodyPr wrap="square"/>
                    <a:lstStyle/>
                    <a:p>
                      <a:pPr algn="r"/>
                      <a:r>
                        <a:rPr sz="1000" b="1">
                          <a:solidFill>
                            <a:srgbClr val="8EFEBB"/>
                          </a:solidFill>
                          <a:latin typeface="Manrope"/>
                        </a:rPr>
                        <a:t>£1,183</a:t>
                      </a:r>
                    </a:p>
                  </a:txBody>
                  <a:tcPr marL="45720" marR="45720" marT="18288" marB="18288" anchor="ctr">
                    <a:solidFill>
                      <a:srgbClr val="0B2A24"/>
                    </a:solidFill>
                  </a:tcPr>
                </a:tc>
                <a:tc>
                  <a:txBody>
                    <a:bodyPr wrap="square"/>
                    <a:lstStyle/>
                    <a:p>
                      <a:pPr algn="r"/>
                      <a:r>
                        <a:rPr sz="1000" b="1">
                          <a:solidFill>
                            <a:srgbClr val="8EFEBB"/>
                          </a:solidFill>
                          <a:latin typeface="Manrope"/>
                        </a:rPr>
                        <a:t>£36,509</a:t>
                      </a:r>
                    </a:p>
                  </a:txBody>
                  <a:tcPr marL="45720" marR="45720" marT="18288" marB="18288" anchor="ctr">
                    <a:solidFill>
                      <a:srgbClr val="0B2A24"/>
                    </a:solidFill>
                  </a:tcPr>
                </a:tc>
                <a:tc>
                  <a:txBody>
                    <a:bodyPr wrap="square"/>
                    <a:lstStyle/>
                    <a:p>
                      <a:pPr algn="r"/>
                      <a:r>
                        <a:rPr sz="1000" b="1">
                          <a:solidFill>
                            <a:srgbClr val="8EFEBB"/>
                          </a:solidFill>
                          <a:latin typeface="Manrope"/>
                        </a:rPr>
                        <a:t>30.87</a:t>
                      </a:r>
                    </a:p>
                  </a:txBody>
                  <a:tcPr marL="45720" marR="45720" marT="18288" marB="18288" anchor="ctr">
                    <a:solidFill>
                      <a:srgbClr val="0B2A24"/>
                    </a:solidFill>
                  </a:tcPr>
                </a:tc>
              </a:tr>
              <a:tr h="251460">
                <a:tc>
                  <a:txBody>
                    <a:bodyPr wrap="square"/>
                    <a:lstStyle/>
                    <a:p>
                      <a:pPr algn="l"/>
                      <a:r>
                        <a:rPr sz="1000" b="0">
                          <a:solidFill>
                            <a:srgbClr val="E8F2EC"/>
                          </a:solidFill>
                          <a:latin typeface="Manrope"/>
                        </a:rPr>
                        <a:t>Shopping · Dado &amp; Picture Rails</a:t>
                      </a:r>
                    </a:p>
                  </a:txBody>
                  <a:tcPr marL="45720" marR="45720" marT="18288" marB="18288" anchor="ctr">
                    <a:solidFill>
                      <a:srgbClr val="051412"/>
                    </a:solidFill>
                  </a:tcPr>
                </a:tc>
                <a:tc>
                  <a:txBody>
                    <a:bodyPr wrap="square"/>
                    <a:lstStyle/>
                    <a:p>
                      <a:pPr algn="r"/>
                      <a:r>
                        <a:rPr sz="1000" b="0">
                          <a:solidFill>
                            <a:srgbClr val="E8F2EC"/>
                          </a:solidFill>
                          <a:latin typeface="Manrope"/>
                        </a:rPr>
                        <a:t>£1,157</a:t>
                      </a:r>
                    </a:p>
                  </a:txBody>
                  <a:tcPr marL="45720" marR="45720" marT="18288" marB="18288" anchor="ctr">
                    <a:solidFill>
                      <a:srgbClr val="051412"/>
                    </a:solidFill>
                  </a:tcPr>
                </a:tc>
                <a:tc>
                  <a:txBody>
                    <a:bodyPr wrap="square"/>
                    <a:lstStyle/>
                    <a:p>
                      <a:pPr algn="r"/>
                      <a:r>
                        <a:rPr sz="1000" b="0">
                          <a:solidFill>
                            <a:srgbClr val="E8F2EC"/>
                          </a:solidFill>
                          <a:latin typeface="Manrope"/>
                        </a:rPr>
                        <a:t>£4,487</a:t>
                      </a:r>
                    </a:p>
                  </a:txBody>
                  <a:tcPr marL="45720" marR="45720" marT="18288" marB="18288" anchor="ctr">
                    <a:solidFill>
                      <a:srgbClr val="051412"/>
                    </a:solidFill>
                  </a:tcPr>
                </a:tc>
                <a:tc>
                  <a:txBody>
                    <a:bodyPr wrap="square"/>
                    <a:lstStyle/>
                    <a:p>
                      <a:pPr algn="r"/>
                      <a:r>
                        <a:rPr sz="1000" b="0">
                          <a:solidFill>
                            <a:srgbClr val="E8F2EC"/>
                          </a:solidFill>
                          <a:latin typeface="Manrope"/>
                        </a:rPr>
                        <a:t>3.88</a:t>
                      </a:r>
                    </a:p>
                  </a:txBody>
                  <a:tcPr marL="45720" marR="45720" marT="18288" marB="18288" anchor="ctr">
                    <a:solidFill>
                      <a:srgbClr val="051412"/>
                    </a:solidFill>
                  </a:tcPr>
                </a:tc>
              </a:tr>
              <a:tr h="251460">
                <a:tc>
                  <a:txBody>
                    <a:bodyPr wrap="square"/>
                    <a:lstStyle/>
                    <a:p>
                      <a:pPr algn="l"/>
                      <a:r>
                        <a:rPr sz="1000" b="0">
                          <a:solidFill>
                            <a:srgbClr val="E8F2EC"/>
                          </a:solidFill>
                          <a:latin typeface="Manrope"/>
                        </a:rPr>
                        <a:t>Shopping · Zombie Products</a:t>
                      </a:r>
                    </a:p>
                  </a:txBody>
                  <a:tcPr marL="45720" marR="45720" marT="18288" marB="18288" anchor="ctr">
                    <a:solidFill>
                      <a:srgbClr val="051412"/>
                    </a:solidFill>
                  </a:tcPr>
                </a:tc>
                <a:tc>
                  <a:txBody>
                    <a:bodyPr wrap="square"/>
                    <a:lstStyle/>
                    <a:p>
                      <a:pPr algn="r"/>
                      <a:r>
                        <a:rPr sz="1000" b="0">
                          <a:solidFill>
                            <a:srgbClr val="E8F2EC"/>
                          </a:solidFill>
                          <a:latin typeface="Manrope"/>
                        </a:rPr>
                        <a:t>£906</a:t>
                      </a:r>
                    </a:p>
                  </a:txBody>
                  <a:tcPr marL="45720" marR="45720" marT="18288" marB="18288" anchor="ctr">
                    <a:solidFill>
                      <a:srgbClr val="051412"/>
                    </a:solidFill>
                  </a:tcPr>
                </a:tc>
                <a:tc>
                  <a:txBody>
                    <a:bodyPr wrap="square"/>
                    <a:lstStyle/>
                    <a:p>
                      <a:pPr algn="r"/>
                      <a:r>
                        <a:rPr sz="1000" b="0">
                          <a:solidFill>
                            <a:srgbClr val="E8F2EC"/>
                          </a:solidFill>
                          <a:latin typeface="Manrope"/>
                        </a:rPr>
                        <a:t>£1,971</a:t>
                      </a:r>
                    </a:p>
                  </a:txBody>
                  <a:tcPr marL="45720" marR="45720" marT="18288" marB="18288" anchor="ctr">
                    <a:solidFill>
                      <a:srgbClr val="051412"/>
                    </a:solidFill>
                  </a:tcPr>
                </a:tc>
                <a:tc>
                  <a:txBody>
                    <a:bodyPr wrap="square"/>
                    <a:lstStyle/>
                    <a:p>
                      <a:pPr algn="r"/>
                      <a:r>
                        <a:rPr sz="1000" b="0">
                          <a:solidFill>
                            <a:srgbClr val="E8F2EC"/>
                          </a:solidFill>
                          <a:latin typeface="Manrope"/>
                        </a:rPr>
                        <a:t>2.18</a:t>
                      </a:r>
                    </a:p>
                  </a:txBody>
                  <a:tcPr marL="45720" marR="45720" marT="18288" marB="18288" anchor="ctr">
                    <a:solidFill>
                      <a:srgbClr val="051412"/>
                    </a:solidFill>
                  </a:tcPr>
                </a:tc>
              </a:tr>
              <a:tr h="251460">
                <a:tc>
                  <a:txBody>
                    <a:bodyPr wrap="square"/>
                    <a:lstStyle/>
                    <a:p>
                      <a:pPr algn="l"/>
                      <a:r>
                        <a:rPr sz="1000" b="0">
                          <a:solidFill>
                            <a:srgbClr val="6B7B74"/>
                          </a:solidFill>
                          <a:latin typeface="Manrope"/>
                        </a:rPr>
                        <a:t>Six campaigns under £500 each</a:t>
                      </a:r>
                    </a:p>
                  </a:txBody>
                  <a:tcPr marL="45720" marR="45720" marT="18288" marB="18288" anchor="ctr">
                    <a:solidFill>
                      <a:srgbClr val="051412"/>
                    </a:solidFill>
                  </a:tcPr>
                </a:tc>
                <a:tc>
                  <a:txBody>
                    <a:bodyPr wrap="square"/>
                    <a:lstStyle/>
                    <a:p>
                      <a:pPr algn="r"/>
                      <a:r>
                        <a:rPr sz="1000" b="0">
                          <a:solidFill>
                            <a:srgbClr val="6B7B74"/>
                          </a:solidFill>
                          <a:latin typeface="Manrope"/>
                        </a:rPr>
                        <a:t>£1,551</a:t>
                      </a:r>
                    </a:p>
                  </a:txBody>
                  <a:tcPr marL="45720" marR="45720" marT="18288" marB="18288" anchor="ctr">
                    <a:solidFill>
                      <a:srgbClr val="051412"/>
                    </a:solidFill>
                  </a:tcPr>
                </a:tc>
                <a:tc>
                  <a:txBody>
                    <a:bodyPr wrap="square"/>
                    <a:lstStyle/>
                    <a:p>
                      <a:pPr algn="r"/>
                      <a:r>
                        <a:rPr sz="1000" b="0">
                          <a:solidFill>
                            <a:srgbClr val="6B7B74"/>
                          </a:solidFill>
                          <a:latin typeface="Manrope"/>
                        </a:rPr>
                        <a:t>£3,484</a:t>
                      </a:r>
                    </a:p>
                  </a:txBody>
                  <a:tcPr marL="45720" marR="45720" marT="18288" marB="18288" anchor="ctr">
                    <a:solidFill>
                      <a:srgbClr val="051412"/>
                    </a:solidFill>
                  </a:tcPr>
                </a:tc>
                <a:tc>
                  <a:txBody>
                    <a:bodyPr wrap="square"/>
                    <a:lstStyle/>
                    <a:p>
                      <a:pPr algn="r"/>
                      <a:r>
                        <a:rPr sz="1000" b="0">
                          <a:solidFill>
                            <a:srgbClr val="6B7B74"/>
                          </a:solidFill>
                          <a:latin typeface="Manrope"/>
                        </a:rPr>
                        <a:t>2.25</a:t>
                      </a:r>
                    </a:p>
                  </a:txBody>
                  <a:tcPr marL="45720" marR="45720" marT="18288" marB="18288" anchor="ctr">
                    <a:solidFill>
                      <a:srgbClr val="051412"/>
                    </a:solidFill>
                  </a:tcPr>
                </a:tc>
              </a:tr>
            </a:tbl>
          </a:graphicData>
        </a:graphic>
      </p:graphicFrame>
      <p:sp>
        <p:nvSpPr>
          <p:cNvPr id="11" name="TextBox 10"/>
          <p:cNvSpPr txBox="1"/>
          <p:nvPr/>
        </p:nvSpPr>
        <p:spPr>
          <a:xfrm>
            <a:off x="566928" y="4818888"/>
            <a:ext cx="5394960" cy="36576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Remaining campaigns omitted for space. Blended account ROAS was 6.40 in August.</a:t>
            </a:r>
          </a:p>
        </p:txBody>
      </p:sp>
      <p:sp>
        <p:nvSpPr>
          <p:cNvPr id="12" name="Rounded Rectangle 11"/>
          <p:cNvSpPr/>
          <p:nvPr/>
        </p:nvSpPr>
        <p:spPr>
          <a:xfrm>
            <a:off x="6236208" y="2029968"/>
            <a:ext cx="5388559" cy="1481328"/>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73952" y="2194560"/>
            <a:ext cx="4931359" cy="274320"/>
          </a:xfrm>
          <a:prstGeom prst="rect">
            <a:avLst/>
          </a:prstGeom>
          <a:noFill/>
        </p:spPr>
        <p:txBody>
          <a:bodyPr wrap="square" lIns="0" rIns="0" tIns="0" bIns="0" anchor="t">
            <a:spAutoFit/>
          </a:bodyPr>
          <a:lstStyle/>
          <a:p>
            <a:pPr algn="l"/>
            <a:r>
              <a:rPr sz="1250" b="1" i="0">
                <a:solidFill>
                  <a:srgbClr val="8EFEBB"/>
                </a:solidFill>
                <a:latin typeface="Manrope"/>
              </a:rPr>
              <a:t>Segmentation is costing roughly £45k a month in Shopping alone</a:t>
            </a:r>
          </a:p>
        </p:txBody>
      </p:sp>
      <p:sp>
        <p:nvSpPr>
          <p:cNvPr id="14" name="TextBox 13"/>
          <p:cNvSpPr txBox="1"/>
          <p:nvPr/>
        </p:nvSpPr>
        <p:spPr>
          <a:xfrm>
            <a:off x="6473952" y="2578608"/>
            <a:ext cx="2468880" cy="182880"/>
          </a:xfrm>
          <a:prstGeom prst="rect">
            <a:avLst/>
          </a:prstGeom>
          <a:noFill/>
        </p:spPr>
        <p:txBody>
          <a:bodyPr wrap="square" lIns="0" rIns="0" tIns="0" bIns="0" anchor="t">
            <a:spAutoFit/>
          </a:bodyPr>
          <a:lstStyle/>
          <a:p>
            <a:pPr algn="l"/>
            <a:r>
              <a:rPr sz="780" b="1" i="0" spc="160">
                <a:solidFill>
                  <a:srgbClr val="6B7B74"/>
                </a:solidFill>
                <a:latin typeface="Manrope"/>
              </a:rPr>
              <a:t>EIGHT SEGMENTED SHOPPING CAMPAIGNS</a:t>
            </a:r>
          </a:p>
        </p:txBody>
      </p:sp>
      <p:sp>
        <p:nvSpPr>
          <p:cNvPr id="15" name="TextBox 14"/>
          <p:cNvSpPr txBox="1"/>
          <p:nvPr/>
        </p:nvSpPr>
        <p:spPr>
          <a:xfrm>
            <a:off x="6473952" y="2779776"/>
            <a:ext cx="2468880" cy="502920"/>
          </a:xfrm>
          <a:prstGeom prst="rect">
            <a:avLst/>
          </a:prstGeom>
          <a:noFill/>
        </p:spPr>
        <p:txBody>
          <a:bodyPr wrap="square" lIns="0" rIns="0" tIns="0" bIns="0" anchor="t">
            <a:spAutoFit/>
          </a:bodyPr>
          <a:lstStyle/>
          <a:p>
            <a:pPr algn="l"/>
            <a:r>
              <a:rPr sz="2200" b="1" i="0" spc="-60">
                <a:solidFill>
                  <a:srgbClr val="FFFFFF"/>
                </a:solidFill>
                <a:latin typeface="Manrope"/>
              </a:rPr>
              <a:t>4.51×</a:t>
            </a:r>
          </a:p>
        </p:txBody>
      </p:sp>
      <p:sp>
        <p:nvSpPr>
          <p:cNvPr id="16" name="TextBox 15"/>
          <p:cNvSpPr txBox="1"/>
          <p:nvPr/>
        </p:nvSpPr>
        <p:spPr>
          <a:xfrm>
            <a:off x="6473952" y="3145536"/>
            <a:ext cx="2468880" cy="182880"/>
          </a:xfrm>
          <a:prstGeom prst="rect">
            <a:avLst/>
          </a:prstGeom>
          <a:noFill/>
        </p:spPr>
        <p:txBody>
          <a:bodyPr wrap="square" lIns="0" rIns="0" tIns="0" bIns="0" anchor="t">
            <a:spAutoFit/>
          </a:bodyPr>
          <a:lstStyle/>
          <a:p>
            <a:pPr algn="l"/>
            <a:r>
              <a:rPr sz="900" b="0" i="0">
                <a:solidFill>
                  <a:srgbClr val="6B7B74"/>
                </a:solidFill>
                <a:latin typeface="Manrope"/>
              </a:rPr>
              <a:t>on £13,075</a:t>
            </a:r>
          </a:p>
        </p:txBody>
      </p:sp>
      <p:sp>
        <p:nvSpPr>
          <p:cNvPr id="17" name="TextBox 16"/>
          <p:cNvSpPr txBox="1"/>
          <p:nvPr/>
        </p:nvSpPr>
        <p:spPr>
          <a:xfrm>
            <a:off x="9125712" y="2578608"/>
            <a:ext cx="2468880" cy="182880"/>
          </a:xfrm>
          <a:prstGeom prst="rect">
            <a:avLst/>
          </a:prstGeom>
          <a:noFill/>
        </p:spPr>
        <p:txBody>
          <a:bodyPr wrap="square" lIns="0" rIns="0" tIns="0" bIns="0" anchor="t">
            <a:spAutoFit/>
          </a:bodyPr>
          <a:lstStyle/>
          <a:p>
            <a:pPr algn="l"/>
            <a:r>
              <a:rPr sz="780" b="1" i="0" spc="160">
                <a:solidFill>
                  <a:srgbClr val="6B7B74"/>
                </a:solidFill>
                <a:latin typeface="Manrope"/>
              </a:rPr>
              <a:t>ONE POOLED PMAX CAMPAIGN</a:t>
            </a:r>
          </a:p>
        </p:txBody>
      </p:sp>
      <p:sp>
        <p:nvSpPr>
          <p:cNvPr id="18" name="TextBox 17"/>
          <p:cNvSpPr txBox="1"/>
          <p:nvPr/>
        </p:nvSpPr>
        <p:spPr>
          <a:xfrm>
            <a:off x="9125712" y="2779776"/>
            <a:ext cx="2468880" cy="502920"/>
          </a:xfrm>
          <a:prstGeom prst="rect">
            <a:avLst/>
          </a:prstGeom>
          <a:noFill/>
        </p:spPr>
        <p:txBody>
          <a:bodyPr wrap="square" lIns="0" rIns="0" tIns="0" bIns="0" anchor="t">
            <a:spAutoFit/>
          </a:bodyPr>
          <a:lstStyle/>
          <a:p>
            <a:pPr algn="l"/>
            <a:r>
              <a:rPr sz="2200" b="1" i="0" spc="-60">
                <a:solidFill>
                  <a:srgbClr val="8EFEBB"/>
                </a:solidFill>
                <a:latin typeface="Manrope"/>
              </a:rPr>
              <a:t>7.91×</a:t>
            </a:r>
          </a:p>
        </p:txBody>
      </p:sp>
      <p:sp>
        <p:nvSpPr>
          <p:cNvPr id="19" name="TextBox 18"/>
          <p:cNvSpPr txBox="1"/>
          <p:nvPr/>
        </p:nvSpPr>
        <p:spPr>
          <a:xfrm>
            <a:off x="9125712" y="3145536"/>
            <a:ext cx="2468880" cy="182880"/>
          </a:xfrm>
          <a:prstGeom prst="rect">
            <a:avLst/>
          </a:prstGeom>
          <a:noFill/>
        </p:spPr>
        <p:txBody>
          <a:bodyPr wrap="square" lIns="0" rIns="0" tIns="0" bIns="0" anchor="t">
            <a:spAutoFit/>
          </a:bodyPr>
          <a:lstStyle/>
          <a:p>
            <a:pPr algn="l"/>
            <a:r>
              <a:rPr sz="900" b="0" i="0">
                <a:solidFill>
                  <a:srgbClr val="6B7B74"/>
                </a:solidFill>
                <a:latin typeface="Manrope"/>
              </a:rPr>
              <a:t>on £6,112</a:t>
            </a:r>
          </a:p>
        </p:txBody>
      </p:sp>
      <p:sp>
        <p:nvSpPr>
          <p:cNvPr id="20" name="TextBox 19"/>
          <p:cNvSpPr txBox="1"/>
          <p:nvPr/>
        </p:nvSpPr>
        <p:spPr>
          <a:xfrm>
            <a:off x="6473952" y="3127248"/>
            <a:ext cx="4931359" cy="274320"/>
          </a:xfrm>
          <a:prstGeom prst="rect">
            <a:avLst/>
          </a:prstGeom>
          <a:noFill/>
        </p:spPr>
        <p:txBody>
          <a:bodyPr wrap="square" lIns="0" rIns="0" tIns="0" bIns="0">
            <a:spAutoFit/>
          </a:bodyPr>
          <a:lstStyle/>
          <a:p>
            <a:pPr>
              <a:lnSpc>
                <a:spcPct val="135000"/>
              </a:lnSpc>
              <a:spcAft>
                <a:spcPts val="0"/>
              </a:spcAft>
            </a:pPr>
            <a:r>
              <a:rPr sz="1300" b="0" i="0">
                <a:solidFill>
                  <a:srgbClr val="B9C7C0"/>
                </a:solidFill>
                <a:latin typeface="Manrope"/>
              </a:rPr>
              <a:t/>
            </a:r>
          </a:p>
        </p:txBody>
      </p:sp>
      <p:sp>
        <p:nvSpPr>
          <p:cNvPr id="21" name="Rounded Rectangle 20"/>
          <p:cNvSpPr/>
          <p:nvPr/>
        </p:nvSpPr>
        <p:spPr>
          <a:xfrm>
            <a:off x="6236208" y="3657600"/>
            <a:ext cx="2579979" cy="105156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7376" y="3803904"/>
            <a:ext cx="2214219" cy="182880"/>
          </a:xfrm>
          <a:prstGeom prst="rect">
            <a:avLst/>
          </a:prstGeom>
          <a:noFill/>
        </p:spPr>
        <p:txBody>
          <a:bodyPr wrap="square" lIns="0" rIns="0" tIns="0" bIns="0" anchor="t">
            <a:spAutoFit/>
          </a:bodyPr>
          <a:lstStyle/>
          <a:p>
            <a:pPr algn="l"/>
            <a:r>
              <a:rPr sz="850" b="1" i="0" spc="160">
                <a:solidFill>
                  <a:srgbClr val="FFFFFF"/>
                </a:solidFill>
                <a:latin typeface="Manrope"/>
              </a:rPr>
              <a:t>BRAND IS FLATTERING THE BLEND</a:t>
            </a:r>
          </a:p>
        </p:txBody>
      </p:sp>
      <p:sp>
        <p:nvSpPr>
          <p:cNvPr id="23" name="TextBox 22"/>
          <p:cNvSpPr txBox="1"/>
          <p:nvPr/>
        </p:nvSpPr>
        <p:spPr>
          <a:xfrm>
            <a:off x="6437376" y="4041648"/>
            <a:ext cx="2214219" cy="59436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Brand search returns 30.87× on £1,183 — demand you already own. Strip it out and working media returns 5.20×, not the headline 6.40×.</a:t>
            </a:r>
          </a:p>
        </p:txBody>
      </p:sp>
      <p:sp>
        <p:nvSpPr>
          <p:cNvPr id="24" name="Rounded Rectangle 23"/>
          <p:cNvSpPr/>
          <p:nvPr/>
        </p:nvSpPr>
        <p:spPr>
          <a:xfrm>
            <a:off x="9044787" y="3657600"/>
            <a:ext cx="2579979" cy="105156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245955" y="3803904"/>
            <a:ext cx="2214219" cy="182880"/>
          </a:xfrm>
          <a:prstGeom prst="rect">
            <a:avLst/>
          </a:prstGeom>
          <a:noFill/>
        </p:spPr>
        <p:txBody>
          <a:bodyPr wrap="square" lIns="0" rIns="0" tIns="0" bIns="0" anchor="t">
            <a:spAutoFit/>
          </a:bodyPr>
          <a:lstStyle/>
          <a:p>
            <a:pPr algn="l"/>
            <a:r>
              <a:rPr sz="850" b="1" i="0" spc="160">
                <a:solidFill>
                  <a:srgbClr val="F5D674"/>
                </a:solidFill>
                <a:latin typeface="Manrope"/>
              </a:rPr>
              <a:t>THE MARGINAL POUND BUYS LESS</a:t>
            </a:r>
          </a:p>
        </p:txBody>
      </p:sp>
      <p:sp>
        <p:nvSpPr>
          <p:cNvPr id="26" name="TextBox 25"/>
          <p:cNvSpPr txBox="1"/>
          <p:nvPr/>
        </p:nvSpPr>
        <p:spPr>
          <a:xfrm>
            <a:off x="9245955" y="4041648"/>
            <a:ext cx="2214219" cy="59436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Spend rose 44% June to August. Revenue rose 14%. The incremental £7,704 returned 2.65× — against a 6.40× blended average.</a:t>
            </a:r>
          </a:p>
        </p:txBody>
      </p:sp>
      <p:sp>
        <p:nvSpPr>
          <p:cNvPr id="27" name="Rounded Rectangle 26"/>
          <p:cNvSpPr/>
          <p:nvPr/>
        </p:nvSpPr>
        <p:spPr>
          <a:xfrm>
            <a:off x="6236208" y="4828032"/>
            <a:ext cx="5388559" cy="128016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73952" y="4974336"/>
            <a:ext cx="4931359" cy="274320"/>
          </a:xfrm>
          <a:prstGeom prst="rect">
            <a:avLst/>
          </a:prstGeom>
          <a:noFill/>
        </p:spPr>
        <p:txBody>
          <a:bodyPr wrap="square" lIns="0" rIns="0" tIns="0" bIns="0" anchor="t">
            <a:spAutoFit/>
          </a:bodyPr>
          <a:lstStyle/>
          <a:p>
            <a:pPr algn="l"/>
            <a:r>
              <a:rPr sz="1250" b="1" i="0">
                <a:solidFill>
                  <a:srgbClr val="FFFFFF"/>
                </a:solidFill>
                <a:latin typeface="Manrope"/>
              </a:rPr>
              <a:t>The plan, before any new budget</a:t>
            </a:r>
          </a:p>
        </p:txBody>
      </p:sp>
      <p:sp>
        <p:nvSpPr>
          <p:cNvPr id="29" name="TextBox 28"/>
          <p:cNvSpPr txBox="1"/>
          <p:nvPr/>
        </p:nvSpPr>
        <p:spPr>
          <a:xfrm>
            <a:off x="6473952" y="5285232"/>
            <a:ext cx="4931359" cy="777240"/>
          </a:xfrm>
          <a:prstGeom prst="rect">
            <a:avLst/>
          </a:prstGeom>
          <a:noFill/>
        </p:spPr>
        <p:txBody>
          <a:bodyPr wrap="square" lIns="0" rIns="0" tIns="0" bIns="0">
            <a:spAutoFit/>
          </a:bodyPr>
          <a:lstStyle/>
          <a:p>
            <a:pPr>
              <a:lnSpc>
                <a:spcPct val="132000"/>
              </a:lnSpc>
              <a:spcAft>
                <a:spcPts val="700"/>
              </a:spcAft>
            </a:pPr>
            <a:r>
              <a:rPr sz="960" b="1">
                <a:solidFill>
                  <a:srgbClr val="8EFEBB"/>
                </a:solidFill>
                <a:latin typeface="Manrope"/>
              </a:rPr>
              <a:t>•  </a:t>
            </a:r>
            <a:r>
              <a:rPr sz="960" b="0">
                <a:solidFill>
                  <a:srgbClr val="B9C7C0"/>
                </a:solidFill>
                <a:latin typeface="Manrope"/>
              </a:rPr>
              <a:t>Consolidate all Shopping into one campaign; fold the six sub-£500 campaigns into their parents</a:t>
            </a:r>
          </a:p>
          <a:p>
            <a:pPr>
              <a:lnSpc>
                <a:spcPct val="132000"/>
              </a:lnSpc>
              <a:spcAft>
                <a:spcPts val="700"/>
              </a:spcAft>
            </a:pPr>
            <a:r>
              <a:rPr sz="960" b="1">
                <a:solidFill>
                  <a:srgbClr val="8EFEBB"/>
                </a:solidFill>
                <a:latin typeface="Manrope"/>
              </a:rPr>
              <a:t>•  </a:t>
            </a:r>
            <a:r>
              <a:rPr sz="960" b="0">
                <a:solidFill>
                  <a:srgbClr val="B9C7C0"/>
                </a:solidFill>
                <a:latin typeface="Manrope"/>
              </a:rPr>
              <a:t>Restructure Search into fewer campaigns with more ad groups, so budgets and data pool</a:t>
            </a:r>
          </a:p>
          <a:p>
            <a:pPr>
              <a:lnSpc>
                <a:spcPct val="132000"/>
              </a:lnSpc>
              <a:spcAft>
                <a:spcPts val="700"/>
              </a:spcAft>
            </a:pPr>
            <a:r>
              <a:rPr sz="960" b="1">
                <a:solidFill>
                  <a:srgbClr val="8EFEBB"/>
                </a:solidFill>
                <a:latin typeface="Manrope"/>
              </a:rPr>
              <a:t>•  </a:t>
            </a:r>
            <a:r>
              <a:rPr sz="960" b="0">
                <a:solidFill>
                  <a:srgbClr val="B9C7C0"/>
                </a:solidFill>
                <a:latin typeface="Manrope"/>
              </a:rPr>
              <a:t>Strip generic keyword insertion; pin real differentiators and mine customer reviews for copy</a:t>
            </a:r>
          </a:p>
          <a:p>
            <a:pPr>
              <a:lnSpc>
                <a:spcPct val="132000"/>
              </a:lnSpc>
              <a:spcAft>
                <a:spcPts val="700"/>
              </a:spcAft>
            </a:pPr>
            <a:r>
              <a:rPr sz="960" b="1">
                <a:solidFill>
                  <a:srgbClr val="8EFEBB"/>
                </a:solidFill>
                <a:latin typeface="Manrope"/>
              </a:rPr>
              <a:t>•  </a:t>
            </a:r>
            <a:r>
              <a:rPr sz="960" b="0">
                <a:solidFill>
                  <a:srgbClr val="B9C7C0"/>
                </a:solidFill>
                <a:latin typeface="Manrope"/>
              </a:rPr>
              <a:t>Scale Microsoft Ads from £3.2k to its £5.4k ceiling at 7–8× ROAS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09 · LEVER · HARDWOOD</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Tulipwood is already selling. Nobody </a:t>
            </a:r>
            <a:r>
              <a:rPr sz="2700" b="1" i="1" spc="-70">
                <a:solidFill>
                  <a:srgbClr val="8EFEBB"/>
                </a:solidFill>
                <a:latin typeface="Instrument Serif"/>
              </a:rPr>
              <a:t>searches</a:t>
            </a:r>
            <a:r>
              <a:rPr sz="2700" b="1" i="0" spc="-70">
                <a:solidFill>
                  <a:srgbClr val="FFFFFF"/>
                </a:solidFill>
                <a:latin typeface="Manrope"/>
              </a:rPr>
              <a:t> for it</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£26,571 in sixty days from a product with no category, no product page and no marketing at all.</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14</a:t>
            </a:r>
          </a:p>
        </p:txBody>
      </p:sp>
      <p:sp>
        <p:nvSpPr>
          <p:cNvPr id="9" name="Rounded Rectangle 8"/>
          <p:cNvSpPr/>
          <p:nvPr/>
        </p:nvSpPr>
        <p:spPr>
          <a:xfrm>
            <a:off x="566928" y="2029968"/>
            <a:ext cx="3515258" cy="137160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68096" y="2176272"/>
            <a:ext cx="2971800"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VALIDATED BY THE ORDER BOOK</a:t>
            </a:r>
          </a:p>
        </p:txBody>
      </p:sp>
      <p:sp>
        <p:nvSpPr>
          <p:cNvPr id="11" name="TextBox 10"/>
          <p:cNvSpPr txBox="1"/>
          <p:nvPr/>
        </p:nvSpPr>
        <p:spPr>
          <a:xfrm>
            <a:off x="768096" y="2542032"/>
            <a:ext cx="3149498" cy="777240"/>
          </a:xfrm>
          <a:prstGeom prst="rect">
            <a:avLst/>
          </a:prstGeom>
          <a:noFill/>
        </p:spPr>
        <p:txBody>
          <a:bodyPr wrap="square" lIns="0" rIns="0" tIns="0" bIns="0">
            <a:spAutoFit/>
          </a:bodyPr>
          <a:lstStyle/>
          <a:p>
            <a:pPr>
              <a:lnSpc>
                <a:spcPct val="135000"/>
              </a:lnSpc>
              <a:spcAft>
                <a:spcPts val="0"/>
              </a:spcAft>
            </a:pPr>
            <a:r>
              <a:rPr sz="1050" b="0" i="0">
                <a:solidFill>
                  <a:srgbClr val="B9C7C0"/>
                </a:solidFill>
                <a:latin typeface="Manrope"/>
              </a:rPr>
              <a:t>Twelve tulipwood line items across three orders. A </a:t>
            </a:r>
            <a:r>
              <a:rPr sz="1050" b="1" i="0">
                <a:solidFill>
                  <a:srgbClr val="FFFFFF"/>
                </a:solidFill>
                <a:latin typeface="Manrope"/>
              </a:rPr>
              <a:t>£13,285 monthly run rate</a:t>
            </a:r>
            <a:r>
              <a:rPr sz="1050" b="0" i="0">
                <a:solidFill>
                  <a:srgbClr val="B9C7C0"/>
                </a:solidFill>
                <a:latin typeface="Manrope"/>
              </a:rPr>
              <a:t>, roughly £161,000 annualised, from a product with no shop presence.</a:t>
            </a:r>
          </a:p>
        </p:txBody>
      </p:sp>
      <p:sp>
        <p:nvSpPr>
          <p:cNvPr id="12" name="Rounded Rectangle 11"/>
          <p:cNvSpPr/>
          <p:nvPr/>
        </p:nvSpPr>
        <p:spPr>
          <a:xfrm>
            <a:off x="566928" y="3529584"/>
            <a:ext cx="1666189" cy="9144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3657600"/>
            <a:ext cx="1391869" cy="182880"/>
          </a:xfrm>
          <a:prstGeom prst="rect">
            <a:avLst/>
          </a:prstGeom>
          <a:noFill/>
        </p:spPr>
        <p:txBody>
          <a:bodyPr wrap="square" lIns="0" rIns="0" tIns="0" bIns="0" anchor="t">
            <a:spAutoFit/>
          </a:bodyPr>
          <a:lstStyle/>
          <a:p>
            <a:pPr algn="l"/>
            <a:r>
              <a:rPr sz="800" b="1" i="0" spc="160">
                <a:solidFill>
                  <a:srgbClr val="6B7B74"/>
                </a:solidFill>
                <a:latin typeface="Manrope"/>
              </a:rPr>
              <a:t>AVERAGE ORDER</a:t>
            </a:r>
          </a:p>
        </p:txBody>
      </p:sp>
      <p:sp>
        <p:nvSpPr>
          <p:cNvPr id="14" name="TextBox 13"/>
          <p:cNvSpPr txBox="1"/>
          <p:nvPr/>
        </p:nvSpPr>
        <p:spPr>
          <a:xfrm>
            <a:off x="731520" y="3840480"/>
            <a:ext cx="1391869" cy="502920"/>
          </a:xfrm>
          <a:prstGeom prst="rect">
            <a:avLst/>
          </a:prstGeom>
          <a:noFill/>
        </p:spPr>
        <p:txBody>
          <a:bodyPr wrap="square" lIns="0" rIns="0" tIns="0" bIns="0" anchor="t">
            <a:spAutoFit/>
          </a:bodyPr>
          <a:lstStyle/>
          <a:p>
            <a:pPr algn="l"/>
            <a:r>
              <a:rPr sz="1900" b="1" i="0" spc="-60">
                <a:solidFill>
                  <a:srgbClr val="8EFEBB"/>
                </a:solidFill>
                <a:latin typeface="Manrope"/>
              </a:rPr>
              <a:t>£8,900</a:t>
            </a:r>
          </a:p>
        </p:txBody>
      </p:sp>
      <p:sp>
        <p:nvSpPr>
          <p:cNvPr id="15" name="TextBox 14"/>
          <p:cNvSpPr txBox="1"/>
          <p:nvPr/>
        </p:nvSpPr>
        <p:spPr>
          <a:xfrm>
            <a:off x="731520" y="4151376"/>
            <a:ext cx="1391869" cy="256032"/>
          </a:xfrm>
          <a:prstGeom prst="rect">
            <a:avLst/>
          </a:prstGeom>
          <a:noFill/>
        </p:spPr>
        <p:txBody>
          <a:bodyPr wrap="square" lIns="0" rIns="0" tIns="0" bIns="0">
            <a:spAutoFit/>
          </a:bodyPr>
          <a:lstStyle/>
          <a:p>
            <a:pPr>
              <a:lnSpc>
                <a:spcPct val="135000"/>
              </a:lnSpc>
              <a:spcAft>
                <a:spcPts val="0"/>
              </a:spcAft>
            </a:pPr>
            <a:r>
              <a:rPr sz="840" b="0" i="0">
                <a:solidFill>
                  <a:srgbClr val="6B7B74"/>
                </a:solidFill>
                <a:latin typeface="Manrope"/>
              </a:rPr>
              <a:t>Twenty times the £443 site average</a:t>
            </a:r>
          </a:p>
        </p:txBody>
      </p:sp>
      <p:sp>
        <p:nvSpPr>
          <p:cNvPr id="16" name="Rounded Rectangle 15"/>
          <p:cNvSpPr/>
          <p:nvPr/>
        </p:nvSpPr>
        <p:spPr>
          <a:xfrm>
            <a:off x="2415997" y="3529584"/>
            <a:ext cx="1666189" cy="9144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580589" y="3657600"/>
            <a:ext cx="1391869" cy="182880"/>
          </a:xfrm>
          <a:prstGeom prst="rect">
            <a:avLst/>
          </a:prstGeom>
          <a:noFill/>
        </p:spPr>
        <p:txBody>
          <a:bodyPr wrap="square" lIns="0" rIns="0" tIns="0" bIns="0" anchor="t">
            <a:spAutoFit/>
          </a:bodyPr>
          <a:lstStyle/>
          <a:p>
            <a:pPr algn="l"/>
            <a:r>
              <a:rPr sz="800" b="1" i="0" spc="160">
                <a:solidFill>
                  <a:srgbClr val="6B7B74"/>
                </a:solidFill>
                <a:latin typeface="Manrope"/>
              </a:rPr>
              <a:t>LARGEST LINE</a:t>
            </a:r>
          </a:p>
        </p:txBody>
      </p:sp>
      <p:sp>
        <p:nvSpPr>
          <p:cNvPr id="18" name="TextBox 17"/>
          <p:cNvSpPr txBox="1"/>
          <p:nvPr/>
        </p:nvSpPr>
        <p:spPr>
          <a:xfrm>
            <a:off x="2580589" y="3840480"/>
            <a:ext cx="1391869" cy="502920"/>
          </a:xfrm>
          <a:prstGeom prst="rect">
            <a:avLst/>
          </a:prstGeom>
          <a:noFill/>
        </p:spPr>
        <p:txBody>
          <a:bodyPr wrap="square" lIns="0" rIns="0" tIns="0" bIns="0" anchor="t">
            <a:spAutoFit/>
          </a:bodyPr>
          <a:lstStyle/>
          <a:p>
            <a:pPr algn="l"/>
            <a:r>
              <a:rPr sz="1900" b="1" i="0" spc="-60">
                <a:solidFill>
                  <a:srgbClr val="FFFFFF"/>
                </a:solidFill>
                <a:latin typeface="Manrope"/>
              </a:rPr>
              <a:t>£9,145</a:t>
            </a:r>
          </a:p>
        </p:txBody>
      </p:sp>
      <p:sp>
        <p:nvSpPr>
          <p:cNvPr id="19" name="TextBox 18"/>
          <p:cNvSpPr txBox="1"/>
          <p:nvPr/>
        </p:nvSpPr>
        <p:spPr>
          <a:xfrm>
            <a:off x="2580589" y="4151376"/>
            <a:ext cx="1391869" cy="256032"/>
          </a:xfrm>
          <a:prstGeom prst="rect">
            <a:avLst/>
          </a:prstGeom>
          <a:noFill/>
        </p:spPr>
        <p:txBody>
          <a:bodyPr wrap="square" lIns="0" rIns="0" tIns="0" bIns="0">
            <a:spAutoFit/>
          </a:bodyPr>
          <a:lstStyle/>
          <a:p>
            <a:pPr>
              <a:lnSpc>
                <a:spcPct val="135000"/>
              </a:lnSpc>
              <a:spcAft>
                <a:spcPts val="0"/>
              </a:spcAft>
            </a:pPr>
            <a:r>
              <a:rPr sz="840" b="0" i="0">
                <a:solidFill>
                  <a:srgbClr val="6B7B74"/>
                </a:solidFill>
                <a:latin typeface="Manrope"/>
              </a:rPr>
              <a:t>18×120mm Big Bolection</a:t>
            </a:r>
          </a:p>
        </p:txBody>
      </p:sp>
      <p:sp>
        <p:nvSpPr>
          <p:cNvPr id="20" name="TextBox 19"/>
          <p:cNvSpPr txBox="1"/>
          <p:nvPr/>
        </p:nvSpPr>
        <p:spPr>
          <a:xfrm>
            <a:off x="566928" y="4572000"/>
            <a:ext cx="3515258" cy="45720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The commercial case does not need testing. It has been proven by customers who found it without any help from us.</a:t>
            </a:r>
          </a:p>
        </p:txBody>
      </p:sp>
      <p:sp>
        <p:nvSpPr>
          <p:cNvPr id="21" name="Rounded Rectangle 20"/>
          <p:cNvSpPr/>
          <p:nvPr/>
        </p:nvSpPr>
        <p:spPr>
          <a:xfrm>
            <a:off x="4338218" y="2029968"/>
            <a:ext cx="1865376" cy="214884"/>
          </a:xfrm>
          <a:prstGeom prst="roundRect">
            <a:avLst>
              <a:gd name="adj" fmla="val 50000"/>
            </a:avLst>
          </a:prstGeom>
          <a:solidFill>
            <a:srgbClr val="2A241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F5D674"/>
                </a:solidFill>
                <a:latin typeface="Manrope"/>
              </a:rPr>
              <a:t>REFRAME REQUIRED</a:t>
            </a:r>
          </a:p>
        </p:txBody>
      </p:sp>
      <p:sp>
        <p:nvSpPr>
          <p:cNvPr id="22" name="TextBox 21"/>
          <p:cNvSpPr txBox="1"/>
          <p:nvPr/>
        </p:nvSpPr>
        <p:spPr>
          <a:xfrm>
            <a:off x="4338218" y="2377440"/>
            <a:ext cx="3515258" cy="182880"/>
          </a:xfrm>
          <a:prstGeom prst="rect">
            <a:avLst/>
          </a:prstGeom>
          <a:noFill/>
        </p:spPr>
        <p:txBody>
          <a:bodyPr wrap="square" lIns="0" rIns="0" tIns="0" bIns="0" anchor="t">
            <a:spAutoFit/>
          </a:bodyPr>
          <a:lstStyle/>
          <a:p>
            <a:pPr algn="l"/>
            <a:r>
              <a:rPr sz="850" b="1" i="0" spc="160">
                <a:solidFill>
                  <a:srgbClr val="6B7B74"/>
                </a:solidFill>
                <a:latin typeface="Manrope"/>
              </a:rPr>
              <a:t>UK SEARCH VOLUME PER MONTH</a:t>
            </a:r>
          </a:p>
        </p:txBody>
      </p:sp>
      <p:graphicFrame>
        <p:nvGraphicFramePr>
          <p:cNvPr id="23" name="Table 22"/>
          <p:cNvGraphicFramePr>
            <a:graphicFrameLocks noGrp="1"/>
          </p:cNvGraphicFramePr>
          <p:nvPr/>
        </p:nvGraphicFramePr>
        <p:xfrm>
          <a:off x="4338218" y="2596896"/>
          <a:ext cx="3515257" cy="2455164"/>
        </p:xfrm>
        <a:graphic>
          <a:graphicData uri="http://schemas.openxmlformats.org/drawingml/2006/table">
            <a:tbl>
              <a:tblPr firstRow="1" bandRow="1">
                <a:tableStyleId>{5C22544A-7EE6-4342-B048-85BDC9FD1C3A}</a:tableStyleId>
              </a:tblPr>
              <a:tblGrid>
                <a:gridCol w="2538797"/>
                <a:gridCol w="976460"/>
              </a:tblGrid>
              <a:tr h="274320">
                <a:tc>
                  <a:txBody>
                    <a:bodyPr wrap="square"/>
                    <a:lstStyle/>
                    <a:p>
                      <a:pPr algn="l"/>
                      <a:r>
                        <a:rPr sz="780" b="1">
                          <a:solidFill>
                            <a:srgbClr val="6B7B74"/>
                          </a:solidFill>
                          <a:latin typeface="Manrope"/>
                        </a:rPr>
                        <a:t>SEARCH TERM</a:t>
                      </a:r>
                    </a:p>
                  </a:txBody>
                  <a:tcPr marL="45720" marR="45720" marT="18288" marB="18288" anchor="ctr">
                    <a:solidFill>
                      <a:srgbClr val="051412"/>
                    </a:solidFill>
                  </a:tcPr>
                </a:tc>
                <a:tc>
                  <a:txBody>
                    <a:bodyPr wrap="square"/>
                    <a:lstStyle/>
                    <a:p>
                      <a:pPr algn="r"/>
                      <a:r>
                        <a:rPr sz="780" b="1">
                          <a:solidFill>
                            <a:srgbClr val="6B7B74"/>
                          </a:solidFill>
                          <a:latin typeface="Manrope"/>
                        </a:rPr>
                        <a:t>VOLUME</a:t>
                      </a:r>
                    </a:p>
                  </a:txBody>
                  <a:tcPr marL="45720" marR="45720" marT="18288" marB="18288" anchor="ctr">
                    <a:solidFill>
                      <a:srgbClr val="051412"/>
                    </a:solidFill>
                  </a:tcPr>
                </a:tc>
              </a:tr>
              <a:tr h="242316">
                <a:tc>
                  <a:txBody>
                    <a:bodyPr wrap="square"/>
                    <a:lstStyle/>
                    <a:p>
                      <a:pPr algn="l"/>
                      <a:r>
                        <a:rPr sz="980" b="0">
                          <a:solidFill>
                            <a:srgbClr val="6B7B74"/>
                          </a:solidFill>
                          <a:latin typeface="Manrope"/>
                        </a:rPr>
                        <a:t>tulip mouldings</a:t>
                      </a:r>
                    </a:p>
                  </a:txBody>
                  <a:tcPr marL="45720" marR="45720" marT="18288" marB="18288" anchor="ctr">
                    <a:solidFill>
                      <a:srgbClr val="051412"/>
                    </a:solidFill>
                  </a:tcPr>
                </a:tc>
                <a:tc>
                  <a:txBody>
                    <a:bodyPr wrap="square"/>
                    <a:lstStyle/>
                    <a:p>
                      <a:pPr algn="r"/>
                      <a:r>
                        <a:rPr sz="980" b="0">
                          <a:solidFill>
                            <a:srgbClr val="6B7B74"/>
                          </a:solidFill>
                          <a:latin typeface="Manrope"/>
                        </a:rPr>
                        <a:t>0</a:t>
                      </a:r>
                    </a:p>
                  </a:txBody>
                  <a:tcPr marL="45720" marR="45720" marT="18288" marB="18288" anchor="ctr">
                    <a:solidFill>
                      <a:srgbClr val="051412"/>
                    </a:solidFill>
                  </a:tcPr>
                </a:tc>
              </a:tr>
              <a:tr h="242316">
                <a:tc>
                  <a:txBody>
                    <a:bodyPr wrap="square"/>
                    <a:lstStyle/>
                    <a:p>
                      <a:pPr algn="l"/>
                      <a:r>
                        <a:rPr sz="980" b="0">
                          <a:solidFill>
                            <a:srgbClr val="6B7B74"/>
                          </a:solidFill>
                          <a:latin typeface="Manrope"/>
                        </a:rPr>
                        <a:t>tulipwood architrave</a:t>
                      </a:r>
                    </a:p>
                  </a:txBody>
                  <a:tcPr marL="45720" marR="45720" marT="18288" marB="18288" anchor="ctr">
                    <a:solidFill>
                      <a:srgbClr val="051412"/>
                    </a:solidFill>
                  </a:tcPr>
                </a:tc>
                <a:tc>
                  <a:txBody>
                    <a:bodyPr wrap="square"/>
                    <a:lstStyle/>
                    <a:p>
                      <a:pPr algn="r"/>
                      <a:r>
                        <a:rPr sz="980" b="0">
                          <a:solidFill>
                            <a:srgbClr val="6B7B74"/>
                          </a:solidFill>
                          <a:latin typeface="Manrope"/>
                        </a:rPr>
                        <a:t>0</a:t>
                      </a:r>
                    </a:p>
                  </a:txBody>
                  <a:tcPr marL="45720" marR="45720" marT="18288" marB="18288" anchor="ctr">
                    <a:solidFill>
                      <a:srgbClr val="051412"/>
                    </a:solidFill>
                  </a:tcPr>
                </a:tc>
              </a:tr>
              <a:tr h="242316">
                <a:tc>
                  <a:txBody>
                    <a:bodyPr wrap="square"/>
                    <a:lstStyle/>
                    <a:p>
                      <a:pPr algn="l"/>
                      <a:r>
                        <a:rPr sz="980" b="0">
                          <a:solidFill>
                            <a:srgbClr val="6B7B74"/>
                          </a:solidFill>
                          <a:latin typeface="Manrope"/>
                        </a:rPr>
                        <a:t>american tulipwood</a:t>
                      </a:r>
                    </a:p>
                  </a:txBody>
                  <a:tcPr marL="45720" marR="45720" marT="18288" marB="18288" anchor="ctr">
                    <a:solidFill>
                      <a:srgbClr val="051412"/>
                    </a:solidFill>
                  </a:tcPr>
                </a:tc>
                <a:tc>
                  <a:txBody>
                    <a:bodyPr wrap="square"/>
                    <a:lstStyle/>
                    <a:p>
                      <a:pPr algn="r"/>
                      <a:r>
                        <a:rPr sz="980" b="0">
                          <a:solidFill>
                            <a:srgbClr val="6B7B74"/>
                          </a:solidFill>
                          <a:latin typeface="Manrope"/>
                        </a:rPr>
                        <a:t>10</a:t>
                      </a:r>
                    </a:p>
                  </a:txBody>
                  <a:tcPr marL="45720" marR="45720" marT="18288" marB="18288" anchor="ctr">
                    <a:solidFill>
                      <a:srgbClr val="051412"/>
                    </a:solidFill>
                  </a:tcPr>
                </a:tc>
              </a:tr>
              <a:tr h="242316">
                <a:tc>
                  <a:txBody>
                    <a:bodyPr wrap="square"/>
                    <a:lstStyle/>
                    <a:p>
                      <a:pPr algn="l"/>
                      <a:r>
                        <a:rPr sz="980" b="0">
                          <a:solidFill>
                            <a:srgbClr val="6B7B74"/>
                          </a:solidFill>
                          <a:latin typeface="Manrope"/>
                        </a:rPr>
                        <a:t>tulipwood skirting</a:t>
                      </a:r>
                    </a:p>
                  </a:txBody>
                  <a:tcPr marL="45720" marR="45720" marT="18288" marB="18288" anchor="ctr">
                    <a:solidFill>
                      <a:srgbClr val="051412"/>
                    </a:solidFill>
                  </a:tcPr>
                </a:tc>
                <a:tc>
                  <a:txBody>
                    <a:bodyPr wrap="square"/>
                    <a:lstStyle/>
                    <a:p>
                      <a:pPr algn="r"/>
                      <a:r>
                        <a:rPr sz="980" b="0">
                          <a:solidFill>
                            <a:srgbClr val="6B7B74"/>
                          </a:solidFill>
                          <a:latin typeface="Manrope"/>
                        </a:rPr>
                        <a:t>20</a:t>
                      </a:r>
                    </a:p>
                  </a:txBody>
                  <a:tcPr marL="45720" marR="45720" marT="18288" marB="18288" anchor="ctr">
                    <a:solidFill>
                      <a:srgbClr val="051412"/>
                    </a:solidFill>
                  </a:tcPr>
                </a:tc>
              </a:tr>
              <a:tr h="242316">
                <a:tc>
                  <a:txBody>
                    <a:bodyPr wrap="square"/>
                    <a:lstStyle/>
                    <a:p>
                      <a:pPr algn="l"/>
                      <a:r>
                        <a:rPr sz="980" b="1">
                          <a:solidFill>
                            <a:srgbClr val="8EFEBB"/>
                          </a:solidFill>
                          <a:latin typeface="Manrope"/>
                        </a:rPr>
                        <a:t>oak architrave</a:t>
                      </a:r>
                    </a:p>
                  </a:txBody>
                  <a:tcPr marL="45720" marR="45720" marT="18288" marB="18288" anchor="ctr">
                    <a:solidFill>
                      <a:srgbClr val="0B2A24"/>
                    </a:solidFill>
                  </a:tcPr>
                </a:tc>
                <a:tc>
                  <a:txBody>
                    <a:bodyPr wrap="square"/>
                    <a:lstStyle/>
                    <a:p>
                      <a:pPr algn="r"/>
                      <a:r>
                        <a:rPr sz="980" b="1">
                          <a:solidFill>
                            <a:srgbClr val="8EFEBB"/>
                          </a:solidFill>
                          <a:latin typeface="Manrope"/>
                        </a:rPr>
                        <a:t>1,000</a:t>
                      </a:r>
                    </a:p>
                  </a:txBody>
                  <a:tcPr marL="45720" marR="45720" marT="18288" marB="18288" anchor="ctr">
                    <a:solidFill>
                      <a:srgbClr val="0B2A24"/>
                    </a:solidFill>
                  </a:tcPr>
                </a:tc>
              </a:tr>
              <a:tr h="242316">
                <a:tc>
                  <a:txBody>
                    <a:bodyPr wrap="square"/>
                    <a:lstStyle/>
                    <a:p>
                      <a:pPr algn="l"/>
                      <a:r>
                        <a:rPr sz="980" b="1">
                          <a:solidFill>
                            <a:srgbClr val="8EFEBB"/>
                          </a:solidFill>
                          <a:latin typeface="Manrope"/>
                        </a:rPr>
                        <a:t>oak skirting board</a:t>
                      </a:r>
                    </a:p>
                  </a:txBody>
                  <a:tcPr marL="45720" marR="45720" marT="18288" marB="18288" anchor="ctr">
                    <a:solidFill>
                      <a:srgbClr val="0B2A24"/>
                    </a:solidFill>
                  </a:tcPr>
                </a:tc>
                <a:tc>
                  <a:txBody>
                    <a:bodyPr wrap="square"/>
                    <a:lstStyle/>
                    <a:p>
                      <a:pPr algn="r"/>
                      <a:r>
                        <a:rPr sz="980" b="1">
                          <a:solidFill>
                            <a:srgbClr val="8EFEBB"/>
                          </a:solidFill>
                          <a:latin typeface="Manrope"/>
                        </a:rPr>
                        <a:t>600</a:t>
                      </a:r>
                    </a:p>
                  </a:txBody>
                  <a:tcPr marL="45720" marR="45720" marT="18288" marB="18288" anchor="ctr">
                    <a:solidFill>
                      <a:srgbClr val="0B2A24"/>
                    </a:solidFill>
                  </a:tcPr>
                </a:tc>
              </a:tr>
              <a:tr h="242316">
                <a:tc>
                  <a:txBody>
                    <a:bodyPr wrap="square"/>
                    <a:lstStyle/>
                    <a:p>
                      <a:pPr algn="l"/>
                      <a:r>
                        <a:rPr sz="980" b="1">
                          <a:solidFill>
                            <a:srgbClr val="8EFEBB"/>
                          </a:solidFill>
                          <a:latin typeface="Manrope"/>
                        </a:rPr>
                        <a:t>hardwood architrave</a:t>
                      </a:r>
                    </a:p>
                  </a:txBody>
                  <a:tcPr marL="45720" marR="45720" marT="18288" marB="18288" anchor="ctr">
                    <a:solidFill>
                      <a:srgbClr val="0B2A24"/>
                    </a:solidFill>
                  </a:tcPr>
                </a:tc>
                <a:tc>
                  <a:txBody>
                    <a:bodyPr wrap="square"/>
                    <a:lstStyle/>
                    <a:p>
                      <a:pPr algn="r"/>
                      <a:r>
                        <a:rPr sz="980" b="1">
                          <a:solidFill>
                            <a:srgbClr val="8EFEBB"/>
                          </a:solidFill>
                          <a:latin typeface="Manrope"/>
                        </a:rPr>
                        <a:t>200</a:t>
                      </a:r>
                    </a:p>
                  </a:txBody>
                  <a:tcPr marL="45720" marR="45720" marT="18288" marB="18288" anchor="ctr">
                    <a:solidFill>
                      <a:srgbClr val="0B2A24"/>
                    </a:solidFill>
                  </a:tcPr>
                </a:tc>
              </a:tr>
              <a:tr h="242316">
                <a:tc>
                  <a:txBody>
                    <a:bodyPr wrap="square"/>
                    <a:lstStyle/>
                    <a:p>
                      <a:pPr algn="l"/>
                      <a:r>
                        <a:rPr sz="980" b="1">
                          <a:solidFill>
                            <a:srgbClr val="8EFEBB"/>
                          </a:solidFill>
                          <a:latin typeface="Manrope"/>
                        </a:rPr>
                        <a:t>hardwood skirting board</a:t>
                      </a:r>
                    </a:p>
                  </a:txBody>
                  <a:tcPr marL="45720" marR="45720" marT="18288" marB="18288" anchor="ctr">
                    <a:solidFill>
                      <a:srgbClr val="0B2A24"/>
                    </a:solidFill>
                  </a:tcPr>
                </a:tc>
                <a:tc>
                  <a:txBody>
                    <a:bodyPr wrap="square"/>
                    <a:lstStyle/>
                    <a:p>
                      <a:pPr algn="r"/>
                      <a:r>
                        <a:rPr sz="980" b="1">
                          <a:solidFill>
                            <a:srgbClr val="8EFEBB"/>
                          </a:solidFill>
                          <a:latin typeface="Manrope"/>
                        </a:rPr>
                        <a:t>150</a:t>
                      </a:r>
                    </a:p>
                  </a:txBody>
                  <a:tcPr marL="45720" marR="45720" marT="18288" marB="18288" anchor="ctr">
                    <a:solidFill>
                      <a:srgbClr val="0B2A24"/>
                    </a:solidFill>
                  </a:tcPr>
                </a:tc>
              </a:tr>
              <a:tr h="242316">
                <a:tc>
                  <a:txBody>
                    <a:bodyPr wrap="square"/>
                    <a:lstStyle/>
                    <a:p>
                      <a:pPr algn="l"/>
                      <a:r>
                        <a:rPr sz="980" b="1">
                          <a:solidFill>
                            <a:srgbClr val="8EFEBB"/>
                          </a:solidFill>
                          <a:latin typeface="Manrope"/>
                        </a:rPr>
                        <a:t>solid wood skirting board</a:t>
                      </a:r>
                    </a:p>
                  </a:txBody>
                  <a:tcPr marL="45720" marR="45720" marT="18288" marB="18288" anchor="ctr">
                    <a:solidFill>
                      <a:srgbClr val="0B2A24"/>
                    </a:solidFill>
                  </a:tcPr>
                </a:tc>
                <a:tc>
                  <a:txBody>
                    <a:bodyPr wrap="square"/>
                    <a:lstStyle/>
                    <a:p>
                      <a:pPr algn="r"/>
                      <a:r>
                        <a:rPr sz="980" b="1">
                          <a:solidFill>
                            <a:srgbClr val="8EFEBB"/>
                          </a:solidFill>
                          <a:latin typeface="Manrope"/>
                        </a:rPr>
                        <a:t>100</a:t>
                      </a:r>
                    </a:p>
                  </a:txBody>
                  <a:tcPr marL="45720" marR="45720" marT="18288" marB="18288" anchor="ctr">
                    <a:solidFill>
                      <a:srgbClr val="0B2A24"/>
                    </a:solidFill>
                  </a:tcPr>
                </a:tc>
              </a:tr>
            </a:tbl>
          </a:graphicData>
        </a:graphic>
      </p:graphicFrame>
      <p:sp>
        <p:nvSpPr>
          <p:cNvPr id="24" name="Rounded Rectangle 23"/>
          <p:cNvSpPr/>
          <p:nvPr/>
        </p:nvSpPr>
        <p:spPr>
          <a:xfrm>
            <a:off x="4338218" y="5047488"/>
            <a:ext cx="3515258" cy="9144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39386" y="5212079"/>
            <a:ext cx="3149498" cy="640080"/>
          </a:xfrm>
          <a:prstGeom prst="rect">
            <a:avLst/>
          </a:prstGeom>
          <a:noFill/>
        </p:spPr>
        <p:txBody>
          <a:bodyPr wrap="square" lIns="0" rIns="0" tIns="0" bIns="0">
            <a:spAutoFit/>
          </a:bodyPr>
          <a:lstStyle/>
          <a:p>
            <a:pPr>
              <a:lnSpc>
                <a:spcPct val="135000"/>
              </a:lnSpc>
              <a:spcAft>
                <a:spcPts val="0"/>
              </a:spcAft>
            </a:pPr>
            <a:r>
              <a:rPr sz="1000" b="0" i="0">
                <a:solidFill>
                  <a:srgbClr val="B9C7C0"/>
                </a:solidFill>
                <a:latin typeface="Manrope"/>
              </a:rPr>
              <a:t>Ahrefs assigns both “hardwood skirting board” and “solid wood skirting board” the parent topic </a:t>
            </a:r>
            <a:r>
              <a:rPr sz="1000" b="1" i="0">
                <a:solidFill>
                  <a:srgbClr val="FFFFFF"/>
                </a:solidFill>
                <a:latin typeface="Manrope"/>
              </a:rPr>
              <a:t>oak skirting boards</a:t>
            </a:r>
            <a:r>
              <a:rPr sz="1000" b="0" i="0">
                <a:solidFill>
                  <a:srgbClr val="B9C7C0"/>
                </a:solidFill>
                <a:latin typeface="Manrope"/>
              </a:rPr>
              <a:t>. Demand is real — it lives under oak and hardwood, never tulip.</a:t>
            </a:r>
          </a:p>
        </p:txBody>
      </p:sp>
      <p:sp>
        <p:nvSpPr>
          <p:cNvPr id="26" name="TextBox 25"/>
          <p:cNvSpPr txBox="1"/>
          <p:nvPr/>
        </p:nvSpPr>
        <p:spPr>
          <a:xfrm>
            <a:off x="8109508" y="2029968"/>
            <a:ext cx="3515258" cy="182880"/>
          </a:xfrm>
          <a:prstGeom prst="rect">
            <a:avLst/>
          </a:prstGeom>
          <a:noFill/>
        </p:spPr>
        <p:txBody>
          <a:bodyPr wrap="square" lIns="0" rIns="0" tIns="0" bIns="0" anchor="t">
            <a:spAutoFit/>
          </a:bodyPr>
          <a:lstStyle/>
          <a:p>
            <a:pPr algn="l"/>
            <a:r>
              <a:rPr sz="850" b="1" i="0" spc="160">
                <a:solidFill>
                  <a:srgbClr val="6B7B74"/>
                </a:solidFill>
                <a:latin typeface="Manrope"/>
              </a:rPr>
              <a:t>PRICING SITS AT ROUGHLY TWICE MDF</a:t>
            </a:r>
          </a:p>
        </p:txBody>
      </p:sp>
      <p:graphicFrame>
        <p:nvGraphicFramePr>
          <p:cNvPr id="27" name="Table 26"/>
          <p:cNvGraphicFramePr>
            <a:graphicFrameLocks noGrp="1"/>
          </p:cNvGraphicFramePr>
          <p:nvPr/>
        </p:nvGraphicFramePr>
        <p:xfrm>
          <a:off x="8109508" y="2249424"/>
          <a:ext cx="3515257" cy="1335024"/>
        </p:xfrm>
        <a:graphic>
          <a:graphicData uri="http://schemas.openxmlformats.org/drawingml/2006/table">
            <a:tbl>
              <a:tblPr firstRow="1" bandRow="1">
                <a:tableStyleId>{5C22544A-7EE6-4342-B048-85BDC9FD1C3A}</a:tableStyleId>
              </a:tblPr>
              <a:tblGrid>
                <a:gridCol w="1261887"/>
                <a:gridCol w="901348"/>
                <a:gridCol w="1352022"/>
              </a:tblGrid>
              <a:tr h="274320">
                <a:tc>
                  <a:txBody>
                    <a:bodyPr wrap="square"/>
                    <a:lstStyle/>
                    <a:p>
                      <a:pPr algn="l"/>
                      <a:r>
                        <a:rPr sz="780" b="1">
                          <a:solidFill>
                            <a:srgbClr val="6B7B74"/>
                          </a:solidFill>
                          <a:latin typeface="Manrope"/>
                        </a:rPr>
                        <a:t>TYPE</a:t>
                      </a:r>
                    </a:p>
                  </a:txBody>
                  <a:tcPr marL="45720" marR="45720" marT="18288" marB="18288" anchor="ctr">
                    <a:solidFill>
                      <a:srgbClr val="051412"/>
                    </a:solidFill>
                  </a:tcPr>
                </a:tc>
                <a:tc>
                  <a:txBody>
                    <a:bodyPr wrap="square"/>
                    <a:lstStyle/>
                    <a:p>
                      <a:pPr algn="r"/>
                      <a:r>
                        <a:rPr sz="780" b="1">
                          <a:solidFill>
                            <a:srgbClr val="6B7B74"/>
                          </a:solidFill>
                          <a:latin typeface="Manrope"/>
                        </a:rPr>
                        <a:t>TULIP / M</a:t>
                      </a:r>
                    </a:p>
                  </a:txBody>
                  <a:tcPr marL="45720" marR="45720" marT="18288" marB="18288" anchor="ctr">
                    <a:solidFill>
                      <a:srgbClr val="051412"/>
                    </a:solidFill>
                  </a:tcPr>
                </a:tc>
                <a:tc>
                  <a:txBody>
                    <a:bodyPr wrap="square"/>
                    <a:lstStyle/>
                    <a:p>
                      <a:pPr algn="r"/>
                      <a:r>
                        <a:rPr sz="780" b="1">
                          <a:solidFill>
                            <a:srgbClr val="6B7B74"/>
                          </a:solidFill>
                          <a:latin typeface="Manrope"/>
                        </a:rPr>
                        <a:t>RANGE</a:t>
                      </a:r>
                    </a:p>
                  </a:txBody>
                  <a:tcPr marL="45720" marR="45720" marT="18288" marB="18288" anchor="ctr">
                    <a:solidFill>
                      <a:srgbClr val="051412"/>
                    </a:solidFill>
                  </a:tcPr>
                </a:tc>
              </a:tr>
              <a:tr h="265176">
                <a:tc>
                  <a:txBody>
                    <a:bodyPr wrap="square"/>
                    <a:lstStyle/>
                    <a:p>
                      <a:pPr algn="l"/>
                      <a:r>
                        <a:rPr sz="1050" b="0">
                          <a:solidFill>
                            <a:srgbClr val="E8F2EC"/>
                          </a:solidFill>
                          <a:latin typeface="Manrope"/>
                        </a:rPr>
                        <a:t>Skirting</a:t>
                      </a:r>
                    </a:p>
                  </a:txBody>
                  <a:tcPr marL="45720" marR="45720" marT="18288" marB="18288" anchor="ctr">
                    <a:solidFill>
                      <a:srgbClr val="051412"/>
                    </a:solidFill>
                  </a:tcPr>
                </a:tc>
                <a:tc>
                  <a:txBody>
                    <a:bodyPr wrap="square"/>
                    <a:lstStyle/>
                    <a:p>
                      <a:pPr algn="r"/>
                      <a:r>
                        <a:rPr sz="1050" b="0">
                          <a:solidFill>
                            <a:srgbClr val="E8F2EC"/>
                          </a:solidFill>
                          <a:latin typeface="Manrope"/>
                        </a:rPr>
                        <a:t>£33.17</a:t>
                      </a:r>
                    </a:p>
                  </a:txBody>
                  <a:tcPr marL="45720" marR="45720" marT="18288" marB="18288" anchor="ctr">
                    <a:solidFill>
                      <a:srgbClr val="051412"/>
                    </a:solidFill>
                  </a:tcPr>
                </a:tc>
                <a:tc>
                  <a:txBody>
                    <a:bodyPr wrap="square"/>
                    <a:lstStyle/>
                    <a:p>
                      <a:pPr algn="r"/>
                      <a:r>
                        <a:rPr sz="1050" b="0">
                          <a:solidFill>
                            <a:srgbClr val="E8F2EC"/>
                          </a:solidFill>
                          <a:latin typeface="Manrope"/>
                        </a:rPr>
                        <a:t>£20.60–£42.12</a:t>
                      </a:r>
                    </a:p>
                  </a:txBody>
                  <a:tcPr marL="45720" marR="45720" marT="18288" marB="18288" anchor="ctr">
                    <a:solidFill>
                      <a:srgbClr val="051412"/>
                    </a:solidFill>
                  </a:tcPr>
                </a:tc>
              </a:tr>
              <a:tr h="265176">
                <a:tc>
                  <a:txBody>
                    <a:bodyPr wrap="square"/>
                    <a:lstStyle/>
                    <a:p>
                      <a:pPr algn="l"/>
                      <a:r>
                        <a:rPr sz="1050" b="0">
                          <a:solidFill>
                            <a:srgbClr val="E8F2EC"/>
                          </a:solidFill>
                          <a:latin typeface="Manrope"/>
                        </a:rPr>
                        <a:t>Dado rail</a:t>
                      </a:r>
                    </a:p>
                  </a:txBody>
                  <a:tcPr marL="45720" marR="45720" marT="18288" marB="18288" anchor="ctr">
                    <a:solidFill>
                      <a:srgbClr val="051412"/>
                    </a:solidFill>
                  </a:tcPr>
                </a:tc>
                <a:tc>
                  <a:txBody>
                    <a:bodyPr wrap="square"/>
                    <a:lstStyle/>
                    <a:p>
                      <a:pPr algn="r"/>
                      <a:r>
                        <a:rPr sz="1050" b="0">
                          <a:solidFill>
                            <a:srgbClr val="E8F2EC"/>
                          </a:solidFill>
                          <a:latin typeface="Manrope"/>
                        </a:rPr>
                        <a:t>£19.27</a:t>
                      </a:r>
                    </a:p>
                  </a:txBody>
                  <a:tcPr marL="45720" marR="45720" marT="18288" marB="18288" anchor="ctr">
                    <a:solidFill>
                      <a:srgbClr val="051412"/>
                    </a:solidFill>
                  </a:tcPr>
                </a:tc>
                <a:tc>
                  <a:txBody>
                    <a:bodyPr wrap="square"/>
                    <a:lstStyle/>
                    <a:p>
                      <a:pPr algn="r"/>
                      <a:r>
                        <a:rPr sz="1050" b="0">
                          <a:solidFill>
                            <a:srgbClr val="E8F2EC"/>
                          </a:solidFill>
                          <a:latin typeface="Manrope"/>
                        </a:rPr>
                        <a:t>£13.50–£26.43</a:t>
                      </a:r>
                    </a:p>
                  </a:txBody>
                  <a:tcPr marL="45720" marR="45720" marT="18288" marB="18288" anchor="ctr">
                    <a:solidFill>
                      <a:srgbClr val="051412"/>
                    </a:solidFill>
                  </a:tcPr>
                </a:tc>
              </a:tr>
              <a:tr h="265176">
                <a:tc>
                  <a:txBody>
                    <a:bodyPr wrap="square"/>
                    <a:lstStyle/>
                    <a:p>
                      <a:pPr algn="l"/>
                      <a:r>
                        <a:rPr sz="1050" b="0">
                          <a:solidFill>
                            <a:srgbClr val="E8F2EC"/>
                          </a:solidFill>
                          <a:latin typeface="Manrope"/>
                        </a:rPr>
                        <a:t>Architrave</a:t>
                      </a:r>
                    </a:p>
                  </a:txBody>
                  <a:tcPr marL="45720" marR="45720" marT="18288" marB="18288" anchor="ctr">
                    <a:solidFill>
                      <a:srgbClr val="051412"/>
                    </a:solidFill>
                  </a:tcPr>
                </a:tc>
                <a:tc>
                  <a:txBody>
                    <a:bodyPr wrap="square"/>
                    <a:lstStyle/>
                    <a:p>
                      <a:pPr algn="r"/>
                      <a:r>
                        <a:rPr sz="1050" b="0">
                          <a:solidFill>
                            <a:srgbClr val="E8F2EC"/>
                          </a:solidFill>
                          <a:latin typeface="Manrope"/>
                        </a:rPr>
                        <a:t>£18.00</a:t>
                      </a:r>
                    </a:p>
                  </a:txBody>
                  <a:tcPr marL="45720" marR="45720" marT="18288" marB="18288" anchor="ctr">
                    <a:solidFill>
                      <a:srgbClr val="051412"/>
                    </a:solidFill>
                  </a:tcPr>
                </a:tc>
                <a:tc>
                  <a:txBody>
                    <a:bodyPr wrap="square"/>
                    <a:lstStyle/>
                    <a:p>
                      <a:pPr algn="r"/>
                      <a:r>
                        <a:rPr sz="1050" b="0">
                          <a:solidFill>
                            <a:srgbClr val="E8F2EC"/>
                          </a:solidFill>
                          <a:latin typeface="Manrope"/>
                        </a:rPr>
                        <a:t>£10.04–£23.90</a:t>
                      </a:r>
                    </a:p>
                  </a:txBody>
                  <a:tcPr marL="45720" marR="45720" marT="18288" marB="18288" anchor="ctr">
                    <a:solidFill>
                      <a:srgbClr val="051412"/>
                    </a:solidFill>
                  </a:tcPr>
                </a:tc>
              </a:tr>
              <a:tr h="265176">
                <a:tc>
                  <a:txBody>
                    <a:bodyPr wrap="square"/>
                    <a:lstStyle/>
                    <a:p>
                      <a:pPr algn="l"/>
                      <a:r>
                        <a:rPr sz="1050" b="0">
                          <a:solidFill>
                            <a:srgbClr val="E8F2EC"/>
                          </a:solidFill>
                          <a:latin typeface="Manrope"/>
                        </a:rPr>
                        <a:t>Panel mould</a:t>
                      </a:r>
                    </a:p>
                  </a:txBody>
                  <a:tcPr marL="45720" marR="45720" marT="18288" marB="18288" anchor="ctr">
                    <a:solidFill>
                      <a:srgbClr val="051412"/>
                    </a:solidFill>
                  </a:tcPr>
                </a:tc>
                <a:tc>
                  <a:txBody>
                    <a:bodyPr wrap="square"/>
                    <a:lstStyle/>
                    <a:p>
                      <a:pPr algn="r"/>
                      <a:r>
                        <a:rPr sz="1050" b="0">
                          <a:solidFill>
                            <a:srgbClr val="E8F2EC"/>
                          </a:solidFill>
                          <a:latin typeface="Manrope"/>
                        </a:rPr>
                        <a:t>£9.74</a:t>
                      </a:r>
                    </a:p>
                  </a:txBody>
                  <a:tcPr marL="45720" marR="45720" marT="18288" marB="18288" anchor="ctr">
                    <a:solidFill>
                      <a:srgbClr val="051412"/>
                    </a:solidFill>
                  </a:tcPr>
                </a:tc>
                <a:tc>
                  <a:txBody>
                    <a:bodyPr wrap="square"/>
                    <a:lstStyle/>
                    <a:p>
                      <a:pPr algn="r"/>
                      <a:r>
                        <a:rPr sz="1050" b="0">
                          <a:solidFill>
                            <a:srgbClr val="E8F2EC"/>
                          </a:solidFill>
                          <a:latin typeface="Manrope"/>
                        </a:rPr>
                        <a:t>£7.65–£14.27</a:t>
                      </a:r>
                    </a:p>
                  </a:txBody>
                  <a:tcPr marL="45720" marR="45720" marT="18288" marB="18288" anchor="ctr">
                    <a:solidFill>
                      <a:srgbClr val="051412"/>
                    </a:solidFill>
                  </a:tcPr>
                </a:tc>
              </a:tr>
            </a:tbl>
          </a:graphicData>
        </a:graphic>
      </p:graphicFrame>
      <p:sp>
        <p:nvSpPr>
          <p:cNvPr id="28" name="TextBox 27"/>
          <p:cNvSpPr txBox="1"/>
          <p:nvPr/>
        </p:nvSpPr>
        <p:spPr>
          <a:xfrm>
            <a:off x="8109508" y="3511296"/>
            <a:ext cx="3515258" cy="457200"/>
          </a:xfrm>
          <a:prstGeom prst="rect">
            <a:avLst/>
          </a:prstGeom>
          <a:noFill/>
        </p:spPr>
        <p:txBody>
          <a:bodyPr wrap="square" lIns="0" rIns="0" tIns="0" bIns="0">
            <a:spAutoFit/>
          </a:bodyPr>
          <a:lstStyle/>
          <a:p>
            <a:pPr>
              <a:lnSpc>
                <a:spcPct val="135000"/>
              </a:lnSpc>
              <a:spcAft>
                <a:spcPts val="0"/>
              </a:spcAft>
            </a:pPr>
            <a:r>
              <a:rPr sz="940" b="0" i="0">
                <a:solidFill>
                  <a:srgbClr val="6B7B74"/>
                </a:solidFill>
                <a:latin typeface="Manrope"/>
              </a:rPr>
              <a:t>At a typical 3m length that implies roughly £15/m for MDF skirting against tulip's £33.17 — about a 2× premium.</a:t>
            </a:r>
          </a:p>
        </p:txBody>
      </p:sp>
      <p:sp>
        <p:nvSpPr>
          <p:cNvPr id="29" name="Rounded Rectangle 28"/>
          <p:cNvSpPr/>
          <p:nvPr/>
        </p:nvSpPr>
        <p:spPr>
          <a:xfrm>
            <a:off x="8109508" y="4041648"/>
            <a:ext cx="3515258" cy="1005840"/>
          </a:xfrm>
          <a:prstGeom prst="roundRect">
            <a:avLst>
              <a:gd name="adj" fmla="val 4500"/>
            </a:avLst>
          </a:prstGeom>
          <a:solidFill>
            <a:srgbClr val="09221F"/>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310676" y="4169663"/>
            <a:ext cx="1161288"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ADVANTAGE</a:t>
            </a:r>
          </a:p>
        </p:txBody>
      </p:sp>
      <p:sp>
        <p:nvSpPr>
          <p:cNvPr id="31" name="TextBox 30"/>
          <p:cNvSpPr txBox="1"/>
          <p:nvPr/>
        </p:nvSpPr>
        <p:spPr>
          <a:xfrm>
            <a:off x="8310676" y="4480560"/>
            <a:ext cx="3149498" cy="237744"/>
          </a:xfrm>
          <a:prstGeom prst="rect">
            <a:avLst/>
          </a:prstGeom>
          <a:noFill/>
        </p:spPr>
        <p:txBody>
          <a:bodyPr wrap="square" lIns="0" rIns="0" tIns="0" bIns="0" anchor="t">
            <a:spAutoFit/>
          </a:bodyPr>
          <a:lstStyle/>
          <a:p>
            <a:pPr algn="l"/>
            <a:r>
              <a:rPr sz="1100" b="1" i="0">
                <a:solidFill>
                  <a:srgbClr val="FFFFFF"/>
                </a:solidFill>
                <a:latin typeface="Manrope"/>
              </a:rPr>
              <a:t>Fixed variants, not configurator products</a:t>
            </a:r>
          </a:p>
        </p:txBody>
      </p:sp>
      <p:sp>
        <p:nvSpPr>
          <p:cNvPr id="32" name="TextBox 31"/>
          <p:cNvSpPr txBox="1"/>
          <p:nvPr/>
        </p:nvSpPr>
        <p:spPr>
          <a:xfrm>
            <a:off x="8310676" y="4736592"/>
            <a:ext cx="3149498" cy="274320"/>
          </a:xfrm>
          <a:prstGeom prst="rect">
            <a:avLst/>
          </a:prstGeom>
          <a:noFill/>
        </p:spPr>
        <p:txBody>
          <a:bodyPr wrap="square" lIns="0" rIns="0" tIns="0" bIns="0">
            <a:spAutoFit/>
          </a:bodyPr>
          <a:lstStyle/>
          <a:p>
            <a:pPr>
              <a:lnSpc>
                <a:spcPct val="135000"/>
              </a:lnSpc>
              <a:spcAft>
                <a:spcPts val="0"/>
              </a:spcAft>
            </a:pPr>
            <a:r>
              <a:rPr sz="960" b="0" i="0">
                <a:solidFill>
                  <a:srgbClr val="B9C7C0"/>
                </a:solidFill>
                <a:latin typeface="Manrope"/>
              </a:rPr>
              <a:t>None of the £6.68 placeholder problem, none of the nine-second add to cart.</a:t>
            </a:r>
          </a:p>
        </p:txBody>
      </p:sp>
      <p:sp>
        <p:nvSpPr>
          <p:cNvPr id="33" name="Rounded Rectangle 32"/>
          <p:cNvSpPr/>
          <p:nvPr/>
        </p:nvSpPr>
        <p:spPr>
          <a:xfrm>
            <a:off x="8109508" y="5157216"/>
            <a:ext cx="3515258" cy="804672"/>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10676" y="5303520"/>
            <a:ext cx="3149498" cy="548640"/>
          </a:xfrm>
          <a:prstGeom prst="rect">
            <a:avLst/>
          </a:prstGeom>
          <a:noFill/>
        </p:spPr>
        <p:txBody>
          <a:bodyPr wrap="square" lIns="0" rIns="0" tIns="0" bIns="0">
            <a:spAutoFit/>
          </a:bodyPr>
          <a:lstStyle/>
          <a:p>
            <a:pPr>
              <a:lnSpc>
                <a:spcPct val="135000"/>
              </a:lnSpc>
              <a:spcAft>
                <a:spcPts val="0"/>
              </a:spcAft>
            </a:pPr>
            <a:r>
              <a:rPr sz="1000" b="1" i="0">
                <a:solidFill>
                  <a:srgbClr val="8EFEBB"/>
                </a:solidFill>
                <a:latin typeface="Manrope"/>
              </a:rPr>
              <a:t>A top-level range in the main navigation</a:t>
            </a:r>
            <a:r>
              <a:rPr sz="1000" b="0" i="0">
                <a:solidFill>
                  <a:srgbClr val="B9C7C0"/>
                </a:solidFill>
                <a:latin typeface="Manrope"/>
              </a:rPr>
              <a:t>, not a material filter inside MDF. Burying a 2× premium in an MDF listing invites comparison on price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10 · LAUNCHING THE RANGE</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Release by period, not by product </a:t>
            </a:r>
            <a:r>
              <a:rPr sz="2700" b="1" i="1" spc="-70">
                <a:solidFill>
                  <a:srgbClr val="8EFEBB"/>
                </a:solidFill>
                <a:latin typeface="Instrument Serif"/>
              </a:rPr>
              <a:t>type</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Seventy-nine products in a 20 × 4 matrix, all unpublished — which means every issue below can be fixed before anything goes live.</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15</a:t>
            </a:r>
          </a:p>
        </p:txBody>
      </p:sp>
      <p:graphicFrame>
        <p:nvGraphicFramePr>
          <p:cNvPr id="9" name="Table 8"/>
          <p:cNvGraphicFramePr>
            <a:graphicFrameLocks noGrp="1"/>
          </p:cNvGraphicFramePr>
          <p:nvPr/>
        </p:nvGraphicFramePr>
        <p:xfrm>
          <a:off x="566928" y="2029968"/>
          <a:ext cx="6035038" cy="2029968"/>
        </p:xfrm>
        <a:graphic>
          <a:graphicData uri="http://schemas.openxmlformats.org/drawingml/2006/table">
            <a:tbl>
              <a:tblPr firstRow="1" bandRow="1">
                <a:tableStyleId>{5C22544A-7EE6-4342-B048-85BDC9FD1C3A}</a:tableStyleId>
              </a:tblPr>
              <a:tblGrid>
                <a:gridCol w="532503"/>
                <a:gridCol w="1153757"/>
                <a:gridCol w="798755"/>
                <a:gridCol w="3550023"/>
              </a:tblGrid>
              <a:tr h="274320">
                <a:tc>
                  <a:txBody>
                    <a:bodyPr wrap="square"/>
                    <a:lstStyle/>
                    <a:p>
                      <a:pPr algn="l"/>
                      <a:r>
                        <a:rPr sz="780" b="1">
                          <a:solidFill>
                            <a:srgbClr val="6B7B74"/>
                          </a:solidFill>
                          <a:latin typeface="Manrope"/>
                        </a:rPr>
                        <a:t>WAVE</a:t>
                      </a:r>
                    </a:p>
                  </a:txBody>
                  <a:tcPr marL="45720" marR="45720" marT="18288" marB="18288" anchor="ctr">
                    <a:solidFill>
                      <a:srgbClr val="051412"/>
                    </a:solidFill>
                  </a:tcPr>
                </a:tc>
                <a:tc>
                  <a:txBody>
                    <a:bodyPr wrap="square"/>
                    <a:lstStyle/>
                    <a:p>
                      <a:pPr algn="r"/>
                      <a:r>
                        <a:rPr sz="780" b="1">
                          <a:solidFill>
                            <a:srgbClr val="6B7B74"/>
                          </a:solidFill>
                          <a:latin typeface="Manrope"/>
                        </a:rPr>
                        <a:t>PERIOD</a:t>
                      </a:r>
                    </a:p>
                  </a:txBody>
                  <a:tcPr marL="45720" marR="45720" marT="18288" marB="18288" anchor="ctr">
                    <a:solidFill>
                      <a:srgbClr val="051412"/>
                    </a:solidFill>
                  </a:tcPr>
                </a:tc>
                <a:tc>
                  <a:txBody>
                    <a:bodyPr wrap="square"/>
                    <a:lstStyle/>
                    <a:p>
                      <a:pPr algn="r"/>
                      <a:r>
                        <a:rPr sz="780" b="1">
                          <a:solidFill>
                            <a:srgbClr val="6B7B74"/>
                          </a:solidFill>
                          <a:latin typeface="Manrope"/>
                        </a:rPr>
                        <a:t>PRODUCTS</a:t>
                      </a:r>
                    </a:p>
                  </a:txBody>
                  <a:tcPr marL="45720" marR="45720" marT="18288" marB="18288" anchor="ctr">
                    <a:solidFill>
                      <a:srgbClr val="051412"/>
                    </a:solidFill>
                  </a:tcPr>
                </a:tc>
                <a:tc>
                  <a:txBody>
                    <a:bodyPr wrap="square"/>
                    <a:lstStyle/>
                    <a:p>
                      <a:pPr algn="r"/>
                      <a:r>
                        <a:rPr sz="780" b="1">
                          <a:solidFill>
                            <a:srgbClr val="6B7B74"/>
                          </a:solidFill>
                          <a:latin typeface="Manrope"/>
                        </a:rPr>
                        <a:t>RATIONALE</a:t>
                      </a:r>
                    </a:p>
                  </a:txBody>
                  <a:tcPr marL="45720" marR="45720" marT="18288" marB="18288" anchor="ctr">
                    <a:solidFill>
                      <a:srgbClr val="051412"/>
                    </a:solidFill>
                  </a:tcPr>
                </a:tc>
              </a:tr>
              <a:tr h="438912">
                <a:tc>
                  <a:txBody>
                    <a:bodyPr wrap="square"/>
                    <a:lstStyle/>
                    <a:p>
                      <a:pPr algn="l"/>
                      <a:r>
                        <a:rPr sz="1000" b="1">
                          <a:solidFill>
                            <a:srgbClr val="8EFEBB"/>
                          </a:solidFill>
                          <a:latin typeface="Manrope"/>
                        </a:rPr>
                        <a:t>1</a:t>
                      </a:r>
                    </a:p>
                  </a:txBody>
                  <a:tcPr marL="45720" marR="45720" marT="18288" marB="18288" anchor="ctr">
                    <a:solidFill>
                      <a:srgbClr val="0B2A24"/>
                    </a:solidFill>
                  </a:tcPr>
                </a:tc>
                <a:tc>
                  <a:txBody>
                    <a:bodyPr wrap="square"/>
                    <a:lstStyle/>
                    <a:p>
                      <a:pPr algn="r"/>
                      <a:r>
                        <a:rPr sz="1000" b="1">
                          <a:solidFill>
                            <a:srgbClr val="8EFEBB"/>
                          </a:solidFill>
                          <a:latin typeface="Manrope"/>
                        </a:rPr>
                        <a:t>Georgian</a:t>
                      </a:r>
                    </a:p>
                  </a:txBody>
                  <a:tcPr marL="45720" marR="45720" marT="18288" marB="18288" anchor="ctr">
                    <a:solidFill>
                      <a:srgbClr val="0B2A24"/>
                    </a:solidFill>
                  </a:tcPr>
                </a:tc>
                <a:tc>
                  <a:txBody>
                    <a:bodyPr wrap="square"/>
                    <a:lstStyle/>
                    <a:p>
                      <a:pPr algn="r"/>
                      <a:r>
                        <a:rPr sz="1000" b="1">
                          <a:solidFill>
                            <a:srgbClr val="8EFEBB"/>
                          </a:solidFill>
                          <a:latin typeface="Manrope"/>
                        </a:rPr>
                        <a:t>16</a:t>
                      </a:r>
                    </a:p>
                  </a:txBody>
                  <a:tcPr marL="45720" marR="45720" marT="18288" marB="18288" anchor="ctr">
                    <a:solidFill>
                      <a:srgbClr val="0B2A24"/>
                    </a:solidFill>
                  </a:tcPr>
                </a:tc>
                <a:tc>
                  <a:txBody>
                    <a:bodyPr wrap="square"/>
                    <a:lstStyle/>
                    <a:p>
                      <a:pPr algn="r"/>
                      <a:r>
                        <a:rPr sz="1000" b="1">
                          <a:solidFill>
                            <a:srgbClr val="8EFEBB"/>
                          </a:solidFill>
                          <a:latin typeface="Manrope"/>
                        </a:rPr>
                        <a:t>Strongest period signal — £259,921/yr in MDF. Complete four-type set</a:t>
                      </a:r>
                    </a:p>
                  </a:txBody>
                  <a:tcPr marL="45720" marR="45720" marT="18288" marB="18288" anchor="ctr">
                    <a:solidFill>
                      <a:srgbClr val="0B2A24"/>
                    </a:solidFill>
                  </a:tcPr>
                </a:tc>
              </a:tr>
              <a:tr h="438912">
                <a:tc>
                  <a:txBody>
                    <a:bodyPr wrap="square"/>
                    <a:lstStyle/>
                    <a:p>
                      <a:pPr algn="l"/>
                      <a:r>
                        <a:rPr sz="1000" b="0">
                          <a:solidFill>
                            <a:srgbClr val="E8F2EC"/>
                          </a:solidFill>
                          <a:latin typeface="Manrope"/>
                        </a:rPr>
                        <a:t>2</a:t>
                      </a:r>
                    </a:p>
                  </a:txBody>
                  <a:tcPr marL="45720" marR="45720" marT="18288" marB="18288" anchor="ctr">
                    <a:solidFill>
                      <a:srgbClr val="051412"/>
                    </a:solidFill>
                  </a:tcPr>
                </a:tc>
                <a:tc>
                  <a:txBody>
                    <a:bodyPr wrap="square"/>
                    <a:lstStyle/>
                    <a:p>
                      <a:pPr algn="r"/>
                      <a:r>
                        <a:rPr sz="1000" b="0">
                          <a:solidFill>
                            <a:srgbClr val="E8F2EC"/>
                          </a:solidFill>
                          <a:latin typeface="Manrope"/>
                        </a:rPr>
                        <a:t>Victorian</a:t>
                      </a:r>
                    </a:p>
                  </a:txBody>
                  <a:tcPr marL="45720" marR="45720" marT="18288" marB="18288" anchor="ctr">
                    <a:solidFill>
                      <a:srgbClr val="051412"/>
                    </a:solidFill>
                  </a:tcPr>
                </a:tc>
                <a:tc>
                  <a:txBody>
                    <a:bodyPr wrap="square"/>
                    <a:lstStyle/>
                    <a:p>
                      <a:pPr algn="r"/>
                      <a:r>
                        <a:rPr sz="1000" b="0">
                          <a:solidFill>
                            <a:srgbClr val="E8F2EC"/>
                          </a:solidFill>
                          <a:latin typeface="Manrope"/>
                        </a:rPr>
                        <a:t>15</a:t>
                      </a:r>
                    </a:p>
                  </a:txBody>
                  <a:tcPr marL="45720" marR="45720" marT="18288" marB="18288" anchor="ctr">
                    <a:solidFill>
                      <a:srgbClr val="051412"/>
                    </a:solidFill>
                  </a:tcPr>
                </a:tc>
                <a:tc>
                  <a:txBody>
                    <a:bodyPr wrap="square"/>
                    <a:lstStyle/>
                    <a:p>
                      <a:pPr algn="r"/>
                      <a:r>
                        <a:rPr sz="1000" b="0">
                          <a:solidFill>
                            <a:srgbClr val="E8F2EC"/>
                          </a:solidFill>
                          <a:latin typeface="Manrope"/>
                        </a:rPr>
                        <a:t>£195,691/yr in MDF, the period tied to the high-end renovation buyer</a:t>
                      </a:r>
                    </a:p>
                  </a:txBody>
                  <a:tcPr marL="45720" marR="45720" marT="18288" marB="18288" anchor="ctr">
                    <a:solidFill>
                      <a:srgbClr val="051412"/>
                    </a:solidFill>
                  </a:tcPr>
                </a:tc>
              </a:tr>
              <a:tr h="438912">
                <a:tc>
                  <a:txBody>
                    <a:bodyPr wrap="square"/>
                    <a:lstStyle/>
                    <a:p>
                      <a:pPr algn="l"/>
                      <a:r>
                        <a:rPr sz="1000" b="0">
                          <a:solidFill>
                            <a:srgbClr val="E8F2EC"/>
                          </a:solidFill>
                          <a:latin typeface="Manrope"/>
                        </a:rPr>
                        <a:t>3</a:t>
                      </a:r>
                    </a:p>
                  </a:txBody>
                  <a:tcPr marL="45720" marR="45720" marT="18288" marB="18288" anchor="ctr">
                    <a:solidFill>
                      <a:srgbClr val="051412"/>
                    </a:solidFill>
                  </a:tcPr>
                </a:tc>
                <a:tc>
                  <a:txBody>
                    <a:bodyPr wrap="square"/>
                    <a:lstStyle/>
                    <a:p>
                      <a:pPr algn="r"/>
                      <a:r>
                        <a:rPr sz="1000" b="0">
                          <a:solidFill>
                            <a:srgbClr val="E8F2EC"/>
                          </a:solidFill>
                          <a:latin typeface="Manrope"/>
                        </a:rPr>
                        <a:t>Edwardian</a:t>
                      </a:r>
                    </a:p>
                  </a:txBody>
                  <a:tcPr marL="45720" marR="45720" marT="18288" marB="18288" anchor="ctr">
                    <a:solidFill>
                      <a:srgbClr val="051412"/>
                    </a:solidFill>
                  </a:tcPr>
                </a:tc>
                <a:tc>
                  <a:txBody>
                    <a:bodyPr wrap="square"/>
                    <a:lstStyle/>
                    <a:p>
                      <a:pPr algn="r"/>
                      <a:r>
                        <a:rPr sz="1000" b="0">
                          <a:solidFill>
                            <a:srgbClr val="E8F2EC"/>
                          </a:solidFill>
                          <a:latin typeface="Manrope"/>
                        </a:rPr>
                        <a:t>28</a:t>
                      </a:r>
                    </a:p>
                  </a:txBody>
                  <a:tcPr marL="45720" marR="45720" marT="18288" marB="18288" anchor="ctr">
                    <a:solidFill>
                      <a:srgbClr val="051412"/>
                    </a:solidFill>
                  </a:tcPr>
                </a:tc>
                <a:tc>
                  <a:txBody>
                    <a:bodyPr wrap="square"/>
                    <a:lstStyle/>
                    <a:p>
                      <a:pPr algn="r"/>
                      <a:r>
                        <a:rPr sz="1000" b="0">
                          <a:solidFill>
                            <a:srgbClr val="E8F2EC"/>
                          </a:solidFill>
                          <a:latin typeface="Manrope"/>
                        </a:rPr>
                        <a:t>The largest block. Hold until the first two prove the merchandising</a:t>
                      </a:r>
                    </a:p>
                  </a:txBody>
                  <a:tcPr marL="45720" marR="45720" marT="18288" marB="18288" anchor="ctr">
                    <a:solidFill>
                      <a:srgbClr val="051412"/>
                    </a:solidFill>
                  </a:tcPr>
                </a:tc>
              </a:tr>
              <a:tr h="438912">
                <a:tc>
                  <a:txBody>
                    <a:bodyPr wrap="square"/>
                    <a:lstStyle/>
                    <a:p>
                      <a:pPr algn="l"/>
                      <a:r>
                        <a:rPr sz="1000" b="0">
                          <a:solidFill>
                            <a:srgbClr val="E8F2EC"/>
                          </a:solidFill>
                          <a:latin typeface="Manrope"/>
                        </a:rPr>
                        <a:t>4</a:t>
                      </a:r>
                    </a:p>
                  </a:txBody>
                  <a:tcPr marL="45720" marR="45720" marT="18288" marB="18288" anchor="ctr">
                    <a:solidFill>
                      <a:srgbClr val="051412"/>
                    </a:solidFill>
                  </a:tcPr>
                </a:tc>
                <a:tc>
                  <a:txBody>
                    <a:bodyPr wrap="square"/>
                    <a:lstStyle/>
                    <a:p>
                      <a:pPr algn="r"/>
                      <a:r>
                        <a:rPr sz="1000" b="0">
                          <a:solidFill>
                            <a:srgbClr val="E8F2EC"/>
                          </a:solidFill>
                          <a:latin typeface="Manrope"/>
                        </a:rPr>
                        <a:t>Contemporary</a:t>
                      </a:r>
                    </a:p>
                  </a:txBody>
                  <a:tcPr marL="45720" marR="45720" marT="18288" marB="18288" anchor="ctr">
                    <a:solidFill>
                      <a:srgbClr val="051412"/>
                    </a:solidFill>
                  </a:tcPr>
                </a:tc>
                <a:tc>
                  <a:txBody>
                    <a:bodyPr wrap="square"/>
                    <a:lstStyle/>
                    <a:p>
                      <a:pPr algn="r"/>
                      <a:r>
                        <a:rPr sz="1000" b="0">
                          <a:solidFill>
                            <a:srgbClr val="E8F2EC"/>
                          </a:solidFill>
                          <a:latin typeface="Manrope"/>
                        </a:rPr>
                        <a:t>20</a:t>
                      </a:r>
                    </a:p>
                  </a:txBody>
                  <a:tcPr marL="45720" marR="45720" marT="18288" marB="18288" anchor="ctr">
                    <a:solidFill>
                      <a:srgbClr val="051412"/>
                    </a:solidFill>
                  </a:tcPr>
                </a:tc>
                <a:tc>
                  <a:txBody>
                    <a:bodyPr wrap="square"/>
                    <a:lstStyle/>
                    <a:p>
                      <a:pPr algn="r"/>
                      <a:r>
                        <a:rPr sz="1000" b="0">
                          <a:solidFill>
                            <a:srgbClr val="E8F2EC"/>
                          </a:solidFill>
                          <a:latin typeface="Manrope"/>
                        </a:rPr>
                        <a:t>The only wave with real search volume — 3,152 impressions a month</a:t>
                      </a:r>
                    </a:p>
                  </a:txBody>
                  <a:tcPr marL="45720" marR="45720" marT="18288" marB="18288" anchor="ctr">
                    <a:solidFill>
                      <a:srgbClr val="051412"/>
                    </a:solidFill>
                  </a:tcPr>
                </a:tc>
              </a:tr>
            </a:tbl>
          </a:graphicData>
        </a:graphic>
      </p:graphicFrame>
      <p:sp>
        <p:nvSpPr>
          <p:cNvPr id="10" name="Rounded Rectangle 9"/>
          <p:cNvSpPr/>
          <p:nvPr/>
        </p:nvSpPr>
        <p:spPr>
          <a:xfrm>
            <a:off x="566928" y="4178808"/>
            <a:ext cx="6035040" cy="16002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2" y="4343400"/>
            <a:ext cx="5577840" cy="274320"/>
          </a:xfrm>
          <a:prstGeom prst="rect">
            <a:avLst/>
          </a:prstGeom>
          <a:noFill/>
        </p:spPr>
        <p:txBody>
          <a:bodyPr wrap="square" lIns="0" rIns="0" tIns="0" bIns="0" anchor="t">
            <a:spAutoFit/>
          </a:bodyPr>
          <a:lstStyle/>
          <a:p>
            <a:pPr algn="l"/>
            <a:r>
              <a:rPr sz="1250" b="1" i="0">
                <a:solidFill>
                  <a:srgbClr val="FFFFFF"/>
                </a:solidFill>
                <a:latin typeface="Manrope"/>
              </a:rPr>
              <a:t>Why period, not product type</a:t>
            </a:r>
          </a:p>
        </p:txBody>
      </p:sp>
      <p:sp>
        <p:nvSpPr>
          <p:cNvPr id="12" name="TextBox 11"/>
          <p:cNvSpPr txBox="1"/>
          <p:nvPr/>
        </p:nvSpPr>
        <p:spPr>
          <a:xfrm>
            <a:off x="804672" y="4672584"/>
            <a:ext cx="5577840" cy="1005840"/>
          </a:xfrm>
          <a:prstGeom prst="rect">
            <a:avLst/>
          </a:prstGeom>
          <a:noFill/>
        </p:spPr>
        <p:txBody>
          <a:bodyPr wrap="square" lIns="0" rIns="0" tIns="0" bIns="0">
            <a:spAutoFit/>
          </a:bodyPr>
          <a:lstStyle/>
          <a:p>
            <a:pPr>
              <a:lnSpc>
                <a:spcPct val="140000"/>
              </a:lnSpc>
              <a:spcAft>
                <a:spcPts val="0"/>
              </a:spcAft>
            </a:pPr>
            <a:r>
              <a:rPr sz="1050" b="0" i="0">
                <a:solidFill>
                  <a:srgbClr val="B9C7C0"/>
                </a:solidFill>
                <a:latin typeface="Manrope"/>
              </a:rPr>
              <a:t>The instinct is to release all the skirtings, then all the architraves. The product data argues against it. Every page reads “pair with the matching skirting, panel mould and architrave”, and the whole proposition of a 20 × 4 matrix is that a room can be specified in one profile. </a:t>
            </a:r>
            <a:r>
              <a:rPr sz="1050" b="1" i="0">
                <a:solidFill>
                  <a:srgbClr val="8EFEBB"/>
                </a:solidFill>
                <a:latin typeface="Manrope"/>
              </a:rPr>
              <a:t>Release by type and every page cross-sells to three products that do not exist yet.</a:t>
            </a:r>
          </a:p>
        </p:txBody>
      </p:sp>
      <p:sp>
        <p:nvSpPr>
          <p:cNvPr id="13" name="Rounded Rectangle 12"/>
          <p:cNvSpPr/>
          <p:nvPr/>
        </p:nvSpPr>
        <p:spPr>
          <a:xfrm>
            <a:off x="6876288" y="2029968"/>
            <a:ext cx="4748479" cy="1572768"/>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7095744" y="2157984"/>
            <a:ext cx="3474720"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BLOCKING · FIX BEFORE PUBLISHING</a:t>
            </a:r>
          </a:p>
        </p:txBody>
      </p:sp>
      <p:sp>
        <p:nvSpPr>
          <p:cNvPr id="15" name="TextBox 14"/>
          <p:cNvSpPr txBox="1"/>
          <p:nvPr/>
        </p:nvSpPr>
        <p:spPr>
          <a:xfrm>
            <a:off x="7095744" y="2487168"/>
            <a:ext cx="4336999" cy="237744"/>
          </a:xfrm>
          <a:prstGeom prst="rect">
            <a:avLst/>
          </a:prstGeom>
          <a:noFill/>
        </p:spPr>
        <p:txBody>
          <a:bodyPr wrap="square" lIns="0" rIns="0" tIns="0" bIns="0" anchor="t">
            <a:spAutoFit/>
          </a:bodyPr>
          <a:lstStyle/>
          <a:p>
            <a:pPr algn="l"/>
            <a:r>
              <a:rPr sz="1150" b="1" i="0">
                <a:solidFill>
                  <a:srgbClr val="FFFFFF"/>
                </a:solidFill>
                <a:latin typeface="Manrope"/>
              </a:rPr>
              <a:t>The range is named after a term nobody searches</a:t>
            </a:r>
          </a:p>
        </p:txBody>
      </p:sp>
      <p:sp>
        <p:nvSpPr>
          <p:cNvPr id="16" name="TextBox 15"/>
          <p:cNvSpPr txBox="1"/>
          <p:nvPr/>
        </p:nvSpPr>
        <p:spPr>
          <a:xfrm>
            <a:off x="7095744" y="2779776"/>
            <a:ext cx="4336999" cy="749808"/>
          </a:xfrm>
          <a:prstGeom prst="rect">
            <a:avLst/>
          </a:prstGeom>
          <a:noFill/>
        </p:spPr>
        <p:txBody>
          <a:bodyPr wrap="square" lIns="0" rIns="0" tIns="0" bIns="0">
            <a:spAutoFit/>
          </a:bodyPr>
          <a:lstStyle/>
          <a:p>
            <a:pPr>
              <a:lnSpc>
                <a:spcPct val="135000"/>
              </a:lnSpc>
              <a:spcAft>
                <a:spcPts val="0"/>
              </a:spcAft>
            </a:pPr>
            <a:r>
              <a:rPr sz="980" b="0" i="0">
                <a:solidFill>
                  <a:srgbClr val="B9C7C0"/>
                </a:solidFill>
                <a:latin typeface="Manrope"/>
              </a:rPr>
              <a:t>All 79 titles, handles and SEO titles contain “Tulip”; none contain “hardwood”. Keep the profile names — they are a genuine brand asset. Make the layer above findable: the collection is </a:t>
            </a:r>
            <a:r>
              <a:rPr sz="980" b="1" i="0">
                <a:solidFill>
                  <a:srgbClr val="FFFFFF"/>
                </a:solidFill>
                <a:latin typeface="Manrope"/>
              </a:rPr>
              <a:t>Solid Hardwood Skirting Boards</a:t>
            </a:r>
            <a:r>
              <a:rPr sz="980" b="0" i="0">
                <a:solidFill>
                  <a:srgbClr val="B9C7C0"/>
                </a:solidFill>
                <a:latin typeface="Manrope"/>
              </a:rPr>
              <a:t>. Handles are cheapest to change now — renaming after launch means redirects and lost equity.</a:t>
            </a:r>
          </a:p>
        </p:txBody>
      </p:sp>
      <p:sp>
        <p:nvSpPr>
          <p:cNvPr id="17" name="Rounded Rectangle 16"/>
          <p:cNvSpPr/>
          <p:nvPr/>
        </p:nvSpPr>
        <p:spPr>
          <a:xfrm>
            <a:off x="6876288" y="3730752"/>
            <a:ext cx="4748479" cy="1207008"/>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095744" y="3858768"/>
            <a:ext cx="106070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BLOCKING</a:t>
            </a:r>
          </a:p>
        </p:txBody>
      </p:sp>
      <p:sp>
        <p:nvSpPr>
          <p:cNvPr id="19" name="TextBox 18"/>
          <p:cNvSpPr txBox="1"/>
          <p:nvPr/>
        </p:nvSpPr>
        <p:spPr>
          <a:xfrm>
            <a:off x="7095744" y="4187952"/>
            <a:ext cx="4336999" cy="640080"/>
          </a:xfrm>
          <a:prstGeom prst="rect">
            <a:avLst/>
          </a:prstGeom>
          <a:noFill/>
        </p:spPr>
        <p:txBody>
          <a:bodyPr wrap="square" lIns="0" rIns="0" tIns="0" bIns="0">
            <a:spAutoFit/>
          </a:bodyPr>
          <a:lstStyle/>
          <a:p>
            <a:pPr>
              <a:lnSpc>
                <a:spcPct val="135000"/>
              </a:lnSpc>
              <a:spcAft>
                <a:spcPts val="0"/>
              </a:spcAft>
            </a:pPr>
            <a:r>
              <a:rPr sz="980" b="0" i="0">
                <a:solidFill>
                  <a:srgbClr val="B9C7C0"/>
                </a:solidFill>
                <a:latin typeface="Manrope"/>
              </a:rPr>
              <a:t>The priming and size options are inconsistent — 59 products use “Priming / Un-Primed”, 20 use “Primed / Not Primed”. Two names for the same thing fragments the storefront filter. Size has the same split.</a:t>
            </a:r>
          </a:p>
        </p:txBody>
      </p:sp>
      <p:sp>
        <p:nvSpPr>
          <p:cNvPr id="20" name="Rounded Rectangle 19"/>
          <p:cNvSpPr/>
          <p:nvPr/>
        </p:nvSpPr>
        <p:spPr>
          <a:xfrm>
            <a:off x="6876288" y="5065776"/>
            <a:ext cx="2273655" cy="841248"/>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7040879" y="5175504"/>
            <a:ext cx="758952" cy="214884"/>
          </a:xfrm>
          <a:prstGeom prst="roundRect">
            <a:avLst>
              <a:gd name="adj" fmla="val 50000"/>
            </a:avLst>
          </a:prstGeom>
          <a:solidFill>
            <a:srgbClr val="2A241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F5D674"/>
                </a:solidFill>
                <a:latin typeface="Manrope"/>
              </a:rPr>
              <a:t>CHECK</a:t>
            </a:r>
          </a:p>
        </p:txBody>
      </p:sp>
      <p:sp>
        <p:nvSpPr>
          <p:cNvPr id="22" name="TextBox 21"/>
          <p:cNvSpPr txBox="1"/>
          <p:nvPr/>
        </p:nvSpPr>
        <p:spPr>
          <a:xfrm>
            <a:off x="7040879" y="5468112"/>
            <a:ext cx="1953615" cy="384048"/>
          </a:xfrm>
          <a:prstGeom prst="rect">
            <a:avLst/>
          </a:prstGeom>
          <a:noFill/>
        </p:spPr>
        <p:txBody>
          <a:bodyPr wrap="square" lIns="0" rIns="0" tIns="0" bIns="0">
            <a:spAutoFit/>
          </a:bodyPr>
          <a:lstStyle/>
          <a:p>
            <a:pPr>
              <a:lnSpc>
                <a:spcPct val="130000"/>
              </a:lnSpc>
              <a:spcAft>
                <a:spcPts val="0"/>
              </a:spcAft>
            </a:pPr>
            <a:r>
              <a:rPr sz="900" b="0" i="0">
                <a:solidFill>
                  <a:srgbClr val="B9C7C0"/>
                </a:solidFill>
                <a:latin typeface="Manrope"/>
              </a:rPr>
              <a:t>The from_price metafield is empty on all 79. Collection cards read that metafield — check against a real product or they render with no price.</a:t>
            </a:r>
          </a:p>
        </p:txBody>
      </p:sp>
      <p:sp>
        <p:nvSpPr>
          <p:cNvPr id="23" name="Rounded Rectangle 22"/>
          <p:cNvSpPr/>
          <p:nvPr/>
        </p:nvSpPr>
        <p:spPr>
          <a:xfrm>
            <a:off x="9351111" y="5065776"/>
            <a:ext cx="2273655" cy="841248"/>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9515703" y="5175504"/>
            <a:ext cx="658368" cy="214884"/>
          </a:xfrm>
          <a:prstGeom prst="roundRect">
            <a:avLst>
              <a:gd name="adj" fmla="val 50000"/>
            </a:avLst>
          </a:prstGeom>
          <a:solidFill>
            <a:srgbClr val="2A241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F5D674"/>
                </a:solidFill>
                <a:latin typeface="Manrope"/>
              </a:rPr>
              <a:t>COPY</a:t>
            </a:r>
          </a:p>
        </p:txBody>
      </p:sp>
      <p:sp>
        <p:nvSpPr>
          <p:cNvPr id="25" name="TextBox 24"/>
          <p:cNvSpPr txBox="1"/>
          <p:nvPr/>
        </p:nvSpPr>
        <p:spPr>
          <a:xfrm>
            <a:off x="9515703" y="5468112"/>
            <a:ext cx="1953615" cy="384048"/>
          </a:xfrm>
          <a:prstGeom prst="rect">
            <a:avLst/>
          </a:prstGeom>
          <a:noFill/>
        </p:spPr>
        <p:txBody>
          <a:bodyPr wrap="square" lIns="0" rIns="0" tIns="0" bIns="0">
            <a:spAutoFit/>
          </a:bodyPr>
          <a:lstStyle/>
          <a:p>
            <a:pPr>
              <a:lnSpc>
                <a:spcPct val="130000"/>
              </a:lnSpc>
              <a:spcAft>
                <a:spcPts val="0"/>
              </a:spcAft>
            </a:pPr>
            <a:r>
              <a:rPr sz="900" b="0" i="0">
                <a:solidFill>
                  <a:srgbClr val="B9C7C0"/>
                </a:solidFill>
                <a:latin typeface="Manrope"/>
              </a:rPr>
              <a:t>Every page compares tulip wood to softwood. This buyer is coming from MDF and deciding at twice the price. Answer that question instead.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11 · LEVER · SPECIFICATION</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Architects don't search. They </a:t>
            </a:r>
            <a:r>
              <a:rPr sz="2700" b="1" i="1" spc="-70">
                <a:solidFill>
                  <a:srgbClr val="8EFEBB"/>
                </a:solidFill>
                <a:latin typeface="Instrument Serif"/>
              </a:rPr>
              <a:t>specify</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Thirty-eight customers have ever spent over £5,000. This is how that number grows.</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16</a:t>
            </a:r>
          </a:p>
        </p:txBody>
      </p:sp>
      <p:sp>
        <p:nvSpPr>
          <p:cNvPr id="9" name="TextBox 8"/>
          <p:cNvSpPr txBox="1"/>
          <p:nvPr/>
        </p:nvSpPr>
        <p:spPr>
          <a:xfrm>
            <a:off x="566928" y="2029968"/>
            <a:ext cx="4937760" cy="182880"/>
          </a:xfrm>
          <a:prstGeom prst="rect">
            <a:avLst/>
          </a:prstGeom>
          <a:noFill/>
        </p:spPr>
        <p:txBody>
          <a:bodyPr wrap="square" lIns="0" rIns="0" tIns="0" bIns="0" anchor="t">
            <a:spAutoFit/>
          </a:bodyPr>
          <a:lstStyle/>
          <a:p>
            <a:pPr algn="l"/>
            <a:r>
              <a:rPr sz="850" b="1" i="0" spc="160">
                <a:solidFill>
                  <a:srgbClr val="6B7B74"/>
                </a:solidFill>
                <a:latin typeface="Manrope"/>
              </a:rPr>
              <a:t>SPECIFICATION-INTENT SEARCH BARELY EXISTS</a:t>
            </a:r>
          </a:p>
        </p:txBody>
      </p:sp>
      <p:graphicFrame>
        <p:nvGraphicFramePr>
          <p:cNvPr id="10" name="Table 9"/>
          <p:cNvGraphicFramePr>
            <a:graphicFrameLocks noGrp="1"/>
          </p:cNvGraphicFramePr>
          <p:nvPr/>
        </p:nvGraphicFramePr>
        <p:xfrm>
          <a:off x="566928" y="2286000"/>
          <a:ext cx="4937758" cy="1691640"/>
        </p:xfrm>
        <a:graphic>
          <a:graphicData uri="http://schemas.openxmlformats.org/drawingml/2006/table">
            <a:tbl>
              <a:tblPr firstRow="1" bandRow="1">
                <a:tableStyleId>{5C22544A-7EE6-4342-B048-85BDC9FD1C3A}</a:tableStyleId>
              </a:tblPr>
              <a:tblGrid>
                <a:gridCol w="3291839"/>
                <a:gridCol w="1645919"/>
              </a:tblGrid>
              <a:tr h="274320">
                <a:tc>
                  <a:txBody>
                    <a:bodyPr wrap="square"/>
                    <a:lstStyle/>
                    <a:p>
                      <a:pPr algn="l"/>
                      <a:r>
                        <a:rPr sz="780" b="1">
                          <a:solidFill>
                            <a:srgbClr val="6B7B74"/>
                          </a:solidFill>
                          <a:latin typeface="Manrope"/>
                        </a:rPr>
                        <a:t>SEARCH TERM</a:t>
                      </a:r>
                    </a:p>
                  </a:txBody>
                  <a:tcPr marL="45720" marR="45720" marT="18288" marB="18288" anchor="ctr">
                    <a:solidFill>
                      <a:srgbClr val="051412"/>
                    </a:solidFill>
                  </a:tcPr>
                </a:tc>
                <a:tc>
                  <a:txBody>
                    <a:bodyPr wrap="square"/>
                    <a:lstStyle/>
                    <a:p>
                      <a:pPr algn="r"/>
                      <a:r>
                        <a:rPr sz="780" b="1">
                          <a:solidFill>
                            <a:srgbClr val="6B7B74"/>
                          </a:solidFill>
                          <a:latin typeface="Manrope"/>
                        </a:rPr>
                        <a:t>UK VOLUME / MO</a:t>
                      </a:r>
                    </a:p>
                  </a:txBody>
                  <a:tcPr marL="45720" marR="45720" marT="18288" marB="18288" anchor="ctr">
                    <a:solidFill>
                      <a:srgbClr val="051412"/>
                    </a:solidFill>
                  </a:tcPr>
                </a:tc>
              </a:tr>
              <a:tr h="283464">
                <a:tc>
                  <a:txBody>
                    <a:bodyPr wrap="square"/>
                    <a:lstStyle/>
                    <a:p>
                      <a:pPr algn="l"/>
                      <a:r>
                        <a:rPr sz="1050" b="0">
                          <a:solidFill>
                            <a:srgbClr val="6B7B74"/>
                          </a:solidFill>
                          <a:latin typeface="Manrope"/>
                        </a:rPr>
                        <a:t>period mouldings</a:t>
                      </a:r>
                    </a:p>
                  </a:txBody>
                  <a:tcPr marL="45720" marR="45720" marT="18288" marB="18288" anchor="ctr">
                    <a:solidFill>
                      <a:srgbClr val="051412"/>
                    </a:solidFill>
                  </a:tcPr>
                </a:tc>
                <a:tc>
                  <a:txBody>
                    <a:bodyPr wrap="square"/>
                    <a:lstStyle/>
                    <a:p>
                      <a:pPr algn="r"/>
                      <a:r>
                        <a:rPr sz="1050" b="0">
                          <a:solidFill>
                            <a:srgbClr val="6B7B74"/>
                          </a:solidFill>
                          <a:latin typeface="Manrope"/>
                        </a:rPr>
                        <a:t>300</a:t>
                      </a:r>
                    </a:p>
                  </a:txBody>
                  <a:tcPr marL="45720" marR="45720" marT="18288" marB="18288" anchor="ctr">
                    <a:solidFill>
                      <a:srgbClr val="051412"/>
                    </a:solidFill>
                  </a:tcPr>
                </a:tc>
              </a:tr>
              <a:tr h="283464">
                <a:tc>
                  <a:txBody>
                    <a:bodyPr wrap="square"/>
                    <a:lstStyle/>
                    <a:p>
                      <a:pPr algn="l"/>
                      <a:r>
                        <a:rPr sz="1050" b="0">
                          <a:solidFill>
                            <a:srgbClr val="6B7B74"/>
                          </a:solidFill>
                          <a:latin typeface="Manrope"/>
                        </a:rPr>
                        <a:t>architectural mouldings</a:t>
                      </a:r>
                    </a:p>
                  </a:txBody>
                  <a:tcPr marL="45720" marR="45720" marT="18288" marB="18288" anchor="ctr">
                    <a:solidFill>
                      <a:srgbClr val="051412"/>
                    </a:solidFill>
                  </a:tcPr>
                </a:tc>
                <a:tc>
                  <a:txBody>
                    <a:bodyPr wrap="square"/>
                    <a:lstStyle/>
                    <a:p>
                      <a:pPr algn="r"/>
                      <a:r>
                        <a:rPr sz="1050" b="0">
                          <a:solidFill>
                            <a:srgbClr val="6B7B74"/>
                          </a:solidFill>
                          <a:latin typeface="Manrope"/>
                        </a:rPr>
                        <a:t>250</a:t>
                      </a:r>
                    </a:p>
                  </a:txBody>
                  <a:tcPr marL="45720" marR="45720" marT="18288" marB="18288" anchor="ctr">
                    <a:solidFill>
                      <a:srgbClr val="051412"/>
                    </a:solidFill>
                  </a:tcPr>
                </a:tc>
              </a:tr>
              <a:tr h="283464">
                <a:tc>
                  <a:txBody>
                    <a:bodyPr wrap="square"/>
                    <a:lstStyle/>
                    <a:p>
                      <a:pPr algn="l"/>
                      <a:r>
                        <a:rPr sz="1050" b="0">
                          <a:solidFill>
                            <a:srgbClr val="6B7B74"/>
                          </a:solidFill>
                          <a:latin typeface="Manrope"/>
                        </a:rPr>
                        <a:t>bespoke mouldings</a:t>
                      </a:r>
                    </a:p>
                  </a:txBody>
                  <a:tcPr marL="45720" marR="45720" marT="18288" marB="18288" anchor="ctr">
                    <a:solidFill>
                      <a:srgbClr val="051412"/>
                    </a:solidFill>
                  </a:tcPr>
                </a:tc>
                <a:tc>
                  <a:txBody>
                    <a:bodyPr wrap="square"/>
                    <a:lstStyle/>
                    <a:p>
                      <a:pPr algn="r"/>
                      <a:r>
                        <a:rPr sz="1050" b="0">
                          <a:solidFill>
                            <a:srgbClr val="6B7B74"/>
                          </a:solidFill>
                          <a:latin typeface="Manrope"/>
                        </a:rPr>
                        <a:t>100</a:t>
                      </a:r>
                    </a:p>
                  </a:txBody>
                  <a:tcPr marL="45720" marR="45720" marT="18288" marB="18288" anchor="ctr">
                    <a:solidFill>
                      <a:srgbClr val="051412"/>
                    </a:solidFill>
                  </a:tcPr>
                </a:tc>
              </a:tr>
              <a:tr h="283464">
                <a:tc>
                  <a:txBody>
                    <a:bodyPr wrap="square"/>
                    <a:lstStyle/>
                    <a:p>
                      <a:pPr algn="l"/>
                      <a:r>
                        <a:rPr sz="1050" b="0">
                          <a:solidFill>
                            <a:srgbClr val="6B7B74"/>
                          </a:solidFill>
                          <a:latin typeface="Manrope"/>
                        </a:rPr>
                        <a:t>moulding specification</a:t>
                      </a:r>
                    </a:p>
                  </a:txBody>
                  <a:tcPr marL="45720" marR="45720" marT="18288" marB="18288" anchor="ctr">
                    <a:solidFill>
                      <a:srgbClr val="051412"/>
                    </a:solidFill>
                  </a:tcPr>
                </a:tc>
                <a:tc>
                  <a:txBody>
                    <a:bodyPr wrap="square"/>
                    <a:lstStyle/>
                    <a:p>
                      <a:pPr algn="r"/>
                      <a:r>
                        <a:rPr sz="1050" b="0">
                          <a:solidFill>
                            <a:srgbClr val="6B7B74"/>
                          </a:solidFill>
                          <a:latin typeface="Manrope"/>
                        </a:rPr>
                        <a:t>0</a:t>
                      </a:r>
                    </a:p>
                  </a:txBody>
                  <a:tcPr marL="45720" marR="45720" marT="18288" marB="18288" anchor="ctr">
                    <a:solidFill>
                      <a:srgbClr val="051412"/>
                    </a:solidFill>
                  </a:tcPr>
                </a:tc>
              </a:tr>
              <a:tr h="283464">
                <a:tc>
                  <a:txBody>
                    <a:bodyPr wrap="square"/>
                    <a:lstStyle/>
                    <a:p>
                      <a:pPr algn="l"/>
                      <a:r>
                        <a:rPr sz="1050" b="0">
                          <a:solidFill>
                            <a:srgbClr val="6B7B74"/>
                          </a:solidFill>
                          <a:latin typeface="Manrope"/>
                        </a:rPr>
                        <a:t>made to measure skirting</a:t>
                      </a:r>
                    </a:p>
                  </a:txBody>
                  <a:tcPr marL="45720" marR="45720" marT="18288" marB="18288" anchor="ctr">
                    <a:solidFill>
                      <a:srgbClr val="051412"/>
                    </a:solidFill>
                  </a:tcPr>
                </a:tc>
                <a:tc>
                  <a:txBody>
                    <a:bodyPr wrap="square"/>
                    <a:lstStyle/>
                    <a:p>
                      <a:pPr algn="r"/>
                      <a:r>
                        <a:rPr sz="1050" b="0">
                          <a:solidFill>
                            <a:srgbClr val="6B7B74"/>
                          </a:solidFill>
                          <a:latin typeface="Manrope"/>
                        </a:rPr>
                        <a:t>0</a:t>
                      </a:r>
                    </a:p>
                  </a:txBody>
                  <a:tcPr marL="45720" marR="45720" marT="18288" marB="18288" anchor="ctr">
                    <a:solidFill>
                      <a:srgbClr val="051412"/>
                    </a:solidFill>
                  </a:tcPr>
                </a:tc>
              </a:tr>
            </a:tbl>
          </a:graphicData>
        </a:graphic>
      </p:graphicFrame>
      <p:sp>
        <p:nvSpPr>
          <p:cNvPr id="11" name="TextBox 10"/>
          <p:cNvSpPr txBox="1"/>
          <p:nvPr/>
        </p:nvSpPr>
        <p:spPr>
          <a:xfrm>
            <a:off x="566928" y="3904487"/>
            <a:ext cx="4937760" cy="411480"/>
          </a:xfrm>
          <a:prstGeom prst="rect">
            <a:avLst/>
          </a:prstGeom>
          <a:noFill/>
        </p:spPr>
        <p:txBody>
          <a:bodyPr wrap="square" lIns="0" rIns="0" tIns="0" bIns="0">
            <a:spAutoFit/>
          </a:bodyPr>
          <a:lstStyle/>
          <a:p>
            <a:pPr>
              <a:lnSpc>
                <a:spcPct val="135000"/>
              </a:lnSpc>
              <a:spcAft>
                <a:spcPts val="0"/>
              </a:spcAft>
            </a:pPr>
            <a:r>
              <a:rPr sz="980" b="0" i="0">
                <a:solidFill>
                  <a:srgbClr val="6B7B74"/>
                </a:solidFill>
                <a:latin typeface="Manrope"/>
              </a:rPr>
              <a:t>For comparison, “torus skirting” alone takes 5,200 searches a month. The audience is not absent — it does not arrive through search.</a:t>
            </a:r>
          </a:p>
        </p:txBody>
      </p:sp>
      <p:sp>
        <p:nvSpPr>
          <p:cNvPr id="12" name="Rounded Rectangle 11"/>
          <p:cNvSpPr/>
          <p:nvPr/>
        </p:nvSpPr>
        <p:spPr>
          <a:xfrm>
            <a:off x="566928" y="4407408"/>
            <a:ext cx="4937760" cy="137160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4608576"/>
            <a:ext cx="4480560" cy="1005840"/>
          </a:xfrm>
          <a:prstGeom prst="rect">
            <a:avLst/>
          </a:prstGeom>
          <a:noFill/>
        </p:spPr>
        <p:txBody>
          <a:bodyPr wrap="square" lIns="0" rIns="0" tIns="0" bIns="0">
            <a:spAutoFit/>
          </a:bodyPr>
          <a:lstStyle/>
          <a:p>
            <a:pPr>
              <a:lnSpc>
                <a:spcPct val="140000"/>
              </a:lnSpc>
              <a:spcAft>
                <a:spcPts val="0"/>
              </a:spcAft>
            </a:pPr>
            <a:r>
              <a:rPr sz="1100" b="1" i="0">
                <a:solidFill>
                  <a:srgbClr val="8EFEBB"/>
                </a:solidFill>
                <a:latin typeface="Manrope"/>
              </a:rPr>
              <a:t>Do not build SEO for this audience. </a:t>
            </a:r>
            <a:r>
              <a:rPr sz="1100" b="0" i="0">
                <a:solidFill>
                  <a:srgbClr val="B9C7C0"/>
                </a:solidFill>
                <a:latin typeface="Manrope"/>
              </a:rPr>
              <a:t>The £8,900 tulipwood orders in the order book are the proof of concept: this channel already converts when it finds you. It needs to be sold to, not ranked for.</a:t>
            </a:r>
          </a:p>
        </p:txBody>
      </p:sp>
      <p:sp>
        <p:nvSpPr>
          <p:cNvPr id="14" name="Rounded Rectangle 13"/>
          <p:cNvSpPr/>
          <p:nvPr/>
        </p:nvSpPr>
        <p:spPr>
          <a:xfrm>
            <a:off x="5779008" y="2029968"/>
            <a:ext cx="5845759" cy="23774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16752" y="2212848"/>
            <a:ext cx="5388559" cy="274320"/>
          </a:xfrm>
          <a:prstGeom prst="rect">
            <a:avLst/>
          </a:prstGeom>
          <a:noFill/>
        </p:spPr>
        <p:txBody>
          <a:bodyPr wrap="square" lIns="0" rIns="0" tIns="0" bIns="0" anchor="t">
            <a:spAutoFit/>
          </a:bodyPr>
          <a:lstStyle/>
          <a:p>
            <a:pPr algn="l"/>
            <a:r>
              <a:rPr sz="1250" b="1" i="0">
                <a:solidFill>
                  <a:srgbClr val="FFFFFF"/>
                </a:solidFill>
                <a:latin typeface="Manrope"/>
              </a:rPr>
              <a:t>What the specification channel actually needs</a:t>
            </a:r>
          </a:p>
        </p:txBody>
      </p:sp>
      <p:sp>
        <p:nvSpPr>
          <p:cNvPr id="16" name="TextBox 15"/>
          <p:cNvSpPr txBox="1"/>
          <p:nvPr/>
        </p:nvSpPr>
        <p:spPr>
          <a:xfrm>
            <a:off x="6016752" y="2560320"/>
            <a:ext cx="5388559" cy="1737360"/>
          </a:xfrm>
          <a:prstGeom prst="rect">
            <a:avLst/>
          </a:prstGeom>
          <a:noFill/>
        </p:spPr>
        <p:txBody>
          <a:bodyPr wrap="square" lIns="0" rIns="0" tIns="0" bIns="0">
            <a:spAutoFit/>
          </a:bodyPr>
          <a:lstStyle/>
          <a:p>
            <a:pPr>
              <a:lnSpc>
                <a:spcPct val="132000"/>
              </a:lnSpc>
              <a:spcAft>
                <a:spcPts val="700"/>
              </a:spcAft>
            </a:pPr>
            <a:r>
              <a:rPr sz="1000" b="1">
                <a:solidFill>
                  <a:srgbClr val="8EFEBB"/>
                </a:solidFill>
                <a:latin typeface="Manrope"/>
              </a:rPr>
              <a:t>•  </a:t>
            </a:r>
            <a:r>
              <a:rPr sz="1000" b="1">
                <a:solidFill>
                  <a:srgbClr val="FFFFFF"/>
                </a:solidFill>
                <a:latin typeface="Manrope"/>
              </a:rPr>
              <a:t>An NBS Source listing. </a:t>
            </a:r>
            <a:r>
              <a:rPr sz="1000" b="0">
                <a:solidFill>
                  <a:srgbClr val="B9C7C0"/>
                </a:solidFill>
                <a:latin typeface="Manrope"/>
              </a:rPr>
              <a:t>The platform specifiers use to write products into build documents. The highest-leverage item on the list</a:t>
            </a:r>
          </a:p>
          <a:p>
            <a:pPr>
              <a:lnSpc>
                <a:spcPct val="132000"/>
              </a:lnSpc>
              <a:spcAft>
                <a:spcPts val="700"/>
              </a:spcAft>
            </a:pPr>
            <a:r>
              <a:rPr sz="1000" b="1">
                <a:solidFill>
                  <a:srgbClr val="8EFEBB"/>
                </a:solidFill>
                <a:latin typeface="Manrope"/>
              </a:rPr>
              <a:t>•  </a:t>
            </a:r>
            <a:r>
              <a:rPr sz="1000" b="1">
                <a:solidFill>
                  <a:srgbClr val="FFFFFF"/>
                </a:solidFill>
                <a:latin typeface="Manrope"/>
              </a:rPr>
              <a:t>Sample boxes. </a:t>
            </a:r>
            <a:r>
              <a:rPr sz="1000" b="0">
                <a:solidFill>
                  <a:srgbClr val="B9C7C0"/>
                </a:solidFill>
                <a:latin typeface="Manrope"/>
              </a:rPr>
              <a:t>A physical, branded set that sits on a studio shelf. Specifiers choose from what is in front of them</a:t>
            </a:r>
          </a:p>
          <a:p>
            <a:pPr>
              <a:lnSpc>
                <a:spcPct val="132000"/>
              </a:lnSpc>
              <a:spcAft>
                <a:spcPts val="700"/>
              </a:spcAft>
            </a:pPr>
            <a:r>
              <a:rPr sz="1000" b="1">
                <a:solidFill>
                  <a:srgbClr val="8EFEBB"/>
                </a:solidFill>
                <a:latin typeface="Manrope"/>
              </a:rPr>
              <a:t>•  </a:t>
            </a:r>
            <a:r>
              <a:rPr sz="1000" b="1">
                <a:solidFill>
                  <a:srgbClr val="FFFFFF"/>
                </a:solidFill>
                <a:latin typeface="Manrope"/>
              </a:rPr>
              <a:t>CAD and detail drawings. </a:t>
            </a:r>
            <a:r>
              <a:rPr sz="1000" b="0">
                <a:solidFill>
                  <a:srgbClr val="B9C7C0"/>
                </a:solidFill>
                <a:latin typeface="Manrope"/>
              </a:rPr>
              <a:t>DWG profiles and NBS-ready clauses per profile. Without these the product cannot be drawn into a job</a:t>
            </a:r>
          </a:p>
          <a:p>
            <a:pPr>
              <a:lnSpc>
                <a:spcPct val="132000"/>
              </a:lnSpc>
              <a:spcAft>
                <a:spcPts val="700"/>
              </a:spcAft>
            </a:pPr>
            <a:r>
              <a:rPr sz="1000" b="1">
                <a:solidFill>
                  <a:srgbClr val="8EFEBB"/>
                </a:solidFill>
                <a:latin typeface="Manrope"/>
              </a:rPr>
              <a:t>•  </a:t>
            </a:r>
            <a:r>
              <a:rPr sz="1000" b="1">
                <a:solidFill>
                  <a:srgbClr val="FFFFFF"/>
                </a:solidFill>
                <a:latin typeface="Manrope"/>
              </a:rPr>
              <a:t>Named outbound. </a:t>
            </a:r>
            <a:r>
              <a:rPr sz="1000" b="0">
                <a:solidFill>
                  <a:srgbClr val="B9C7C0"/>
                </a:solidFill>
                <a:latin typeface="Manrope"/>
              </a:rPr>
              <a:t>Architects and designers working on period and high-end residential, approached directly</a:t>
            </a:r>
          </a:p>
          <a:p>
            <a:pPr>
              <a:lnSpc>
                <a:spcPct val="132000"/>
              </a:lnSpc>
              <a:spcAft>
                <a:spcPts val="700"/>
              </a:spcAft>
            </a:pPr>
            <a:r>
              <a:rPr sz="1000" b="1">
                <a:solidFill>
                  <a:srgbClr val="8EFEBB"/>
                </a:solidFill>
                <a:latin typeface="Manrope"/>
              </a:rPr>
              <a:t>•  </a:t>
            </a:r>
            <a:r>
              <a:rPr sz="1000" b="1">
                <a:solidFill>
                  <a:srgbClr val="FFFFFF"/>
                </a:solidFill>
                <a:latin typeface="Manrope"/>
              </a:rPr>
              <a:t>A trade contact route. </a:t>
            </a:r>
            <a:r>
              <a:rPr sz="1000" b="0">
                <a:solidFill>
                  <a:srgbClr val="B9C7C0"/>
                </a:solidFill>
                <a:latin typeface="Manrope"/>
              </a:rPr>
              <a:t>Somebody who answers a specification question in an hour, not a general enquiry inbox</a:t>
            </a:r>
          </a:p>
        </p:txBody>
      </p:sp>
      <p:sp>
        <p:nvSpPr>
          <p:cNvPr id="17" name="Rounded Rectangle 16"/>
          <p:cNvSpPr/>
          <p:nvPr/>
        </p:nvSpPr>
        <p:spPr>
          <a:xfrm>
            <a:off x="5779008" y="4553712"/>
            <a:ext cx="5845759" cy="1225296"/>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016752" y="4718304"/>
            <a:ext cx="5388559" cy="182880"/>
          </a:xfrm>
          <a:prstGeom prst="rect">
            <a:avLst/>
          </a:prstGeom>
          <a:noFill/>
        </p:spPr>
        <p:txBody>
          <a:bodyPr wrap="square" lIns="0" rIns="0" tIns="0" bIns="0" anchor="t">
            <a:spAutoFit/>
          </a:bodyPr>
          <a:lstStyle/>
          <a:p>
            <a:pPr algn="l"/>
            <a:r>
              <a:rPr sz="850" b="1" i="0" spc="160">
                <a:solidFill>
                  <a:srgbClr val="6B7B74"/>
                </a:solidFill>
                <a:latin typeface="Manrope"/>
              </a:rPr>
              <a:t>THE ECONOMICS</a:t>
            </a:r>
          </a:p>
        </p:txBody>
      </p:sp>
      <p:sp>
        <p:nvSpPr>
          <p:cNvPr id="19" name="TextBox 18"/>
          <p:cNvSpPr txBox="1"/>
          <p:nvPr/>
        </p:nvSpPr>
        <p:spPr>
          <a:xfrm>
            <a:off x="6016752" y="4956048"/>
            <a:ext cx="5388559" cy="731520"/>
          </a:xfrm>
          <a:prstGeom prst="rect">
            <a:avLst/>
          </a:prstGeom>
          <a:noFill/>
        </p:spPr>
        <p:txBody>
          <a:bodyPr wrap="square" lIns="0" rIns="0" tIns="0" bIns="0">
            <a:spAutoFit/>
          </a:bodyPr>
          <a:lstStyle/>
          <a:p>
            <a:pPr>
              <a:lnSpc>
                <a:spcPct val="138000"/>
              </a:lnSpc>
              <a:spcAft>
                <a:spcPts val="0"/>
              </a:spcAft>
            </a:pPr>
            <a:r>
              <a:rPr sz="1000" b="0" i="0">
                <a:solidFill>
                  <a:srgbClr val="B9C7C0"/>
                </a:solidFill>
                <a:latin typeface="Manrope"/>
              </a:rPr>
              <a:t>One specified job at the current tulipwood average of £8,900 is worth twenty ordinary orders. Three arrived in sixty days with no marketing at all. A low-volume, high-value channel where the cost of acquisition is a sample box and a conversation — and the constraint is that nobody currently owns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12 · HIGH-END RENOVATION BUILDERS</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Buy the content, not the </a:t>
            </a:r>
            <a:r>
              <a:rPr sz="2700" b="1" i="1" spc="-70">
                <a:solidFill>
                  <a:srgbClr val="8EFEBB"/>
                </a:solidFill>
                <a:latin typeface="Instrument Serif"/>
              </a:rPr>
              <a:t>followers</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Installed-in-situ proof from real jobs converts harder than reach, and costs a fraction of it.</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17</a:t>
            </a:r>
          </a:p>
        </p:txBody>
      </p:sp>
      <p:sp>
        <p:nvSpPr>
          <p:cNvPr id="9" name="Rounded Rectangle 8"/>
          <p:cNvSpPr/>
          <p:nvPr/>
        </p:nvSpPr>
        <p:spPr>
          <a:xfrm>
            <a:off x="566928" y="2029968"/>
            <a:ext cx="5120640" cy="1828800"/>
          </a:xfrm>
          <a:prstGeom prst="roundRect">
            <a:avLst>
              <a:gd name="adj" fmla="val 4500"/>
            </a:avLst>
          </a:prstGeom>
          <a:solidFill>
            <a:srgbClr val="2A2410"/>
          </a:solidFill>
          <a:ln w="9525">
            <a:solidFill>
              <a:srgbClr val="F5D6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04672" y="2176272"/>
            <a:ext cx="1965960" cy="214884"/>
          </a:xfrm>
          <a:prstGeom prst="roundRect">
            <a:avLst>
              <a:gd name="adj" fmla="val 50000"/>
            </a:avLst>
          </a:prstGeom>
          <a:solidFill>
            <a:srgbClr val="332C1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F5D674"/>
                </a:solidFill>
                <a:latin typeface="Manrope"/>
              </a:rPr>
              <a:t>THE CREATOR MATHS</a:t>
            </a:r>
          </a:p>
        </p:txBody>
      </p:sp>
      <p:sp>
        <p:nvSpPr>
          <p:cNvPr id="11" name="TextBox 10"/>
          <p:cNvSpPr txBox="1"/>
          <p:nvPr/>
        </p:nvSpPr>
        <p:spPr>
          <a:xfrm>
            <a:off x="804672" y="2505456"/>
            <a:ext cx="4663440" cy="274320"/>
          </a:xfrm>
          <a:prstGeom prst="rect">
            <a:avLst/>
          </a:prstGeom>
          <a:noFill/>
        </p:spPr>
        <p:txBody>
          <a:bodyPr wrap="square" lIns="0" rIns="0" tIns="0" bIns="0" anchor="t">
            <a:spAutoFit/>
          </a:bodyPr>
          <a:lstStyle/>
          <a:p>
            <a:pPr algn="l"/>
            <a:r>
              <a:rPr sz="1250" b="1" i="0">
                <a:solidFill>
                  <a:srgbClr val="F5D674"/>
                </a:solidFill>
                <a:latin typeface="Manrope"/>
              </a:rPr>
              <a:t>£1,000 for one Reel does not stand up</a:t>
            </a:r>
          </a:p>
        </p:txBody>
      </p:sp>
      <p:sp>
        <p:nvSpPr>
          <p:cNvPr id="12" name="TextBox 11"/>
          <p:cNvSpPr txBox="1"/>
          <p:nvPr/>
        </p:nvSpPr>
        <p:spPr>
          <a:xfrm>
            <a:off x="804672" y="2871216"/>
            <a:ext cx="2011680" cy="182880"/>
          </a:xfrm>
          <a:prstGeom prst="rect">
            <a:avLst/>
          </a:prstGeom>
          <a:noFill/>
        </p:spPr>
        <p:txBody>
          <a:bodyPr wrap="square" lIns="0" rIns="0" tIns="0" bIns="0" anchor="t">
            <a:spAutoFit/>
          </a:bodyPr>
          <a:lstStyle/>
          <a:p>
            <a:pPr algn="l"/>
            <a:r>
              <a:rPr sz="850" b="1" i="0" spc="160">
                <a:solidFill>
                  <a:srgbClr val="6B7B74"/>
                </a:solidFill>
                <a:latin typeface="Manrope"/>
              </a:rPr>
              <a:t>FOLLOWERS</a:t>
            </a:r>
          </a:p>
        </p:txBody>
      </p:sp>
      <p:sp>
        <p:nvSpPr>
          <p:cNvPr id="13" name="TextBox 12"/>
          <p:cNvSpPr txBox="1"/>
          <p:nvPr/>
        </p:nvSpPr>
        <p:spPr>
          <a:xfrm>
            <a:off x="804672" y="3072384"/>
            <a:ext cx="2011680" cy="502920"/>
          </a:xfrm>
          <a:prstGeom prst="rect">
            <a:avLst/>
          </a:prstGeom>
          <a:noFill/>
        </p:spPr>
        <p:txBody>
          <a:bodyPr wrap="square" lIns="0" rIns="0" tIns="0" bIns="0" anchor="t">
            <a:spAutoFit/>
          </a:bodyPr>
          <a:lstStyle/>
          <a:p>
            <a:pPr algn="l"/>
            <a:r>
              <a:rPr sz="2000" b="1" i="0" spc="-60">
                <a:solidFill>
                  <a:srgbClr val="FFFFFF"/>
                </a:solidFill>
                <a:latin typeface="Manrope"/>
              </a:rPr>
              <a:t>71,000</a:t>
            </a:r>
          </a:p>
        </p:txBody>
      </p:sp>
      <p:sp>
        <p:nvSpPr>
          <p:cNvPr id="14" name="TextBox 13"/>
          <p:cNvSpPr txBox="1"/>
          <p:nvPr/>
        </p:nvSpPr>
        <p:spPr>
          <a:xfrm>
            <a:off x="2999232" y="2871216"/>
            <a:ext cx="2011680" cy="182880"/>
          </a:xfrm>
          <a:prstGeom prst="rect">
            <a:avLst/>
          </a:prstGeom>
          <a:noFill/>
        </p:spPr>
        <p:txBody>
          <a:bodyPr wrap="square" lIns="0" rIns="0" tIns="0" bIns="0" anchor="t">
            <a:spAutoFit/>
          </a:bodyPr>
          <a:lstStyle/>
          <a:p>
            <a:pPr algn="l"/>
            <a:r>
              <a:rPr sz="850" b="1" i="0" spc="160">
                <a:solidFill>
                  <a:srgbClr val="6B7B74"/>
                </a:solidFill>
                <a:latin typeface="Manrope"/>
              </a:rPr>
              <a:t>ACTUAL VIEWS</a:t>
            </a:r>
          </a:p>
        </p:txBody>
      </p:sp>
      <p:sp>
        <p:nvSpPr>
          <p:cNvPr id="15" name="TextBox 14"/>
          <p:cNvSpPr txBox="1"/>
          <p:nvPr/>
        </p:nvSpPr>
        <p:spPr>
          <a:xfrm>
            <a:off x="2999232" y="3072384"/>
            <a:ext cx="2011680" cy="502920"/>
          </a:xfrm>
          <a:prstGeom prst="rect">
            <a:avLst/>
          </a:prstGeom>
          <a:noFill/>
        </p:spPr>
        <p:txBody>
          <a:bodyPr wrap="square" lIns="0" rIns="0" tIns="0" bIns="0" anchor="t">
            <a:spAutoFit/>
          </a:bodyPr>
          <a:lstStyle/>
          <a:p>
            <a:pPr algn="l"/>
            <a:r>
              <a:rPr sz="2000" b="1" i="0" spc="-60">
                <a:solidFill>
                  <a:srgbClr val="F5D674"/>
                </a:solidFill>
                <a:latin typeface="Manrope"/>
              </a:rPr>
              <a:t>&lt;10,000</a:t>
            </a:r>
          </a:p>
        </p:txBody>
      </p:sp>
      <p:sp>
        <p:nvSpPr>
          <p:cNvPr id="16" name="TextBox 15"/>
          <p:cNvSpPr txBox="1"/>
          <p:nvPr/>
        </p:nvSpPr>
        <p:spPr>
          <a:xfrm>
            <a:off x="804672" y="3419856"/>
            <a:ext cx="4663440" cy="365760"/>
          </a:xfrm>
          <a:prstGeom prst="rect">
            <a:avLst/>
          </a:prstGeom>
          <a:noFill/>
        </p:spPr>
        <p:txBody>
          <a:bodyPr wrap="square" lIns="0" rIns="0" tIns="0" bIns="0">
            <a:spAutoFit/>
          </a:bodyPr>
          <a:lstStyle/>
          <a:p>
            <a:pPr>
              <a:lnSpc>
                <a:spcPct val="132000"/>
              </a:lnSpc>
              <a:spcAft>
                <a:spcPts val="0"/>
              </a:spcAft>
            </a:pPr>
            <a:r>
              <a:rPr sz="980" b="0" i="0">
                <a:solidFill>
                  <a:srgbClr val="B9C7C0"/>
                </a:solidFill>
                <a:latin typeface="Manrope"/>
              </a:rPr>
              <a:t>And MR Mouldings is the exclusive UK supplier of the Sunningdale Flexi she wants. Counter at £500–800 plus product, conditional on real performance data.</a:t>
            </a:r>
          </a:p>
        </p:txBody>
      </p:sp>
      <p:sp>
        <p:nvSpPr>
          <p:cNvPr id="17" name="Rounded Rectangle 16"/>
          <p:cNvSpPr/>
          <p:nvPr/>
        </p:nvSpPr>
        <p:spPr>
          <a:xfrm>
            <a:off x="566928" y="3995928"/>
            <a:ext cx="5120640" cy="123444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 y="4160520"/>
            <a:ext cx="4663440" cy="182880"/>
          </a:xfrm>
          <a:prstGeom prst="rect">
            <a:avLst/>
          </a:prstGeom>
          <a:noFill/>
        </p:spPr>
        <p:txBody>
          <a:bodyPr wrap="square" lIns="0" rIns="0" tIns="0" bIns="0" anchor="t">
            <a:spAutoFit/>
          </a:bodyPr>
          <a:lstStyle/>
          <a:p>
            <a:pPr algn="l"/>
            <a:r>
              <a:rPr sz="850" b="1" i="0" spc="160">
                <a:solidFill>
                  <a:srgbClr val="8EFEBB"/>
                </a:solidFill>
                <a:latin typeface="Manrope"/>
              </a:rPr>
              <a:t>THE BETTER MODEL</a:t>
            </a:r>
          </a:p>
        </p:txBody>
      </p:sp>
      <p:sp>
        <p:nvSpPr>
          <p:cNvPr id="19" name="TextBox 18"/>
          <p:cNvSpPr txBox="1"/>
          <p:nvPr/>
        </p:nvSpPr>
        <p:spPr>
          <a:xfrm>
            <a:off x="804672" y="4416552"/>
            <a:ext cx="4663440" cy="685800"/>
          </a:xfrm>
          <a:prstGeom prst="rect">
            <a:avLst/>
          </a:prstGeom>
          <a:noFill/>
        </p:spPr>
        <p:txBody>
          <a:bodyPr wrap="square" lIns="0" rIns="0" tIns="0" bIns="0">
            <a:spAutoFit/>
          </a:bodyPr>
          <a:lstStyle/>
          <a:p>
            <a:pPr>
              <a:lnSpc>
                <a:spcPct val="138000"/>
              </a:lnSpc>
              <a:spcAft>
                <a:spcPts val="0"/>
              </a:spcAft>
            </a:pPr>
            <a:r>
              <a:rPr sz="1050" b="0" i="0">
                <a:solidFill>
                  <a:srgbClr val="B9C7C0"/>
                </a:solidFill>
                <a:latin typeface="Manrope"/>
              </a:rPr>
              <a:t>Offer a builder </a:t>
            </a:r>
            <a:r>
              <a:rPr sz="1050" b="1" i="0">
                <a:solidFill>
                  <a:srgbClr val="FFFFFF"/>
                </a:solidFill>
                <a:latin typeface="Manrope"/>
              </a:rPr>
              <a:t>50% off an order over £500</a:t>
            </a:r>
            <a:r>
              <a:rPr sz="1050" b="0" i="0">
                <a:solidFill>
                  <a:srgbClr val="B9C7C0"/>
                </a:solidFill>
                <a:latin typeface="Manrope"/>
              </a:rPr>
              <a:t> in exchange for filming access on site. It costs less than a single creator fee, and buys installed-in-situ proof from a real job — which is what the core customer responds to.</a:t>
            </a:r>
          </a:p>
        </p:txBody>
      </p:sp>
      <p:sp>
        <p:nvSpPr>
          <p:cNvPr id="20" name="Rounded Rectangle 19"/>
          <p:cNvSpPr/>
          <p:nvPr/>
        </p:nvSpPr>
        <p:spPr>
          <a:xfrm>
            <a:off x="5961888" y="2029968"/>
            <a:ext cx="5662879" cy="182880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99631" y="2194560"/>
            <a:ext cx="5205679" cy="274320"/>
          </a:xfrm>
          <a:prstGeom prst="rect">
            <a:avLst/>
          </a:prstGeom>
          <a:noFill/>
        </p:spPr>
        <p:txBody>
          <a:bodyPr wrap="square" lIns="0" rIns="0" tIns="0" bIns="0" anchor="t">
            <a:spAutoFit/>
          </a:bodyPr>
          <a:lstStyle/>
          <a:p>
            <a:pPr algn="l"/>
            <a:r>
              <a:rPr sz="1250" b="1" i="0">
                <a:solidFill>
                  <a:srgbClr val="FFFFFF"/>
                </a:solidFill>
                <a:latin typeface="Manrope"/>
              </a:rPr>
              <a:t>The pipeline already exists</a:t>
            </a:r>
          </a:p>
        </p:txBody>
      </p:sp>
      <p:sp>
        <p:nvSpPr>
          <p:cNvPr id="22" name="TextBox 21"/>
          <p:cNvSpPr txBox="1"/>
          <p:nvPr/>
        </p:nvSpPr>
        <p:spPr>
          <a:xfrm>
            <a:off x="6199631" y="2523744"/>
            <a:ext cx="5205679" cy="1234440"/>
          </a:xfrm>
          <a:prstGeom prst="rect">
            <a:avLst/>
          </a:prstGeom>
          <a:noFill/>
        </p:spPr>
        <p:txBody>
          <a:bodyPr wrap="square" lIns="0" rIns="0" tIns="0" bIns="0">
            <a:spAutoFit/>
          </a:bodyPr>
          <a:lstStyle/>
          <a:p>
            <a:pPr>
              <a:lnSpc>
                <a:spcPct val="132000"/>
              </a:lnSpc>
              <a:spcAft>
                <a:spcPts val="700"/>
              </a:spcAft>
            </a:pPr>
            <a:r>
              <a:rPr sz="1000" b="1">
                <a:solidFill>
                  <a:srgbClr val="8EFEBB"/>
                </a:solidFill>
                <a:latin typeface="Manrope"/>
              </a:rPr>
              <a:t>•  </a:t>
            </a:r>
            <a:r>
              <a:rPr sz="1000" b="1">
                <a:solidFill>
                  <a:srgbClr val="FFFFFF"/>
                </a:solidFill>
                <a:latin typeface="Manrope"/>
              </a:rPr>
              <a:t>Adam's home renovation. </a:t>
            </a:r>
            <a:r>
              <a:rPr sz="1000" b="0">
                <a:solidFill>
                  <a:srgbClr val="B9C7C0"/>
                </a:solidFill>
                <a:latin typeface="Manrope"/>
              </a:rPr>
              <a:t>A full before-and-after case study, filming from late September</a:t>
            </a:r>
          </a:p>
          <a:p>
            <a:pPr>
              <a:lnSpc>
                <a:spcPct val="132000"/>
              </a:lnSpc>
              <a:spcAft>
                <a:spcPts val="700"/>
              </a:spcAft>
            </a:pPr>
            <a:r>
              <a:rPr sz="1000" b="1">
                <a:solidFill>
                  <a:srgbClr val="8EFEBB"/>
                </a:solidFill>
                <a:latin typeface="Manrope"/>
              </a:rPr>
              <a:t>•  </a:t>
            </a:r>
            <a:r>
              <a:rPr sz="1000" b="1">
                <a:solidFill>
                  <a:srgbClr val="FFFFFF"/>
                </a:solidFill>
                <a:latin typeface="Manrope"/>
              </a:rPr>
              <a:t>4C Developments, Barnes. </a:t>
            </a:r>
            <a:r>
              <a:rPr sz="1000" b="0">
                <a:solidFill>
                  <a:srgbClr val="B9C7C0"/>
                </a:solidFill>
                <a:latin typeface="Manrope"/>
              </a:rPr>
              <a:t>High-end project, end-to-end, subject to Steve granting access</a:t>
            </a:r>
          </a:p>
          <a:p>
            <a:pPr>
              <a:lnSpc>
                <a:spcPct val="132000"/>
              </a:lnSpc>
              <a:spcAft>
                <a:spcPts val="700"/>
              </a:spcAft>
            </a:pPr>
            <a:r>
              <a:rPr sz="1000" b="1">
                <a:solidFill>
                  <a:srgbClr val="8EFEBB"/>
                </a:solidFill>
                <a:latin typeface="Manrope"/>
              </a:rPr>
              <a:t>•  </a:t>
            </a:r>
            <a:r>
              <a:rPr sz="1000" b="1">
                <a:solidFill>
                  <a:srgbClr val="FFFFFF"/>
                </a:solidFill>
                <a:latin typeface="Manrope"/>
              </a:rPr>
              <a:t>The Wimbledon project. </a:t>
            </a:r>
            <a:r>
              <a:rPr sz="1000" b="0">
                <a:solidFill>
                  <a:srgbClr val="B9C7C0"/>
                </a:solidFill>
                <a:latin typeface="Manrope"/>
              </a:rPr>
              <a:t>The site behind the £24,000 order — the natural showcase for the hardwood range</a:t>
            </a:r>
          </a:p>
          <a:p>
            <a:pPr>
              <a:lnSpc>
                <a:spcPct val="132000"/>
              </a:lnSpc>
              <a:spcAft>
                <a:spcPts val="700"/>
              </a:spcAft>
            </a:pPr>
            <a:r>
              <a:rPr sz="1000" b="1">
                <a:solidFill>
                  <a:srgbClr val="8EFEBB"/>
                </a:solidFill>
                <a:latin typeface="Manrope"/>
              </a:rPr>
              <a:t>•  </a:t>
            </a:r>
            <a:r>
              <a:rPr sz="1000" b="1">
                <a:solidFill>
                  <a:srgbClr val="FFFFFF"/>
                </a:solidFill>
                <a:latin typeface="Manrope"/>
              </a:rPr>
              <a:t>Founder-led short form. </a:t>
            </a:r>
            <a:r>
              <a:rPr sz="1000" b="0">
                <a:solidFill>
                  <a:srgbClr val="B9C7C0"/>
                </a:solidFill>
                <a:latin typeface="Manrope"/>
              </a:rPr>
              <a:t>Adam explaining profile combinations, plus the podcast format agreed in August</a:t>
            </a:r>
          </a:p>
        </p:txBody>
      </p:sp>
      <p:sp>
        <p:nvSpPr>
          <p:cNvPr id="23" name="Rounded Rectangle 22"/>
          <p:cNvSpPr/>
          <p:nvPr/>
        </p:nvSpPr>
        <p:spPr>
          <a:xfrm>
            <a:off x="5961888" y="3995928"/>
            <a:ext cx="5662879" cy="12344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99631" y="4160520"/>
            <a:ext cx="5205679" cy="274320"/>
          </a:xfrm>
          <a:prstGeom prst="rect">
            <a:avLst/>
          </a:prstGeom>
          <a:noFill/>
        </p:spPr>
        <p:txBody>
          <a:bodyPr wrap="square" lIns="0" rIns="0" tIns="0" bIns="0" anchor="t">
            <a:spAutoFit/>
          </a:bodyPr>
          <a:lstStyle/>
          <a:p>
            <a:pPr algn="l"/>
            <a:r>
              <a:rPr sz="1250" b="1" i="0">
                <a:solidFill>
                  <a:srgbClr val="FFFFFF"/>
                </a:solidFill>
                <a:latin typeface="Manrope"/>
              </a:rPr>
              <a:t>Finding the right builders</a:t>
            </a:r>
          </a:p>
        </p:txBody>
      </p:sp>
      <p:sp>
        <p:nvSpPr>
          <p:cNvPr id="25" name="TextBox 24"/>
          <p:cNvSpPr txBox="1"/>
          <p:nvPr/>
        </p:nvSpPr>
        <p:spPr>
          <a:xfrm>
            <a:off x="6199631" y="4489704"/>
            <a:ext cx="5205679" cy="658368"/>
          </a:xfrm>
          <a:prstGeom prst="rect">
            <a:avLst/>
          </a:prstGeom>
          <a:noFill/>
        </p:spPr>
        <p:txBody>
          <a:bodyPr wrap="square" lIns="0" rIns="0" tIns="0" bIns="0">
            <a:spAutoFit/>
          </a:bodyPr>
          <a:lstStyle/>
          <a:p>
            <a:pPr>
              <a:lnSpc>
                <a:spcPct val="138000"/>
              </a:lnSpc>
              <a:spcAft>
                <a:spcPts val="0"/>
              </a:spcAft>
            </a:pPr>
            <a:r>
              <a:rPr sz="1000" b="0" i="0">
                <a:solidFill>
                  <a:srgbClr val="B9C7C0"/>
                </a:solidFill>
                <a:latin typeface="Manrope"/>
              </a:rPr>
              <a:t>Build a named list: renovation specialists posting period and high-end residential work in the South East, identified from Instagram and sorted by the property they finish. Approach individually. This is an outbound motion with a content by-product, not a paid social campaign — and it feeds the same asset library the ads run 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13 · FLOORING</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Big demand, a different </a:t>
            </a:r>
            <a:r>
              <a:rPr sz="2700" b="1" i="1" spc="-70">
                <a:solidFill>
                  <a:srgbClr val="8EFEBB"/>
                </a:solidFill>
                <a:latin typeface="Instrument Serif"/>
              </a:rPr>
              <a:t>fight</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The volume dwarfs mouldings. So does the competitive set. Worth a contained trial, judged on its own funnel.</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18</a:t>
            </a:r>
          </a:p>
        </p:txBody>
      </p:sp>
      <p:sp>
        <p:nvSpPr>
          <p:cNvPr id="9" name="TextBox 8"/>
          <p:cNvSpPr txBox="1"/>
          <p:nvPr/>
        </p:nvSpPr>
        <p:spPr>
          <a:xfrm>
            <a:off x="566928" y="2029968"/>
            <a:ext cx="4572000" cy="182880"/>
          </a:xfrm>
          <a:prstGeom prst="rect">
            <a:avLst/>
          </a:prstGeom>
          <a:noFill/>
        </p:spPr>
        <p:txBody>
          <a:bodyPr wrap="square" lIns="0" rIns="0" tIns="0" bIns="0" anchor="t">
            <a:spAutoFit/>
          </a:bodyPr>
          <a:lstStyle/>
          <a:p>
            <a:pPr algn="l"/>
            <a:r>
              <a:rPr sz="850" b="1" i="0" spc="160">
                <a:solidFill>
                  <a:srgbClr val="6B7B74"/>
                </a:solidFill>
                <a:latin typeface="Manrope"/>
              </a:rPr>
              <a:t>UK SEARCH VOLUME PER MONTH</a:t>
            </a:r>
          </a:p>
        </p:txBody>
      </p:sp>
      <p:graphicFrame>
        <p:nvGraphicFramePr>
          <p:cNvPr id="10" name="Table 9"/>
          <p:cNvGraphicFramePr>
            <a:graphicFrameLocks noGrp="1"/>
          </p:cNvGraphicFramePr>
          <p:nvPr/>
        </p:nvGraphicFramePr>
        <p:xfrm>
          <a:off x="566928" y="2286000"/>
          <a:ext cx="4571999" cy="1691640"/>
        </p:xfrm>
        <a:graphic>
          <a:graphicData uri="http://schemas.openxmlformats.org/drawingml/2006/table">
            <a:tbl>
              <a:tblPr firstRow="1" bandRow="1">
                <a:tableStyleId>{5C22544A-7EE6-4342-B048-85BDC9FD1C3A}</a:tableStyleId>
              </a:tblPr>
              <a:tblGrid>
                <a:gridCol w="2981739"/>
                <a:gridCol w="1590260"/>
              </a:tblGrid>
              <a:tr h="274320">
                <a:tc>
                  <a:txBody>
                    <a:bodyPr wrap="square"/>
                    <a:lstStyle/>
                    <a:p>
                      <a:pPr algn="l"/>
                      <a:r>
                        <a:rPr sz="780" b="1">
                          <a:solidFill>
                            <a:srgbClr val="6B7B74"/>
                          </a:solidFill>
                          <a:latin typeface="Manrope"/>
                        </a:rPr>
                        <a:t>CATEGORY</a:t>
                      </a:r>
                    </a:p>
                  </a:txBody>
                  <a:tcPr marL="45720" marR="45720" marT="18288" marB="18288" anchor="ctr">
                    <a:solidFill>
                      <a:srgbClr val="051412"/>
                    </a:solidFill>
                  </a:tcPr>
                </a:tc>
                <a:tc>
                  <a:txBody>
                    <a:bodyPr wrap="square"/>
                    <a:lstStyle/>
                    <a:p>
                      <a:pPr algn="r"/>
                      <a:r>
                        <a:rPr sz="780" b="1">
                          <a:solidFill>
                            <a:srgbClr val="6B7B74"/>
                          </a:solidFill>
                          <a:latin typeface="Manrope"/>
                        </a:rPr>
                        <a:t>VOLUME</a:t>
                      </a:r>
                    </a:p>
                  </a:txBody>
                  <a:tcPr marL="45720" marR="45720" marT="18288" marB="18288" anchor="ctr">
                    <a:solidFill>
                      <a:srgbClr val="051412"/>
                    </a:solidFill>
                  </a:tcPr>
                </a:tc>
              </a:tr>
              <a:tr h="283464">
                <a:tc>
                  <a:txBody>
                    <a:bodyPr wrap="square"/>
                    <a:lstStyle/>
                    <a:p>
                      <a:pPr algn="l"/>
                      <a:r>
                        <a:rPr sz="1050" b="1">
                          <a:solidFill>
                            <a:srgbClr val="8EFEBB"/>
                          </a:solidFill>
                          <a:latin typeface="Manrope"/>
                        </a:rPr>
                        <a:t>LVT flooring</a:t>
                      </a:r>
                    </a:p>
                  </a:txBody>
                  <a:tcPr marL="45720" marR="45720" marT="18288" marB="18288" anchor="ctr">
                    <a:solidFill>
                      <a:srgbClr val="0B2A24"/>
                    </a:solidFill>
                  </a:tcPr>
                </a:tc>
                <a:tc>
                  <a:txBody>
                    <a:bodyPr wrap="square"/>
                    <a:lstStyle/>
                    <a:p>
                      <a:pPr algn="r"/>
                      <a:r>
                        <a:rPr sz="1050" b="1">
                          <a:solidFill>
                            <a:srgbClr val="8EFEBB"/>
                          </a:solidFill>
                          <a:latin typeface="Manrope"/>
                        </a:rPr>
                        <a:t>83,000</a:t>
                      </a:r>
                    </a:p>
                  </a:txBody>
                  <a:tcPr marL="45720" marR="45720" marT="18288" marB="18288" anchor="ctr">
                    <a:solidFill>
                      <a:srgbClr val="0B2A24"/>
                    </a:solidFill>
                  </a:tcPr>
                </a:tc>
              </a:tr>
              <a:tr h="283464">
                <a:tc>
                  <a:txBody>
                    <a:bodyPr wrap="square"/>
                    <a:lstStyle/>
                    <a:p>
                      <a:pPr algn="l"/>
                      <a:r>
                        <a:rPr sz="1050" b="1">
                          <a:solidFill>
                            <a:srgbClr val="8EFEBB"/>
                          </a:solidFill>
                          <a:latin typeface="Manrope"/>
                        </a:rPr>
                        <a:t>laminate flooring</a:t>
                      </a:r>
                    </a:p>
                  </a:txBody>
                  <a:tcPr marL="45720" marR="45720" marT="18288" marB="18288" anchor="ctr">
                    <a:solidFill>
                      <a:srgbClr val="0B2A24"/>
                    </a:solidFill>
                  </a:tcPr>
                </a:tc>
                <a:tc>
                  <a:txBody>
                    <a:bodyPr wrap="square"/>
                    <a:lstStyle/>
                    <a:p>
                      <a:pPr algn="r"/>
                      <a:r>
                        <a:rPr sz="1050" b="1">
                          <a:solidFill>
                            <a:srgbClr val="8EFEBB"/>
                          </a:solidFill>
                          <a:latin typeface="Manrope"/>
                        </a:rPr>
                        <a:t>76,000</a:t>
                      </a:r>
                    </a:p>
                  </a:txBody>
                  <a:tcPr marL="45720" marR="45720" marT="18288" marB="18288" anchor="ctr">
                    <a:solidFill>
                      <a:srgbClr val="0B2A24"/>
                    </a:solidFill>
                  </a:tcPr>
                </a:tc>
              </a:tr>
              <a:tr h="283464">
                <a:tc>
                  <a:txBody>
                    <a:bodyPr wrap="square"/>
                    <a:lstStyle/>
                    <a:p>
                      <a:pPr algn="l"/>
                      <a:r>
                        <a:rPr sz="1050" b="1">
                          <a:solidFill>
                            <a:srgbClr val="8EFEBB"/>
                          </a:solidFill>
                          <a:latin typeface="Manrope"/>
                        </a:rPr>
                        <a:t>herringbone flooring</a:t>
                      </a:r>
                    </a:p>
                  </a:txBody>
                  <a:tcPr marL="45720" marR="45720" marT="18288" marB="18288" anchor="ctr">
                    <a:solidFill>
                      <a:srgbClr val="0B2A24"/>
                    </a:solidFill>
                  </a:tcPr>
                </a:tc>
                <a:tc>
                  <a:txBody>
                    <a:bodyPr wrap="square"/>
                    <a:lstStyle/>
                    <a:p>
                      <a:pPr algn="r"/>
                      <a:r>
                        <a:rPr sz="1050" b="1">
                          <a:solidFill>
                            <a:srgbClr val="8EFEBB"/>
                          </a:solidFill>
                          <a:latin typeface="Manrope"/>
                        </a:rPr>
                        <a:t>55,000</a:t>
                      </a:r>
                    </a:p>
                  </a:txBody>
                  <a:tcPr marL="45720" marR="45720" marT="18288" marB="18288" anchor="ctr">
                    <a:solidFill>
                      <a:srgbClr val="0B2A24"/>
                    </a:solidFill>
                  </a:tcPr>
                </a:tc>
              </a:tr>
              <a:tr h="283464">
                <a:tc>
                  <a:txBody>
                    <a:bodyPr wrap="square"/>
                    <a:lstStyle/>
                    <a:p>
                      <a:pPr algn="l"/>
                      <a:r>
                        <a:rPr sz="1050" b="0">
                          <a:solidFill>
                            <a:srgbClr val="E8F2EC"/>
                          </a:solidFill>
                          <a:latin typeface="Manrope"/>
                        </a:rPr>
                        <a:t>engineered wood flooring</a:t>
                      </a:r>
                    </a:p>
                  </a:txBody>
                  <a:tcPr marL="45720" marR="45720" marT="18288" marB="18288" anchor="ctr">
                    <a:solidFill>
                      <a:srgbClr val="051412"/>
                    </a:solidFill>
                  </a:tcPr>
                </a:tc>
                <a:tc>
                  <a:txBody>
                    <a:bodyPr wrap="square"/>
                    <a:lstStyle/>
                    <a:p>
                      <a:pPr algn="r"/>
                      <a:r>
                        <a:rPr sz="1050" b="0">
                          <a:solidFill>
                            <a:srgbClr val="E8F2EC"/>
                          </a:solidFill>
                          <a:latin typeface="Manrope"/>
                        </a:rPr>
                        <a:t>17,000</a:t>
                      </a:r>
                    </a:p>
                  </a:txBody>
                  <a:tcPr marL="45720" marR="45720" marT="18288" marB="18288" anchor="ctr">
                    <a:solidFill>
                      <a:srgbClr val="051412"/>
                    </a:solidFill>
                  </a:tcPr>
                </a:tc>
              </a:tr>
              <a:tr h="283464">
                <a:tc>
                  <a:txBody>
                    <a:bodyPr wrap="square"/>
                    <a:lstStyle/>
                    <a:p>
                      <a:pPr algn="l"/>
                      <a:r>
                        <a:rPr sz="1050" b="0">
                          <a:solidFill>
                            <a:srgbClr val="E8F2EC"/>
                          </a:solidFill>
                          <a:latin typeface="Manrope"/>
                        </a:rPr>
                        <a:t>oak flooring</a:t>
                      </a:r>
                    </a:p>
                  </a:txBody>
                  <a:tcPr marL="45720" marR="45720" marT="18288" marB="18288" anchor="ctr">
                    <a:solidFill>
                      <a:srgbClr val="051412"/>
                    </a:solidFill>
                  </a:tcPr>
                </a:tc>
                <a:tc>
                  <a:txBody>
                    <a:bodyPr wrap="square"/>
                    <a:lstStyle/>
                    <a:p>
                      <a:pPr algn="r"/>
                      <a:r>
                        <a:rPr sz="1050" b="0">
                          <a:solidFill>
                            <a:srgbClr val="E8F2EC"/>
                          </a:solidFill>
                          <a:latin typeface="Manrope"/>
                        </a:rPr>
                        <a:t>5,900</a:t>
                      </a:r>
                    </a:p>
                  </a:txBody>
                  <a:tcPr marL="45720" marR="45720" marT="18288" marB="18288" anchor="ctr">
                    <a:solidFill>
                      <a:srgbClr val="051412"/>
                    </a:solidFill>
                  </a:tcPr>
                </a:tc>
              </a:tr>
            </a:tbl>
          </a:graphicData>
        </a:graphic>
      </p:graphicFrame>
      <p:sp>
        <p:nvSpPr>
          <p:cNvPr id="11" name="TextBox 10"/>
          <p:cNvSpPr txBox="1"/>
          <p:nvPr/>
        </p:nvSpPr>
        <p:spPr>
          <a:xfrm>
            <a:off x="566928" y="3904487"/>
            <a:ext cx="4572000" cy="457200"/>
          </a:xfrm>
          <a:prstGeom prst="rect">
            <a:avLst/>
          </a:prstGeom>
          <a:noFill/>
        </p:spPr>
        <p:txBody>
          <a:bodyPr wrap="square" lIns="0" rIns="0" tIns="0" bIns="0">
            <a:spAutoFit/>
          </a:bodyPr>
          <a:lstStyle/>
          <a:p>
            <a:pPr>
              <a:lnSpc>
                <a:spcPct val="135000"/>
              </a:lnSpc>
              <a:spcAft>
                <a:spcPts val="0"/>
              </a:spcAft>
            </a:pPr>
            <a:r>
              <a:rPr sz="980" b="0" i="0">
                <a:solidFill>
                  <a:srgbClr val="6B7B74"/>
                </a:solidFill>
                <a:latin typeface="Manrope"/>
              </a:rPr>
              <a:t>For scale: the entire moulding head-term set the site is chasing is 157,400 searches a month. LVT and laminate alone are 159,000.</a:t>
            </a:r>
          </a:p>
        </p:txBody>
      </p:sp>
      <p:sp>
        <p:nvSpPr>
          <p:cNvPr id="12" name="Rounded Rectangle 11"/>
          <p:cNvSpPr/>
          <p:nvPr/>
        </p:nvSpPr>
        <p:spPr>
          <a:xfrm>
            <a:off x="5413248" y="2029968"/>
            <a:ext cx="2991459" cy="214884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14416" y="2176272"/>
            <a:ext cx="557784"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8EFEBB"/>
                </a:solidFill>
                <a:latin typeface="Manrope"/>
              </a:rPr>
              <a:t>FOR</a:t>
            </a:r>
          </a:p>
        </p:txBody>
      </p:sp>
      <p:sp>
        <p:nvSpPr>
          <p:cNvPr id="14" name="TextBox 13"/>
          <p:cNvSpPr txBox="1"/>
          <p:nvPr/>
        </p:nvSpPr>
        <p:spPr>
          <a:xfrm>
            <a:off x="5614416" y="2542032"/>
            <a:ext cx="2625699" cy="1508760"/>
          </a:xfrm>
          <a:prstGeom prst="rect">
            <a:avLst/>
          </a:prstGeom>
          <a:noFill/>
        </p:spPr>
        <p:txBody>
          <a:bodyPr wrap="square" lIns="0" rIns="0" tIns="0" bIns="0">
            <a:spAutoFit/>
          </a:bodyPr>
          <a:lstStyle/>
          <a:p>
            <a:pPr>
              <a:lnSpc>
                <a:spcPct val="132000"/>
              </a:lnSpc>
              <a:spcAft>
                <a:spcPts val="700"/>
              </a:spcAft>
            </a:pPr>
            <a:r>
              <a:rPr sz="980" b="1">
                <a:solidFill>
                  <a:srgbClr val="8EFEBB"/>
                </a:solidFill>
                <a:latin typeface="Manrope"/>
              </a:rPr>
              <a:t>•  </a:t>
            </a:r>
            <a:r>
              <a:rPr sz="980" b="0">
                <a:solidFill>
                  <a:srgbClr val="B9C7C0"/>
                </a:solidFill>
                <a:latin typeface="Manrope"/>
              </a:rPr>
              <a:t>The drop-ship model removes stock risk and picking labour entirely</a:t>
            </a:r>
          </a:p>
          <a:p>
            <a:pPr>
              <a:lnSpc>
                <a:spcPct val="132000"/>
              </a:lnSpc>
              <a:spcAft>
                <a:spcPts val="700"/>
              </a:spcAft>
            </a:pPr>
            <a:r>
              <a:rPr sz="980" b="1">
                <a:solidFill>
                  <a:srgbClr val="8EFEBB"/>
                </a:solidFill>
                <a:latin typeface="Manrope"/>
              </a:rPr>
              <a:t>•  </a:t>
            </a:r>
            <a:r>
              <a:rPr sz="980" b="0">
                <a:solidFill>
                  <a:srgbClr val="B9C7C0"/>
                </a:solidFill>
                <a:latin typeface="Manrope"/>
              </a:rPr>
              <a:t>The supplier is across the road — fulfilment friction is close to nil</a:t>
            </a:r>
          </a:p>
          <a:p>
            <a:pPr>
              <a:lnSpc>
                <a:spcPct val="132000"/>
              </a:lnSpc>
              <a:spcAft>
                <a:spcPts val="700"/>
              </a:spcAft>
            </a:pPr>
            <a:r>
              <a:rPr sz="980" b="1">
                <a:solidFill>
                  <a:srgbClr val="8EFEBB"/>
                </a:solidFill>
                <a:latin typeface="Manrope"/>
              </a:rPr>
              <a:t>•  </a:t>
            </a:r>
            <a:r>
              <a:rPr sz="980" b="0">
                <a:solidFill>
                  <a:srgbClr val="B9C7C0"/>
                </a:solidFill>
                <a:latin typeface="Manrope"/>
              </a:rPr>
              <a:t>Genuine adjacency: the same renovation buyer, same moment in the job</a:t>
            </a:r>
          </a:p>
          <a:p>
            <a:pPr>
              <a:lnSpc>
                <a:spcPct val="132000"/>
              </a:lnSpc>
              <a:spcAft>
                <a:spcPts val="700"/>
              </a:spcAft>
            </a:pPr>
            <a:r>
              <a:rPr sz="980" b="1">
                <a:solidFill>
                  <a:srgbClr val="8EFEBB"/>
                </a:solidFill>
                <a:latin typeface="Manrope"/>
              </a:rPr>
              <a:t>•  </a:t>
            </a:r>
            <a:r>
              <a:rPr sz="980" b="0">
                <a:solidFill>
                  <a:srgbClr val="B9C7C0"/>
                </a:solidFill>
                <a:latin typeface="Manrope"/>
              </a:rPr>
              <a:t>Difficulty is low on several of the head terms</a:t>
            </a:r>
          </a:p>
        </p:txBody>
      </p:sp>
      <p:sp>
        <p:nvSpPr>
          <p:cNvPr id="15" name="Rounded Rectangle 14"/>
          <p:cNvSpPr/>
          <p:nvPr/>
        </p:nvSpPr>
        <p:spPr>
          <a:xfrm>
            <a:off x="8633307" y="2029968"/>
            <a:ext cx="2991459" cy="2148840"/>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834475" y="2176272"/>
            <a:ext cx="960120" cy="214884"/>
          </a:xfrm>
          <a:prstGeom prst="roundRect">
            <a:avLst>
              <a:gd name="adj" fmla="val 50000"/>
            </a:avLst>
          </a:prstGeom>
          <a:solidFill>
            <a:srgbClr val="2A141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AGAINST</a:t>
            </a:r>
          </a:p>
        </p:txBody>
      </p:sp>
      <p:sp>
        <p:nvSpPr>
          <p:cNvPr id="17" name="TextBox 16"/>
          <p:cNvSpPr txBox="1"/>
          <p:nvPr/>
        </p:nvSpPr>
        <p:spPr>
          <a:xfrm>
            <a:off x="8834475" y="2542032"/>
            <a:ext cx="2625699" cy="1508760"/>
          </a:xfrm>
          <a:prstGeom prst="rect">
            <a:avLst/>
          </a:prstGeom>
          <a:noFill/>
        </p:spPr>
        <p:txBody>
          <a:bodyPr wrap="square" lIns="0" rIns="0" tIns="0" bIns="0">
            <a:spAutoFit/>
          </a:bodyPr>
          <a:lstStyle/>
          <a:p>
            <a:pPr>
              <a:lnSpc>
                <a:spcPct val="132000"/>
              </a:lnSpc>
              <a:spcAft>
                <a:spcPts val="700"/>
              </a:spcAft>
            </a:pPr>
            <a:r>
              <a:rPr sz="980" b="1">
                <a:solidFill>
                  <a:srgbClr val="8EFEBB"/>
                </a:solidFill>
                <a:latin typeface="Manrope"/>
              </a:rPr>
              <a:t>•  </a:t>
            </a:r>
            <a:r>
              <a:rPr sz="980" b="0">
                <a:solidFill>
                  <a:srgbClr val="B9C7C0"/>
                </a:solidFill>
                <a:latin typeface="Manrope"/>
              </a:rPr>
              <a:t>A different competitive set, with national retailers already in it</a:t>
            </a:r>
          </a:p>
          <a:p>
            <a:pPr>
              <a:lnSpc>
                <a:spcPct val="132000"/>
              </a:lnSpc>
              <a:spcAft>
                <a:spcPts val="700"/>
              </a:spcAft>
            </a:pPr>
            <a:r>
              <a:rPr sz="980" b="1">
                <a:solidFill>
                  <a:srgbClr val="8EFEBB"/>
                </a:solidFill>
                <a:latin typeface="Manrope"/>
              </a:rPr>
              <a:t>•  </a:t>
            </a:r>
            <a:r>
              <a:rPr sz="980" b="0">
                <a:solidFill>
                  <a:srgbClr val="B9C7C0"/>
                </a:solidFill>
                <a:latin typeface="Manrope"/>
              </a:rPr>
              <a:t>Paid CPCs run £1.00–£2.00, well above current moulding costs</a:t>
            </a:r>
          </a:p>
          <a:p>
            <a:pPr>
              <a:lnSpc>
                <a:spcPct val="132000"/>
              </a:lnSpc>
              <a:spcAft>
                <a:spcPts val="700"/>
              </a:spcAft>
            </a:pPr>
            <a:r>
              <a:rPr sz="980" b="1">
                <a:solidFill>
                  <a:srgbClr val="8EFEBB"/>
                </a:solidFill>
                <a:latin typeface="Manrope"/>
              </a:rPr>
              <a:t>•  </a:t>
            </a:r>
            <a:r>
              <a:rPr sz="980" b="0">
                <a:solidFill>
                  <a:srgbClr val="B9C7C0"/>
                </a:solidFill>
                <a:latin typeface="Manrope"/>
              </a:rPr>
              <a:t>No brand equity or authority in flooring to build on</a:t>
            </a:r>
          </a:p>
          <a:p>
            <a:pPr>
              <a:lnSpc>
                <a:spcPct val="132000"/>
              </a:lnSpc>
              <a:spcAft>
                <a:spcPts val="700"/>
              </a:spcAft>
            </a:pPr>
            <a:r>
              <a:rPr sz="980" b="1">
                <a:solidFill>
                  <a:srgbClr val="8EFEBB"/>
                </a:solidFill>
                <a:latin typeface="Manrope"/>
              </a:rPr>
              <a:t>•  </a:t>
            </a:r>
            <a:r>
              <a:rPr sz="980" b="0">
                <a:solidFill>
                  <a:srgbClr val="B9C7C0"/>
                </a:solidFill>
                <a:latin typeface="Manrope"/>
              </a:rPr>
              <a:t>Margin is the supplier's to set, not yours</a:t>
            </a:r>
          </a:p>
        </p:txBody>
      </p:sp>
      <p:sp>
        <p:nvSpPr>
          <p:cNvPr id="18" name="Rounded Rectangle 17"/>
          <p:cNvSpPr/>
          <p:nvPr/>
        </p:nvSpPr>
        <p:spPr>
          <a:xfrm>
            <a:off x="5413248" y="4361688"/>
            <a:ext cx="6211519" cy="1417320"/>
          </a:xfrm>
          <a:prstGeom prst="roundRect">
            <a:avLst>
              <a:gd name="adj" fmla="val 4500"/>
            </a:avLst>
          </a:prstGeom>
          <a:solidFill>
            <a:srgbClr val="2A2410"/>
          </a:solidFill>
          <a:ln w="9525">
            <a:solidFill>
              <a:srgbClr val="F5D6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50992" y="4544568"/>
            <a:ext cx="5754319" cy="274320"/>
          </a:xfrm>
          <a:prstGeom prst="rect">
            <a:avLst/>
          </a:prstGeom>
          <a:noFill/>
        </p:spPr>
        <p:txBody>
          <a:bodyPr wrap="square" lIns="0" rIns="0" tIns="0" bIns="0" anchor="t">
            <a:spAutoFit/>
          </a:bodyPr>
          <a:lstStyle/>
          <a:p>
            <a:pPr algn="l"/>
            <a:r>
              <a:rPr sz="1250" b="1" i="0">
                <a:solidFill>
                  <a:srgbClr val="F5D674"/>
                </a:solidFill>
                <a:latin typeface="Manrope"/>
              </a:rPr>
              <a:t>Recommendation</a:t>
            </a:r>
          </a:p>
        </p:txBody>
      </p:sp>
      <p:sp>
        <p:nvSpPr>
          <p:cNvPr id="20" name="TextBox 19"/>
          <p:cNvSpPr txBox="1"/>
          <p:nvPr/>
        </p:nvSpPr>
        <p:spPr>
          <a:xfrm>
            <a:off x="5650992" y="4873752"/>
            <a:ext cx="5754319" cy="822960"/>
          </a:xfrm>
          <a:prstGeom prst="rect">
            <a:avLst/>
          </a:prstGeom>
          <a:noFill/>
        </p:spPr>
        <p:txBody>
          <a:bodyPr wrap="square" lIns="0" rIns="0" tIns="0" bIns="0">
            <a:spAutoFit/>
          </a:bodyPr>
          <a:lstStyle/>
          <a:p>
            <a:pPr>
              <a:lnSpc>
                <a:spcPct val="140000"/>
              </a:lnSpc>
              <a:spcAft>
                <a:spcPts val="0"/>
              </a:spcAft>
            </a:pPr>
            <a:r>
              <a:rPr sz="1050" b="0" i="0">
                <a:solidFill>
                  <a:srgbClr val="B9C7C0"/>
                </a:solidFill>
                <a:latin typeface="Manrope"/>
              </a:rPr>
              <a:t>Worth a contained trial, but </a:t>
            </a:r>
            <a:r>
              <a:rPr sz="1050" b="1" i="0">
                <a:solidFill>
                  <a:srgbClr val="FFFFFF"/>
                </a:solidFill>
                <a:latin typeface="Manrope"/>
              </a:rPr>
              <a:t>judged on its own funnel and its own P&amp;L</a:t>
            </a:r>
            <a:r>
              <a:rPr sz="1050" b="0" i="0">
                <a:solidFill>
                  <a:srgbClr val="B9C7C0"/>
                </a:solidFill>
                <a:latin typeface="Manrope"/>
              </a:rPr>
              <a:t> — not folded into the moulding forecast, where it would flatter the numbers without proving anything. Decide after wave one of the hardwood launch, so it competes against a lever we know works.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14 · TWELVE MONTHS</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A sequence, not a shopping </a:t>
            </a:r>
            <a:r>
              <a:rPr sz="2700" b="1" i="1" spc="-70">
                <a:solidFill>
                  <a:srgbClr val="8EFEBB"/>
                </a:solidFill>
                <a:latin typeface="Instrument Serif"/>
              </a:rPr>
              <a:t>list</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Each quarter earns the right to the next. Stopping the bots and releasing the built work come first, because they make everything after them measurable.</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19</a:t>
            </a:r>
          </a:p>
        </p:txBody>
      </p:sp>
      <p:sp>
        <p:nvSpPr>
          <p:cNvPr id="9" name="Rounded Rectangle 8"/>
          <p:cNvSpPr/>
          <p:nvPr/>
        </p:nvSpPr>
        <p:spPr>
          <a:xfrm>
            <a:off x="566928" y="2029968"/>
            <a:ext cx="2613583" cy="3337560"/>
          </a:xfrm>
          <a:prstGeom prst="roundRect">
            <a:avLst>
              <a:gd name="adj" fmla="val 4500"/>
            </a:avLst>
          </a:prstGeom>
          <a:solidFill>
            <a:srgbClr val="09221F"/>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2194560"/>
            <a:ext cx="2293543" cy="182880"/>
          </a:xfrm>
          <a:prstGeom prst="rect">
            <a:avLst/>
          </a:prstGeom>
          <a:noFill/>
        </p:spPr>
        <p:txBody>
          <a:bodyPr wrap="square" lIns="0" rIns="0" tIns="0" bIns="0" anchor="t">
            <a:spAutoFit/>
          </a:bodyPr>
          <a:lstStyle/>
          <a:p>
            <a:pPr algn="l"/>
            <a:r>
              <a:rPr sz="800" b="1" i="0" spc="160">
                <a:solidFill>
                  <a:srgbClr val="8EFEBB"/>
                </a:solidFill>
                <a:latin typeface="Manrope"/>
              </a:rPr>
              <a:t>Q4 2026 · OCT – DEC</a:t>
            </a:r>
          </a:p>
        </p:txBody>
      </p:sp>
      <p:sp>
        <p:nvSpPr>
          <p:cNvPr id="11" name="TextBox 10"/>
          <p:cNvSpPr txBox="1"/>
          <p:nvPr/>
        </p:nvSpPr>
        <p:spPr>
          <a:xfrm>
            <a:off x="749808" y="2432304"/>
            <a:ext cx="2293543" cy="274320"/>
          </a:xfrm>
          <a:prstGeom prst="rect">
            <a:avLst/>
          </a:prstGeom>
          <a:noFill/>
        </p:spPr>
        <p:txBody>
          <a:bodyPr wrap="square" lIns="0" rIns="0" tIns="0" bIns="0" anchor="t">
            <a:spAutoFit/>
          </a:bodyPr>
          <a:lstStyle/>
          <a:p>
            <a:pPr algn="l"/>
            <a:r>
              <a:rPr sz="1200" b="1" i="0" spc="-30">
                <a:solidFill>
                  <a:srgbClr val="FFFFFF"/>
                </a:solidFill>
                <a:latin typeface="Manrope"/>
              </a:rPr>
              <a:t>Foundation &amp; structure</a:t>
            </a:r>
          </a:p>
        </p:txBody>
      </p:sp>
      <p:sp>
        <p:nvSpPr>
          <p:cNvPr id="12" name="TextBox 11"/>
          <p:cNvSpPr txBox="1"/>
          <p:nvPr/>
        </p:nvSpPr>
        <p:spPr>
          <a:xfrm>
            <a:off x="749808" y="2779776"/>
            <a:ext cx="2293543" cy="1965960"/>
          </a:xfrm>
          <a:prstGeom prst="rect">
            <a:avLst/>
          </a:prstGeom>
          <a:noFill/>
        </p:spPr>
        <p:txBody>
          <a:bodyPr wrap="square" lIns="0" rIns="0" tIns="0" bIns="0">
            <a:spAutoFit/>
          </a:bodyPr>
          <a:lstStyle/>
          <a:p>
            <a:pPr>
              <a:lnSpc>
                <a:spcPct val="132000"/>
              </a:lnSpc>
              <a:spcAft>
                <a:spcPts val="500"/>
              </a:spcAft>
            </a:pPr>
            <a:r>
              <a:rPr sz="919" b="1">
                <a:solidFill>
                  <a:srgbClr val="8EFEBB"/>
                </a:solidFill>
                <a:latin typeface="Manrope"/>
              </a:rPr>
              <a:t>•  </a:t>
            </a:r>
            <a:r>
              <a:rPr sz="919" b="0">
                <a:solidFill>
                  <a:srgbClr val="B9C7C0"/>
                </a:solidFill>
                <a:latin typeface="Manrope"/>
              </a:rPr>
              <a:t>Stop the bot traffic — before any budget moves</a:t>
            </a:r>
          </a:p>
          <a:p>
            <a:pPr>
              <a:lnSpc>
                <a:spcPct val="132000"/>
              </a:lnSpc>
              <a:spcAft>
                <a:spcPts val="500"/>
              </a:spcAft>
            </a:pPr>
            <a:r>
              <a:rPr sz="919" b="1">
                <a:solidFill>
                  <a:srgbClr val="8EFEBB"/>
                </a:solidFill>
                <a:latin typeface="Manrope"/>
              </a:rPr>
              <a:t>•  </a:t>
            </a:r>
            <a:r>
              <a:rPr sz="919" b="0">
                <a:solidFill>
                  <a:srgbClr val="B9C7C0"/>
                </a:solidFill>
                <a:latin typeface="Manrope"/>
              </a:rPr>
              <a:t>Release waves 0–4 to production</a:t>
            </a:r>
          </a:p>
          <a:p>
            <a:pPr>
              <a:lnSpc>
                <a:spcPct val="132000"/>
              </a:lnSpc>
              <a:spcAft>
                <a:spcPts val="500"/>
              </a:spcAft>
            </a:pPr>
            <a:r>
              <a:rPr sz="919" b="1">
                <a:solidFill>
                  <a:srgbClr val="8EFEBB"/>
                </a:solidFill>
                <a:latin typeface="Manrope"/>
              </a:rPr>
              <a:t>•  </a:t>
            </a:r>
            <a:r>
              <a:rPr sz="919" b="0">
                <a:solidFill>
                  <a:srgbClr val="B9C7C0"/>
                </a:solidFill>
                <a:latin typeface="Manrope"/>
              </a:rPr>
              <a:t>Abandoned-checkout email live</a:t>
            </a:r>
          </a:p>
          <a:p>
            <a:pPr>
              <a:lnSpc>
                <a:spcPct val="132000"/>
              </a:lnSpc>
              <a:spcAft>
                <a:spcPts val="500"/>
              </a:spcAft>
            </a:pPr>
            <a:r>
              <a:rPr sz="919" b="1">
                <a:solidFill>
                  <a:srgbClr val="8EFEBB"/>
                </a:solidFill>
                <a:latin typeface="Manrope"/>
              </a:rPr>
              <a:t>•  </a:t>
            </a:r>
            <a:r>
              <a:rPr sz="919" b="0">
                <a:solidFill>
                  <a:srgbClr val="B9C7C0"/>
                </a:solidFill>
                <a:latin typeface="Manrope"/>
              </a:rPr>
              <a:t>Consolidate Shopping; fold the sub-£500 tail</a:t>
            </a:r>
          </a:p>
          <a:p>
            <a:pPr>
              <a:lnSpc>
                <a:spcPct val="132000"/>
              </a:lnSpc>
              <a:spcAft>
                <a:spcPts val="500"/>
              </a:spcAft>
            </a:pPr>
            <a:r>
              <a:rPr sz="919" b="1">
                <a:solidFill>
                  <a:srgbClr val="8EFEBB"/>
                </a:solidFill>
                <a:latin typeface="Manrope"/>
              </a:rPr>
              <a:t>•  </a:t>
            </a:r>
            <a:r>
              <a:rPr sz="919" b="0">
                <a:solidFill>
                  <a:srgbClr val="B9C7C0"/>
                </a:solidFill>
                <a:latin typeface="Manrope"/>
              </a:rPr>
              <a:t>Microsoft Ads to its £5.4k ceiling</a:t>
            </a:r>
          </a:p>
          <a:p>
            <a:pPr>
              <a:lnSpc>
                <a:spcPct val="132000"/>
              </a:lnSpc>
              <a:spcAft>
                <a:spcPts val="500"/>
              </a:spcAft>
            </a:pPr>
            <a:r>
              <a:rPr sz="919" b="1">
                <a:solidFill>
                  <a:srgbClr val="8EFEBB"/>
                </a:solidFill>
                <a:latin typeface="Manrope"/>
              </a:rPr>
              <a:t>•  </a:t>
            </a:r>
            <a:r>
              <a:rPr sz="919" b="0">
                <a:solidFill>
                  <a:srgbClr val="B9C7C0"/>
                </a:solidFill>
                <a:latin typeface="Manrope"/>
              </a:rPr>
              <a:t>Hardwood wave one: Georgian, 16 products</a:t>
            </a:r>
          </a:p>
        </p:txBody>
      </p:sp>
      <p:sp>
        <p:nvSpPr>
          <p:cNvPr id="13" name="Rectangle 12"/>
          <p:cNvSpPr/>
          <p:nvPr/>
        </p:nvSpPr>
        <p:spPr>
          <a:xfrm>
            <a:off x="749808" y="4791456"/>
            <a:ext cx="2247823"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910328"/>
            <a:ext cx="2293543" cy="182880"/>
          </a:xfrm>
          <a:prstGeom prst="rect">
            <a:avLst/>
          </a:prstGeom>
          <a:noFill/>
        </p:spPr>
        <p:txBody>
          <a:bodyPr wrap="square" lIns="0" rIns="0" tIns="0" bIns="0" anchor="t">
            <a:spAutoFit/>
          </a:bodyPr>
          <a:lstStyle/>
          <a:p>
            <a:pPr algn="l"/>
            <a:r>
              <a:rPr sz="750" b="1" i="0" spc="160">
                <a:solidFill>
                  <a:srgbClr val="6B7B74"/>
                </a:solidFill>
                <a:latin typeface="Manrope"/>
              </a:rPr>
              <a:t>TARGET EXIT RUN RATE</a:t>
            </a:r>
          </a:p>
        </p:txBody>
      </p:sp>
      <p:sp>
        <p:nvSpPr>
          <p:cNvPr id="15" name="TextBox 14"/>
          <p:cNvSpPr txBox="1"/>
          <p:nvPr/>
        </p:nvSpPr>
        <p:spPr>
          <a:xfrm>
            <a:off x="749808" y="5084064"/>
            <a:ext cx="2293543" cy="502920"/>
          </a:xfrm>
          <a:prstGeom prst="rect">
            <a:avLst/>
          </a:prstGeom>
          <a:noFill/>
        </p:spPr>
        <p:txBody>
          <a:bodyPr wrap="square" lIns="0" rIns="0" tIns="0" bIns="0" anchor="t">
            <a:spAutoFit/>
          </a:bodyPr>
          <a:lstStyle/>
          <a:p>
            <a:pPr algn="l"/>
            <a:r>
              <a:rPr sz="1900" b="1" i="0" spc="-60">
                <a:solidFill>
                  <a:srgbClr val="8EFEBB"/>
                </a:solidFill>
                <a:latin typeface="Manrope"/>
              </a:rPr>
              <a:t>£335k</a:t>
            </a:r>
          </a:p>
        </p:txBody>
      </p:sp>
      <p:sp>
        <p:nvSpPr>
          <p:cNvPr id="16" name="Rounded Rectangle 15"/>
          <p:cNvSpPr/>
          <p:nvPr/>
        </p:nvSpPr>
        <p:spPr>
          <a:xfrm>
            <a:off x="3381679" y="2029968"/>
            <a:ext cx="2613583" cy="333756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64559" y="2194560"/>
            <a:ext cx="2293543" cy="182880"/>
          </a:xfrm>
          <a:prstGeom prst="rect">
            <a:avLst/>
          </a:prstGeom>
          <a:noFill/>
        </p:spPr>
        <p:txBody>
          <a:bodyPr wrap="square" lIns="0" rIns="0" tIns="0" bIns="0" anchor="t">
            <a:spAutoFit/>
          </a:bodyPr>
          <a:lstStyle/>
          <a:p>
            <a:pPr algn="l"/>
            <a:r>
              <a:rPr sz="800" b="1" i="0" spc="160">
                <a:solidFill>
                  <a:srgbClr val="6B7B74"/>
                </a:solidFill>
                <a:latin typeface="Manrope"/>
              </a:rPr>
              <a:t>Q1 2027 · JAN – MAR</a:t>
            </a:r>
          </a:p>
        </p:txBody>
      </p:sp>
      <p:sp>
        <p:nvSpPr>
          <p:cNvPr id="18" name="TextBox 17"/>
          <p:cNvSpPr txBox="1"/>
          <p:nvPr/>
        </p:nvSpPr>
        <p:spPr>
          <a:xfrm>
            <a:off x="3564559" y="2432304"/>
            <a:ext cx="2293543" cy="274320"/>
          </a:xfrm>
          <a:prstGeom prst="rect">
            <a:avLst/>
          </a:prstGeom>
          <a:noFill/>
        </p:spPr>
        <p:txBody>
          <a:bodyPr wrap="square" lIns="0" rIns="0" tIns="0" bIns="0" anchor="t">
            <a:spAutoFit/>
          </a:bodyPr>
          <a:lstStyle/>
          <a:p>
            <a:pPr algn="l"/>
            <a:r>
              <a:rPr sz="1200" b="1" i="0" spc="-30">
                <a:solidFill>
                  <a:srgbClr val="FFFFFF"/>
                </a:solidFill>
                <a:latin typeface="Manrope"/>
              </a:rPr>
              <a:t>Capture the earned demand</a:t>
            </a:r>
          </a:p>
        </p:txBody>
      </p:sp>
      <p:sp>
        <p:nvSpPr>
          <p:cNvPr id="19" name="TextBox 18"/>
          <p:cNvSpPr txBox="1"/>
          <p:nvPr/>
        </p:nvSpPr>
        <p:spPr>
          <a:xfrm>
            <a:off x="3564559" y="2779776"/>
            <a:ext cx="2293543" cy="1965960"/>
          </a:xfrm>
          <a:prstGeom prst="rect">
            <a:avLst/>
          </a:prstGeom>
          <a:noFill/>
        </p:spPr>
        <p:txBody>
          <a:bodyPr wrap="square" lIns="0" rIns="0" tIns="0" bIns="0">
            <a:spAutoFit/>
          </a:bodyPr>
          <a:lstStyle/>
          <a:p>
            <a:pPr>
              <a:lnSpc>
                <a:spcPct val="132000"/>
              </a:lnSpc>
              <a:spcAft>
                <a:spcPts val="500"/>
              </a:spcAft>
            </a:pPr>
            <a:r>
              <a:rPr sz="919" b="1">
                <a:solidFill>
                  <a:srgbClr val="8EFEBB"/>
                </a:solidFill>
                <a:latin typeface="Manrope"/>
              </a:rPr>
              <a:t>•  </a:t>
            </a:r>
            <a:r>
              <a:rPr sz="919" b="0">
                <a:solidFill>
                  <a:srgbClr val="B9C7C0"/>
                </a:solidFill>
                <a:latin typeface="Manrope"/>
              </a:rPr>
              <a:t>Push the 30 page-two head terms onto page one</a:t>
            </a:r>
          </a:p>
          <a:p>
            <a:pPr>
              <a:lnSpc>
                <a:spcPct val="132000"/>
              </a:lnSpc>
              <a:spcAft>
                <a:spcPts val="500"/>
              </a:spcAft>
            </a:pPr>
            <a:r>
              <a:rPr sz="919" b="1">
                <a:solidFill>
                  <a:srgbClr val="8EFEBB"/>
                </a:solidFill>
                <a:latin typeface="Manrope"/>
              </a:rPr>
              <a:t>•  </a:t>
            </a:r>
            <a:r>
              <a:rPr sz="919" b="0">
                <a:solidFill>
                  <a:srgbClr val="B9C7C0"/>
                </a:solidFill>
                <a:latin typeface="Manrope"/>
              </a:rPr>
              <a:t>Trade account structure and email programme live</a:t>
            </a:r>
          </a:p>
          <a:p>
            <a:pPr>
              <a:lnSpc>
                <a:spcPct val="132000"/>
              </a:lnSpc>
              <a:spcAft>
                <a:spcPts val="500"/>
              </a:spcAft>
            </a:pPr>
            <a:r>
              <a:rPr sz="919" b="1">
                <a:solidFill>
                  <a:srgbClr val="8EFEBB"/>
                </a:solidFill>
                <a:latin typeface="Manrope"/>
              </a:rPr>
              <a:t>•  </a:t>
            </a:r>
            <a:r>
              <a:rPr sz="919" b="0">
                <a:solidFill>
                  <a:srgbClr val="B9C7C0"/>
                </a:solidFill>
                <a:latin typeface="Manrope"/>
              </a:rPr>
              <a:t>Hardwood waves two and three</a:t>
            </a:r>
          </a:p>
          <a:p>
            <a:pPr>
              <a:lnSpc>
                <a:spcPct val="132000"/>
              </a:lnSpc>
              <a:spcAft>
                <a:spcPts val="500"/>
              </a:spcAft>
            </a:pPr>
            <a:r>
              <a:rPr sz="919" b="1">
                <a:solidFill>
                  <a:srgbClr val="8EFEBB"/>
                </a:solidFill>
                <a:latin typeface="Manrope"/>
              </a:rPr>
              <a:t>•  </a:t>
            </a:r>
            <a:r>
              <a:rPr sz="919" b="0">
                <a:solidFill>
                  <a:srgbClr val="B9C7C0"/>
                </a:solidFill>
                <a:latin typeface="Manrope"/>
              </a:rPr>
              <a:t>NBS listing and sample boxes live</a:t>
            </a:r>
          </a:p>
          <a:p>
            <a:pPr>
              <a:lnSpc>
                <a:spcPct val="132000"/>
              </a:lnSpc>
              <a:spcAft>
                <a:spcPts val="500"/>
              </a:spcAft>
            </a:pPr>
            <a:r>
              <a:rPr sz="919" b="1">
                <a:solidFill>
                  <a:srgbClr val="8EFEBB"/>
                </a:solidFill>
                <a:latin typeface="Manrope"/>
              </a:rPr>
              <a:t>•  </a:t>
            </a:r>
            <a:r>
              <a:rPr sz="919" b="0">
                <a:solidFill>
                  <a:srgbClr val="B9C7C0"/>
                </a:solidFill>
                <a:latin typeface="Manrope"/>
              </a:rPr>
              <a:t>Margin data in; rebuild the model on contribution</a:t>
            </a:r>
          </a:p>
        </p:txBody>
      </p:sp>
      <p:sp>
        <p:nvSpPr>
          <p:cNvPr id="20" name="Rectangle 19"/>
          <p:cNvSpPr/>
          <p:nvPr/>
        </p:nvSpPr>
        <p:spPr>
          <a:xfrm>
            <a:off x="3564559" y="4791456"/>
            <a:ext cx="2247823"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4559" y="4910328"/>
            <a:ext cx="2293543" cy="182880"/>
          </a:xfrm>
          <a:prstGeom prst="rect">
            <a:avLst/>
          </a:prstGeom>
          <a:noFill/>
        </p:spPr>
        <p:txBody>
          <a:bodyPr wrap="square" lIns="0" rIns="0" tIns="0" bIns="0" anchor="t">
            <a:spAutoFit/>
          </a:bodyPr>
          <a:lstStyle/>
          <a:p>
            <a:pPr algn="l"/>
            <a:r>
              <a:rPr sz="750" b="1" i="0" spc="160">
                <a:solidFill>
                  <a:srgbClr val="6B7B74"/>
                </a:solidFill>
                <a:latin typeface="Manrope"/>
              </a:rPr>
              <a:t>TARGET EXIT RUN RATE</a:t>
            </a:r>
          </a:p>
        </p:txBody>
      </p:sp>
      <p:sp>
        <p:nvSpPr>
          <p:cNvPr id="22" name="TextBox 21"/>
          <p:cNvSpPr txBox="1"/>
          <p:nvPr/>
        </p:nvSpPr>
        <p:spPr>
          <a:xfrm>
            <a:off x="3564559" y="5084064"/>
            <a:ext cx="2293543" cy="502920"/>
          </a:xfrm>
          <a:prstGeom prst="rect">
            <a:avLst/>
          </a:prstGeom>
          <a:noFill/>
        </p:spPr>
        <p:txBody>
          <a:bodyPr wrap="square" lIns="0" rIns="0" tIns="0" bIns="0" anchor="t">
            <a:spAutoFit/>
          </a:bodyPr>
          <a:lstStyle/>
          <a:p>
            <a:pPr algn="l"/>
            <a:r>
              <a:rPr sz="1900" b="1" i="0" spc="-60">
                <a:solidFill>
                  <a:srgbClr val="8EFEBB"/>
                </a:solidFill>
                <a:latin typeface="Manrope"/>
              </a:rPr>
              <a:t>£400k</a:t>
            </a:r>
          </a:p>
        </p:txBody>
      </p:sp>
      <p:sp>
        <p:nvSpPr>
          <p:cNvPr id="23" name="Rounded Rectangle 22"/>
          <p:cNvSpPr/>
          <p:nvPr/>
        </p:nvSpPr>
        <p:spPr>
          <a:xfrm>
            <a:off x="6196431" y="2029968"/>
            <a:ext cx="2613583" cy="333756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79311" y="2194560"/>
            <a:ext cx="2293543" cy="182880"/>
          </a:xfrm>
          <a:prstGeom prst="rect">
            <a:avLst/>
          </a:prstGeom>
          <a:noFill/>
        </p:spPr>
        <p:txBody>
          <a:bodyPr wrap="square" lIns="0" rIns="0" tIns="0" bIns="0" anchor="t">
            <a:spAutoFit/>
          </a:bodyPr>
          <a:lstStyle/>
          <a:p>
            <a:pPr algn="l"/>
            <a:r>
              <a:rPr sz="800" b="1" i="0" spc="160">
                <a:solidFill>
                  <a:srgbClr val="6B7B74"/>
                </a:solidFill>
                <a:latin typeface="Manrope"/>
              </a:rPr>
              <a:t>Q2 2027 · APR – JUN</a:t>
            </a:r>
          </a:p>
        </p:txBody>
      </p:sp>
      <p:sp>
        <p:nvSpPr>
          <p:cNvPr id="25" name="TextBox 24"/>
          <p:cNvSpPr txBox="1"/>
          <p:nvPr/>
        </p:nvSpPr>
        <p:spPr>
          <a:xfrm>
            <a:off x="6379311" y="2432304"/>
            <a:ext cx="2293543" cy="274320"/>
          </a:xfrm>
          <a:prstGeom prst="rect">
            <a:avLst/>
          </a:prstGeom>
          <a:noFill/>
        </p:spPr>
        <p:txBody>
          <a:bodyPr wrap="square" lIns="0" rIns="0" tIns="0" bIns="0" anchor="t">
            <a:spAutoFit/>
          </a:bodyPr>
          <a:lstStyle/>
          <a:p>
            <a:pPr algn="l"/>
            <a:r>
              <a:rPr sz="1200" b="1" i="0" spc="-30">
                <a:solidFill>
                  <a:srgbClr val="FFFFFF"/>
                </a:solidFill>
                <a:latin typeface="Manrope"/>
              </a:rPr>
              <a:t>Open the premium channel</a:t>
            </a:r>
          </a:p>
        </p:txBody>
      </p:sp>
      <p:sp>
        <p:nvSpPr>
          <p:cNvPr id="26" name="TextBox 25"/>
          <p:cNvSpPr txBox="1"/>
          <p:nvPr/>
        </p:nvSpPr>
        <p:spPr>
          <a:xfrm>
            <a:off x="6379311" y="2779776"/>
            <a:ext cx="2293543" cy="1965960"/>
          </a:xfrm>
          <a:prstGeom prst="rect">
            <a:avLst/>
          </a:prstGeom>
          <a:noFill/>
        </p:spPr>
        <p:txBody>
          <a:bodyPr wrap="square" lIns="0" rIns="0" tIns="0" bIns="0">
            <a:spAutoFit/>
          </a:bodyPr>
          <a:lstStyle/>
          <a:p>
            <a:pPr>
              <a:lnSpc>
                <a:spcPct val="132000"/>
              </a:lnSpc>
              <a:spcAft>
                <a:spcPts val="500"/>
              </a:spcAft>
            </a:pPr>
            <a:r>
              <a:rPr sz="919" b="1">
                <a:solidFill>
                  <a:srgbClr val="8EFEBB"/>
                </a:solidFill>
                <a:latin typeface="Manrope"/>
              </a:rPr>
              <a:t>•  </a:t>
            </a:r>
            <a:r>
              <a:rPr sz="919" b="0">
                <a:solidFill>
                  <a:srgbClr val="B9C7C0"/>
                </a:solidFill>
                <a:latin typeface="Manrope"/>
              </a:rPr>
              <a:t>Specification outbound at scale</a:t>
            </a:r>
          </a:p>
          <a:p>
            <a:pPr>
              <a:lnSpc>
                <a:spcPct val="132000"/>
              </a:lnSpc>
              <a:spcAft>
                <a:spcPts val="500"/>
              </a:spcAft>
            </a:pPr>
            <a:r>
              <a:rPr sz="919" b="1">
                <a:solidFill>
                  <a:srgbClr val="8EFEBB"/>
                </a:solidFill>
                <a:latin typeface="Manrope"/>
              </a:rPr>
              <a:t>•  </a:t>
            </a:r>
            <a:r>
              <a:rPr sz="919" b="0">
                <a:solidFill>
                  <a:srgbClr val="B9C7C0"/>
                </a:solidFill>
                <a:latin typeface="Manrope"/>
              </a:rPr>
              <a:t>CAD and detail drawings per profile</a:t>
            </a:r>
          </a:p>
          <a:p>
            <a:pPr>
              <a:lnSpc>
                <a:spcPct val="132000"/>
              </a:lnSpc>
              <a:spcAft>
                <a:spcPts val="500"/>
              </a:spcAft>
            </a:pPr>
            <a:r>
              <a:rPr sz="919" b="1">
                <a:solidFill>
                  <a:srgbClr val="8EFEBB"/>
                </a:solidFill>
                <a:latin typeface="Manrope"/>
              </a:rPr>
              <a:t>•  </a:t>
            </a:r>
            <a:r>
              <a:rPr sz="919" b="0">
                <a:solidFill>
                  <a:srgbClr val="B9C7C0"/>
                </a:solidFill>
                <a:latin typeface="Manrope"/>
              </a:rPr>
              <a:t>Builder content engine running monthly</a:t>
            </a:r>
          </a:p>
          <a:p>
            <a:pPr>
              <a:lnSpc>
                <a:spcPct val="132000"/>
              </a:lnSpc>
              <a:spcAft>
                <a:spcPts val="500"/>
              </a:spcAft>
            </a:pPr>
            <a:r>
              <a:rPr sz="919" b="1">
                <a:solidFill>
                  <a:srgbClr val="8EFEBB"/>
                </a:solidFill>
                <a:latin typeface="Manrope"/>
              </a:rPr>
              <a:t>•  </a:t>
            </a:r>
            <a:r>
              <a:rPr sz="919" b="0">
                <a:solidFill>
                  <a:srgbClr val="B9C7C0"/>
                </a:solidFill>
                <a:latin typeface="Manrope"/>
              </a:rPr>
              <a:t>Hardwood wave four: Contemporary</a:t>
            </a:r>
          </a:p>
          <a:p>
            <a:pPr>
              <a:lnSpc>
                <a:spcPct val="132000"/>
              </a:lnSpc>
              <a:spcAft>
                <a:spcPts val="500"/>
              </a:spcAft>
            </a:pPr>
            <a:r>
              <a:rPr sz="919" b="1">
                <a:solidFill>
                  <a:srgbClr val="8EFEBB"/>
                </a:solidFill>
                <a:latin typeface="Manrope"/>
              </a:rPr>
              <a:t>•  </a:t>
            </a:r>
            <a:r>
              <a:rPr sz="919" b="0">
                <a:solidFill>
                  <a:srgbClr val="B9C7C0"/>
                </a:solidFill>
                <a:latin typeface="Manrope"/>
              </a:rPr>
              <a:t>CRO programme on collection and product pages</a:t>
            </a:r>
          </a:p>
          <a:p>
            <a:pPr>
              <a:lnSpc>
                <a:spcPct val="132000"/>
              </a:lnSpc>
              <a:spcAft>
                <a:spcPts val="500"/>
              </a:spcAft>
            </a:pPr>
            <a:r>
              <a:rPr sz="919" b="1">
                <a:solidFill>
                  <a:srgbClr val="8EFEBB"/>
                </a:solidFill>
                <a:latin typeface="Manrope"/>
              </a:rPr>
              <a:t>•  </a:t>
            </a:r>
            <a:r>
              <a:rPr sz="919" b="0">
                <a:solidFill>
                  <a:srgbClr val="B9C7C0"/>
                </a:solidFill>
                <a:latin typeface="Manrope"/>
              </a:rPr>
              <a:t>Flooring: trial or drop, on the evidence</a:t>
            </a:r>
          </a:p>
        </p:txBody>
      </p:sp>
      <p:sp>
        <p:nvSpPr>
          <p:cNvPr id="27" name="Rectangle 26"/>
          <p:cNvSpPr/>
          <p:nvPr/>
        </p:nvSpPr>
        <p:spPr>
          <a:xfrm>
            <a:off x="6379311" y="4791456"/>
            <a:ext cx="2247823"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9311" y="4910328"/>
            <a:ext cx="2293543" cy="182880"/>
          </a:xfrm>
          <a:prstGeom prst="rect">
            <a:avLst/>
          </a:prstGeom>
          <a:noFill/>
        </p:spPr>
        <p:txBody>
          <a:bodyPr wrap="square" lIns="0" rIns="0" tIns="0" bIns="0" anchor="t">
            <a:spAutoFit/>
          </a:bodyPr>
          <a:lstStyle/>
          <a:p>
            <a:pPr algn="l"/>
            <a:r>
              <a:rPr sz="750" b="1" i="0" spc="160">
                <a:solidFill>
                  <a:srgbClr val="6B7B74"/>
                </a:solidFill>
                <a:latin typeface="Manrope"/>
              </a:rPr>
              <a:t>TARGET EXIT RUN RATE</a:t>
            </a:r>
          </a:p>
        </p:txBody>
      </p:sp>
      <p:sp>
        <p:nvSpPr>
          <p:cNvPr id="29" name="TextBox 28"/>
          <p:cNvSpPr txBox="1"/>
          <p:nvPr/>
        </p:nvSpPr>
        <p:spPr>
          <a:xfrm>
            <a:off x="6379311" y="5084064"/>
            <a:ext cx="2293543" cy="502920"/>
          </a:xfrm>
          <a:prstGeom prst="rect">
            <a:avLst/>
          </a:prstGeom>
          <a:noFill/>
        </p:spPr>
        <p:txBody>
          <a:bodyPr wrap="square" lIns="0" rIns="0" tIns="0" bIns="0" anchor="t">
            <a:spAutoFit/>
          </a:bodyPr>
          <a:lstStyle/>
          <a:p>
            <a:pPr algn="l"/>
            <a:r>
              <a:rPr sz="1900" b="1" i="0" spc="-60">
                <a:solidFill>
                  <a:srgbClr val="8EFEBB"/>
                </a:solidFill>
                <a:latin typeface="Manrope"/>
              </a:rPr>
              <a:t>£460k</a:t>
            </a:r>
          </a:p>
        </p:txBody>
      </p:sp>
      <p:sp>
        <p:nvSpPr>
          <p:cNvPr id="30" name="Rounded Rectangle 29"/>
          <p:cNvSpPr/>
          <p:nvPr/>
        </p:nvSpPr>
        <p:spPr>
          <a:xfrm>
            <a:off x="9011183" y="2029968"/>
            <a:ext cx="2613583" cy="3337560"/>
          </a:xfrm>
          <a:prstGeom prst="roundRect">
            <a:avLst>
              <a:gd name="adj" fmla="val 4500"/>
            </a:avLst>
          </a:prstGeom>
          <a:solidFill>
            <a:srgbClr val="09221F"/>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94063" y="2194560"/>
            <a:ext cx="2293543" cy="182880"/>
          </a:xfrm>
          <a:prstGeom prst="rect">
            <a:avLst/>
          </a:prstGeom>
          <a:noFill/>
        </p:spPr>
        <p:txBody>
          <a:bodyPr wrap="square" lIns="0" rIns="0" tIns="0" bIns="0" anchor="t">
            <a:spAutoFit/>
          </a:bodyPr>
          <a:lstStyle/>
          <a:p>
            <a:pPr algn="l"/>
            <a:r>
              <a:rPr sz="800" b="1" i="0" spc="160">
                <a:solidFill>
                  <a:srgbClr val="8EFEBB"/>
                </a:solidFill>
                <a:latin typeface="Manrope"/>
              </a:rPr>
              <a:t>Q3 2027 · JUL – SEP</a:t>
            </a:r>
          </a:p>
        </p:txBody>
      </p:sp>
      <p:sp>
        <p:nvSpPr>
          <p:cNvPr id="32" name="TextBox 31"/>
          <p:cNvSpPr txBox="1"/>
          <p:nvPr/>
        </p:nvSpPr>
        <p:spPr>
          <a:xfrm>
            <a:off x="9194063" y="2432304"/>
            <a:ext cx="2293543" cy="274320"/>
          </a:xfrm>
          <a:prstGeom prst="rect">
            <a:avLst/>
          </a:prstGeom>
          <a:noFill/>
        </p:spPr>
        <p:txBody>
          <a:bodyPr wrap="square" lIns="0" rIns="0" tIns="0" bIns="0" anchor="t">
            <a:spAutoFit/>
          </a:bodyPr>
          <a:lstStyle/>
          <a:p>
            <a:pPr algn="l"/>
            <a:r>
              <a:rPr sz="1200" b="1" i="0" spc="-30">
                <a:solidFill>
                  <a:srgbClr val="FFFFFF"/>
                </a:solidFill>
                <a:latin typeface="Manrope"/>
              </a:rPr>
              <a:t>Scale what proved out</a:t>
            </a:r>
          </a:p>
        </p:txBody>
      </p:sp>
      <p:sp>
        <p:nvSpPr>
          <p:cNvPr id="33" name="TextBox 32"/>
          <p:cNvSpPr txBox="1"/>
          <p:nvPr/>
        </p:nvSpPr>
        <p:spPr>
          <a:xfrm>
            <a:off x="9194063" y="2779776"/>
            <a:ext cx="2293543" cy="1965960"/>
          </a:xfrm>
          <a:prstGeom prst="rect">
            <a:avLst/>
          </a:prstGeom>
          <a:noFill/>
        </p:spPr>
        <p:txBody>
          <a:bodyPr wrap="square" lIns="0" rIns="0" tIns="0" bIns="0">
            <a:spAutoFit/>
          </a:bodyPr>
          <a:lstStyle/>
          <a:p>
            <a:pPr>
              <a:lnSpc>
                <a:spcPct val="132000"/>
              </a:lnSpc>
              <a:spcAft>
                <a:spcPts val="500"/>
              </a:spcAft>
            </a:pPr>
            <a:r>
              <a:rPr sz="919" b="1">
                <a:solidFill>
                  <a:srgbClr val="8EFEBB"/>
                </a:solidFill>
                <a:latin typeface="Manrope"/>
              </a:rPr>
              <a:t>•  </a:t>
            </a:r>
            <a:r>
              <a:rPr sz="919" b="0">
                <a:solidFill>
                  <a:srgbClr val="B9C7C0"/>
                </a:solidFill>
                <a:latin typeface="Manrope"/>
              </a:rPr>
              <a:t>Double down on the levers that beat their mid case</a:t>
            </a:r>
          </a:p>
          <a:p>
            <a:pPr>
              <a:lnSpc>
                <a:spcPct val="132000"/>
              </a:lnSpc>
              <a:spcAft>
                <a:spcPts val="500"/>
              </a:spcAft>
            </a:pPr>
            <a:r>
              <a:rPr sz="919" b="1">
                <a:solidFill>
                  <a:srgbClr val="8EFEBB"/>
                </a:solidFill>
                <a:latin typeface="Manrope"/>
              </a:rPr>
              <a:t>•  </a:t>
            </a:r>
            <a:r>
              <a:rPr sz="919" b="0">
                <a:solidFill>
                  <a:srgbClr val="B9C7C0"/>
                </a:solidFill>
                <a:latin typeface="Manrope"/>
              </a:rPr>
              <a:t>New profile ranges, Torus first — 5,200 searches a month</a:t>
            </a:r>
          </a:p>
          <a:p>
            <a:pPr>
              <a:lnSpc>
                <a:spcPct val="132000"/>
              </a:lnSpc>
              <a:spcAft>
                <a:spcPts val="500"/>
              </a:spcAft>
            </a:pPr>
            <a:r>
              <a:rPr sz="919" b="1">
                <a:solidFill>
                  <a:srgbClr val="8EFEBB"/>
                </a:solidFill>
                <a:latin typeface="Manrope"/>
              </a:rPr>
              <a:t>•  </a:t>
            </a:r>
            <a:r>
              <a:rPr sz="919" b="0">
                <a:solidFill>
                  <a:srgbClr val="B9C7C0"/>
                </a:solidFill>
                <a:latin typeface="Manrope"/>
              </a:rPr>
              <a:t>Quote-to-order path for the £1,000+ job</a:t>
            </a:r>
          </a:p>
          <a:p>
            <a:pPr>
              <a:lnSpc>
                <a:spcPct val="132000"/>
              </a:lnSpc>
              <a:spcAft>
                <a:spcPts val="500"/>
              </a:spcAft>
            </a:pPr>
            <a:r>
              <a:rPr sz="919" b="1">
                <a:solidFill>
                  <a:srgbClr val="8EFEBB"/>
                </a:solidFill>
                <a:latin typeface="Manrope"/>
              </a:rPr>
              <a:t>•  </a:t>
            </a:r>
            <a:r>
              <a:rPr sz="919" b="0">
                <a:solidFill>
                  <a:srgbClr val="B9C7C0"/>
                </a:solidFill>
                <a:latin typeface="Manrope"/>
              </a:rPr>
              <a:t>Repeat-purchase and reactivation programme at scale</a:t>
            </a:r>
          </a:p>
        </p:txBody>
      </p:sp>
      <p:sp>
        <p:nvSpPr>
          <p:cNvPr id="34" name="Rectangle 33"/>
          <p:cNvSpPr/>
          <p:nvPr/>
        </p:nvSpPr>
        <p:spPr>
          <a:xfrm>
            <a:off x="9194063" y="4791456"/>
            <a:ext cx="2247823" cy="7315"/>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94063" y="4910328"/>
            <a:ext cx="2293543" cy="182880"/>
          </a:xfrm>
          <a:prstGeom prst="rect">
            <a:avLst/>
          </a:prstGeom>
          <a:noFill/>
        </p:spPr>
        <p:txBody>
          <a:bodyPr wrap="square" lIns="0" rIns="0" tIns="0" bIns="0" anchor="t">
            <a:spAutoFit/>
          </a:bodyPr>
          <a:lstStyle/>
          <a:p>
            <a:pPr algn="l"/>
            <a:r>
              <a:rPr sz="750" b="1" i="0" spc="160">
                <a:solidFill>
                  <a:srgbClr val="6B7B74"/>
                </a:solidFill>
                <a:latin typeface="Manrope"/>
              </a:rPr>
              <a:t>TARGET EXIT RUN RATE</a:t>
            </a:r>
          </a:p>
        </p:txBody>
      </p:sp>
      <p:sp>
        <p:nvSpPr>
          <p:cNvPr id="36" name="TextBox 35"/>
          <p:cNvSpPr txBox="1"/>
          <p:nvPr/>
        </p:nvSpPr>
        <p:spPr>
          <a:xfrm>
            <a:off x="9194063" y="5084064"/>
            <a:ext cx="2293543" cy="502920"/>
          </a:xfrm>
          <a:prstGeom prst="rect">
            <a:avLst/>
          </a:prstGeom>
          <a:noFill/>
        </p:spPr>
        <p:txBody>
          <a:bodyPr wrap="square" lIns="0" rIns="0" tIns="0" bIns="0" anchor="t">
            <a:spAutoFit/>
          </a:bodyPr>
          <a:lstStyle/>
          <a:p>
            <a:pPr algn="l"/>
            <a:r>
              <a:rPr sz="1900" b="1" i="0" spc="-60">
                <a:solidFill>
                  <a:srgbClr val="8EFEBB"/>
                </a:solidFill>
                <a:latin typeface="Manrope"/>
              </a:rPr>
              <a:t>£500k</a:t>
            </a:r>
          </a:p>
        </p:txBody>
      </p:sp>
      <p:sp>
        <p:nvSpPr>
          <p:cNvPr id="37" name="TextBox 36"/>
          <p:cNvSpPr txBox="1"/>
          <p:nvPr/>
        </p:nvSpPr>
        <p:spPr>
          <a:xfrm>
            <a:off x="566928" y="5522976"/>
            <a:ext cx="11057839" cy="365760"/>
          </a:xfrm>
          <a:prstGeom prst="rect">
            <a:avLst/>
          </a:prstGeom>
          <a:noFill/>
        </p:spPr>
        <p:txBody>
          <a:bodyPr wrap="square" lIns="0" rIns="0" tIns="0" bIns="0">
            <a:spAutoFit/>
          </a:bodyPr>
          <a:lstStyle/>
          <a:p>
            <a:pPr>
              <a:lnSpc>
                <a:spcPct val="135000"/>
              </a:lnSpc>
              <a:spcAft>
                <a:spcPts val="0"/>
              </a:spcAft>
            </a:pPr>
            <a:r>
              <a:rPr sz="960" b="0" i="0">
                <a:solidFill>
                  <a:srgbClr val="6B7B74"/>
                </a:solidFill>
                <a:latin typeface="Manrope"/>
              </a:rPr>
              <a:t>The 62% baseline trend reaches roughly £320k, £380k, £430k and £485k at these four points, arriving at £500k in October 2027. The targets above sit one quarter ahead of that curve — the plan's job is to buy a quarter of time and insure against deceleration, not to invent 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15 · BUDGET &amp; CASH</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What it costs to buy a </a:t>
            </a:r>
            <a:r>
              <a:rPr sz="2700" b="1" i="1" spc="-70">
                <a:solidFill>
                  <a:srgbClr val="8EFEBB"/>
                </a:solidFill>
                <a:latin typeface="Instrument Serif"/>
              </a:rPr>
              <a:t>quarter</a:t>
            </a:r>
            <a:r>
              <a:rPr sz="2700" b="1" i="0" spc="-70">
                <a:solidFill>
                  <a:srgbClr val="FFFFFF"/>
                </a:solidFill>
                <a:latin typeface="Manrope"/>
              </a:rPr>
              <a:t> of time</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Media investment by quarter against both the baseline trend and the plan target, and the one piece of data still missing.</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20</a:t>
            </a:r>
          </a:p>
        </p:txBody>
      </p:sp>
      <p:graphicFrame>
        <p:nvGraphicFramePr>
          <p:cNvPr id="9" name="Table 8"/>
          <p:cNvGraphicFramePr>
            <a:graphicFrameLocks noGrp="1"/>
          </p:cNvGraphicFramePr>
          <p:nvPr/>
        </p:nvGraphicFramePr>
        <p:xfrm>
          <a:off x="566928" y="2029968"/>
          <a:ext cx="6766557" cy="2542032"/>
        </p:xfrm>
        <a:graphic>
          <a:graphicData uri="http://schemas.openxmlformats.org/drawingml/2006/table">
            <a:tbl>
              <a:tblPr firstRow="1" bandRow="1">
                <a:tableStyleId>{5C22544A-7EE6-4342-B048-85BDC9FD1C3A}</a:tableStyleId>
              </a:tblPr>
              <a:tblGrid>
                <a:gridCol w="1995267"/>
                <a:gridCol w="954258"/>
                <a:gridCol w="954258"/>
                <a:gridCol w="954258"/>
                <a:gridCol w="954258"/>
                <a:gridCol w="954258"/>
              </a:tblGrid>
              <a:tr h="274320">
                <a:tc>
                  <a:txBody>
                    <a:bodyPr wrap="square"/>
                    <a:lstStyle/>
                    <a:p>
                      <a:pPr algn="l"/>
                      <a:r>
                        <a:rPr sz="780" b="1">
                          <a:solidFill>
                            <a:srgbClr val="6B7B74"/>
                          </a:solidFill>
                          <a:latin typeface="Manrope"/>
                        </a:rPr>
                        <a:t>CHANNEL</a:t>
                      </a:r>
                    </a:p>
                  </a:txBody>
                  <a:tcPr marL="45720" marR="45720" marT="18288" marB="18288" anchor="ctr">
                    <a:solidFill>
                      <a:srgbClr val="051412"/>
                    </a:solidFill>
                  </a:tcPr>
                </a:tc>
                <a:tc>
                  <a:txBody>
                    <a:bodyPr wrap="square"/>
                    <a:lstStyle/>
                    <a:p>
                      <a:pPr algn="r"/>
                      <a:r>
                        <a:rPr sz="780" b="1">
                          <a:solidFill>
                            <a:srgbClr val="6B7B74"/>
                          </a:solidFill>
                          <a:latin typeface="Manrope"/>
                        </a:rPr>
                        <a:t>TODAY</a:t>
                      </a:r>
                    </a:p>
                  </a:txBody>
                  <a:tcPr marL="45720" marR="45720" marT="18288" marB="18288" anchor="ctr">
                    <a:solidFill>
                      <a:srgbClr val="051412"/>
                    </a:solidFill>
                  </a:tcPr>
                </a:tc>
                <a:tc>
                  <a:txBody>
                    <a:bodyPr wrap="square"/>
                    <a:lstStyle/>
                    <a:p>
                      <a:pPr algn="r"/>
                      <a:r>
                        <a:rPr sz="780" b="1">
                          <a:solidFill>
                            <a:srgbClr val="6B7B74"/>
                          </a:solidFill>
                          <a:latin typeface="Manrope"/>
                        </a:rPr>
                        <a:t>Q4 2026</a:t>
                      </a:r>
                    </a:p>
                  </a:txBody>
                  <a:tcPr marL="45720" marR="45720" marT="18288" marB="18288" anchor="ctr">
                    <a:solidFill>
                      <a:srgbClr val="051412"/>
                    </a:solidFill>
                  </a:tcPr>
                </a:tc>
                <a:tc>
                  <a:txBody>
                    <a:bodyPr wrap="square"/>
                    <a:lstStyle/>
                    <a:p>
                      <a:pPr algn="r"/>
                      <a:r>
                        <a:rPr sz="780" b="1">
                          <a:solidFill>
                            <a:srgbClr val="6B7B74"/>
                          </a:solidFill>
                          <a:latin typeface="Manrope"/>
                        </a:rPr>
                        <a:t>Q1 2027</a:t>
                      </a:r>
                    </a:p>
                  </a:txBody>
                  <a:tcPr marL="45720" marR="45720" marT="18288" marB="18288" anchor="ctr">
                    <a:solidFill>
                      <a:srgbClr val="051412"/>
                    </a:solidFill>
                  </a:tcPr>
                </a:tc>
                <a:tc>
                  <a:txBody>
                    <a:bodyPr wrap="square"/>
                    <a:lstStyle/>
                    <a:p>
                      <a:pPr algn="r"/>
                      <a:r>
                        <a:rPr sz="780" b="1">
                          <a:solidFill>
                            <a:srgbClr val="6B7B74"/>
                          </a:solidFill>
                          <a:latin typeface="Manrope"/>
                        </a:rPr>
                        <a:t>Q2 2027</a:t>
                      </a:r>
                    </a:p>
                  </a:txBody>
                  <a:tcPr marL="45720" marR="45720" marT="18288" marB="18288" anchor="ctr">
                    <a:solidFill>
                      <a:srgbClr val="051412"/>
                    </a:solidFill>
                  </a:tcPr>
                </a:tc>
                <a:tc>
                  <a:txBody>
                    <a:bodyPr wrap="square"/>
                    <a:lstStyle/>
                    <a:p>
                      <a:pPr algn="r"/>
                      <a:r>
                        <a:rPr sz="780" b="1">
                          <a:solidFill>
                            <a:srgbClr val="6B7B74"/>
                          </a:solidFill>
                          <a:latin typeface="Manrope"/>
                        </a:rPr>
                        <a:t>Q3 2027</a:t>
                      </a:r>
                    </a:p>
                  </a:txBody>
                  <a:tcPr marL="45720" marR="45720" marT="18288" marB="18288" anchor="ctr">
                    <a:solidFill>
                      <a:srgbClr val="051412"/>
                    </a:solidFill>
                  </a:tcPr>
                </a:tc>
              </a:tr>
              <a:tr h="283464">
                <a:tc>
                  <a:txBody>
                    <a:bodyPr wrap="square"/>
                    <a:lstStyle/>
                    <a:p>
                      <a:pPr algn="l"/>
                      <a:r>
                        <a:rPr sz="1050" b="0">
                          <a:solidFill>
                            <a:srgbClr val="E8F2EC"/>
                          </a:solidFill>
                          <a:latin typeface="Manrope"/>
                        </a:rPr>
                        <a:t>Google Ads — core</a:t>
                      </a:r>
                    </a:p>
                  </a:txBody>
                  <a:tcPr marL="45720" marR="45720" marT="18288" marB="18288" anchor="ctr">
                    <a:solidFill>
                      <a:srgbClr val="051412"/>
                    </a:solidFill>
                  </a:tcPr>
                </a:tc>
                <a:tc>
                  <a:txBody>
                    <a:bodyPr wrap="square"/>
                    <a:lstStyle/>
                    <a:p>
                      <a:pPr algn="r"/>
                      <a:r>
                        <a:rPr sz="1050" b="0">
                          <a:solidFill>
                            <a:srgbClr val="E8F2EC"/>
                          </a:solidFill>
                          <a:latin typeface="Manrope"/>
                        </a:rPr>
                        <a:t>£25.3k</a:t>
                      </a:r>
                    </a:p>
                  </a:txBody>
                  <a:tcPr marL="45720" marR="45720" marT="18288" marB="18288" anchor="ctr">
                    <a:solidFill>
                      <a:srgbClr val="051412"/>
                    </a:solidFill>
                  </a:tcPr>
                </a:tc>
                <a:tc>
                  <a:txBody>
                    <a:bodyPr wrap="square"/>
                    <a:lstStyle/>
                    <a:p>
                      <a:pPr algn="r"/>
                      <a:r>
                        <a:rPr sz="1050" b="0">
                          <a:solidFill>
                            <a:srgbClr val="E8F2EC"/>
                          </a:solidFill>
                          <a:latin typeface="Manrope"/>
                        </a:rPr>
                        <a:t>£25k</a:t>
                      </a:r>
                    </a:p>
                  </a:txBody>
                  <a:tcPr marL="45720" marR="45720" marT="18288" marB="18288" anchor="ctr">
                    <a:solidFill>
                      <a:srgbClr val="051412"/>
                    </a:solidFill>
                  </a:tcPr>
                </a:tc>
                <a:tc>
                  <a:txBody>
                    <a:bodyPr wrap="square"/>
                    <a:lstStyle/>
                    <a:p>
                      <a:pPr algn="r"/>
                      <a:r>
                        <a:rPr sz="1050" b="0">
                          <a:solidFill>
                            <a:srgbClr val="E8F2EC"/>
                          </a:solidFill>
                          <a:latin typeface="Manrope"/>
                        </a:rPr>
                        <a:t>£28k</a:t>
                      </a:r>
                    </a:p>
                  </a:txBody>
                  <a:tcPr marL="45720" marR="45720" marT="18288" marB="18288" anchor="ctr">
                    <a:solidFill>
                      <a:srgbClr val="051412"/>
                    </a:solidFill>
                  </a:tcPr>
                </a:tc>
                <a:tc>
                  <a:txBody>
                    <a:bodyPr wrap="square"/>
                    <a:lstStyle/>
                    <a:p>
                      <a:pPr algn="r"/>
                      <a:r>
                        <a:rPr sz="1050" b="0">
                          <a:solidFill>
                            <a:srgbClr val="E8F2EC"/>
                          </a:solidFill>
                          <a:latin typeface="Manrope"/>
                        </a:rPr>
                        <a:t>£32k</a:t>
                      </a:r>
                    </a:p>
                  </a:txBody>
                  <a:tcPr marL="45720" marR="45720" marT="18288" marB="18288" anchor="ctr">
                    <a:solidFill>
                      <a:srgbClr val="051412"/>
                    </a:solidFill>
                  </a:tcPr>
                </a:tc>
                <a:tc>
                  <a:txBody>
                    <a:bodyPr wrap="square"/>
                    <a:lstStyle/>
                    <a:p>
                      <a:pPr algn="r"/>
                      <a:r>
                        <a:rPr sz="1050" b="0">
                          <a:solidFill>
                            <a:srgbClr val="E8F2EC"/>
                          </a:solidFill>
                          <a:latin typeface="Manrope"/>
                        </a:rPr>
                        <a:t>£36k</a:t>
                      </a:r>
                    </a:p>
                  </a:txBody>
                  <a:tcPr marL="45720" marR="45720" marT="18288" marB="18288" anchor="ctr">
                    <a:solidFill>
                      <a:srgbClr val="051412"/>
                    </a:solidFill>
                  </a:tcPr>
                </a:tc>
              </a:tr>
              <a:tr h="283464">
                <a:tc>
                  <a:txBody>
                    <a:bodyPr wrap="square"/>
                    <a:lstStyle/>
                    <a:p>
                      <a:pPr algn="l"/>
                      <a:r>
                        <a:rPr sz="1050" b="0">
                          <a:solidFill>
                            <a:srgbClr val="E8F2EC"/>
                          </a:solidFill>
                          <a:latin typeface="Manrope"/>
                        </a:rPr>
                        <a:t>Microsoft Ads</a:t>
                      </a:r>
                    </a:p>
                  </a:txBody>
                  <a:tcPr marL="45720" marR="45720" marT="18288" marB="18288" anchor="ctr">
                    <a:solidFill>
                      <a:srgbClr val="051412"/>
                    </a:solidFill>
                  </a:tcPr>
                </a:tc>
                <a:tc>
                  <a:txBody>
                    <a:bodyPr wrap="square"/>
                    <a:lstStyle/>
                    <a:p>
                      <a:pPr algn="r"/>
                      <a:r>
                        <a:rPr sz="1050" b="0">
                          <a:solidFill>
                            <a:srgbClr val="E8F2EC"/>
                          </a:solidFill>
                          <a:latin typeface="Manrope"/>
                        </a:rPr>
                        <a:t>£3.2k</a:t>
                      </a:r>
                    </a:p>
                  </a:txBody>
                  <a:tcPr marL="45720" marR="45720" marT="18288" marB="18288" anchor="ctr">
                    <a:solidFill>
                      <a:srgbClr val="051412"/>
                    </a:solidFill>
                  </a:tcPr>
                </a:tc>
                <a:tc>
                  <a:txBody>
                    <a:bodyPr wrap="square"/>
                    <a:lstStyle/>
                    <a:p>
                      <a:pPr algn="r"/>
                      <a:r>
                        <a:rPr sz="1050" b="0">
                          <a:solidFill>
                            <a:srgbClr val="E8F2EC"/>
                          </a:solidFill>
                          <a:latin typeface="Manrope"/>
                        </a:rPr>
                        <a:t>£5.4k</a:t>
                      </a:r>
                    </a:p>
                  </a:txBody>
                  <a:tcPr marL="45720" marR="45720" marT="18288" marB="18288" anchor="ctr">
                    <a:solidFill>
                      <a:srgbClr val="051412"/>
                    </a:solidFill>
                  </a:tcPr>
                </a:tc>
                <a:tc>
                  <a:txBody>
                    <a:bodyPr wrap="square"/>
                    <a:lstStyle/>
                    <a:p>
                      <a:pPr algn="r"/>
                      <a:r>
                        <a:rPr sz="1050" b="0">
                          <a:solidFill>
                            <a:srgbClr val="E8F2EC"/>
                          </a:solidFill>
                          <a:latin typeface="Manrope"/>
                        </a:rPr>
                        <a:t>£6k</a:t>
                      </a:r>
                    </a:p>
                  </a:txBody>
                  <a:tcPr marL="45720" marR="45720" marT="18288" marB="18288" anchor="ctr">
                    <a:solidFill>
                      <a:srgbClr val="051412"/>
                    </a:solidFill>
                  </a:tcPr>
                </a:tc>
                <a:tc>
                  <a:txBody>
                    <a:bodyPr wrap="square"/>
                    <a:lstStyle/>
                    <a:p>
                      <a:pPr algn="r"/>
                      <a:r>
                        <a:rPr sz="1050" b="0">
                          <a:solidFill>
                            <a:srgbClr val="E8F2EC"/>
                          </a:solidFill>
                          <a:latin typeface="Manrope"/>
                        </a:rPr>
                        <a:t>£7k</a:t>
                      </a:r>
                    </a:p>
                  </a:txBody>
                  <a:tcPr marL="45720" marR="45720" marT="18288" marB="18288" anchor="ctr">
                    <a:solidFill>
                      <a:srgbClr val="051412"/>
                    </a:solidFill>
                  </a:tcPr>
                </a:tc>
                <a:tc>
                  <a:txBody>
                    <a:bodyPr wrap="square"/>
                    <a:lstStyle/>
                    <a:p>
                      <a:pPr algn="r"/>
                      <a:r>
                        <a:rPr sz="1050" b="0">
                          <a:solidFill>
                            <a:srgbClr val="E8F2EC"/>
                          </a:solidFill>
                          <a:latin typeface="Manrope"/>
                        </a:rPr>
                        <a:t>£8k</a:t>
                      </a:r>
                    </a:p>
                  </a:txBody>
                  <a:tcPr marL="45720" marR="45720" marT="18288" marB="18288" anchor="ctr">
                    <a:solidFill>
                      <a:srgbClr val="051412"/>
                    </a:solidFill>
                  </a:tcPr>
                </a:tc>
              </a:tr>
              <a:tr h="283464">
                <a:tc>
                  <a:txBody>
                    <a:bodyPr wrap="square"/>
                    <a:lstStyle/>
                    <a:p>
                      <a:pPr algn="l"/>
                      <a:r>
                        <a:rPr sz="1050" b="0">
                          <a:solidFill>
                            <a:srgbClr val="E8F2EC"/>
                          </a:solidFill>
                          <a:latin typeface="Manrope"/>
                        </a:rPr>
                        <a:t>Hardwood range launch</a:t>
                      </a:r>
                    </a:p>
                  </a:txBody>
                  <a:tcPr marL="45720" marR="45720" marT="18288" marB="18288" anchor="ctr">
                    <a:solidFill>
                      <a:srgbClr val="051412"/>
                    </a:solidFill>
                  </a:tcPr>
                </a:tc>
                <a:tc>
                  <a:txBody>
                    <a:bodyPr wrap="square"/>
                    <a:lstStyle/>
                    <a:p>
                      <a:pPr algn="r"/>
                      <a:r>
                        <a:rPr sz="1050" b="0">
                          <a:solidFill>
                            <a:srgbClr val="E8F2EC"/>
                          </a:solidFill>
                          <a:latin typeface="Manrope"/>
                        </a:rPr>
                        <a:t>—</a:t>
                      </a:r>
                    </a:p>
                  </a:txBody>
                  <a:tcPr marL="45720" marR="45720" marT="18288" marB="18288" anchor="ctr">
                    <a:solidFill>
                      <a:srgbClr val="051412"/>
                    </a:solidFill>
                  </a:tcPr>
                </a:tc>
                <a:tc>
                  <a:txBody>
                    <a:bodyPr wrap="square"/>
                    <a:lstStyle/>
                    <a:p>
                      <a:pPr algn="r"/>
                      <a:r>
                        <a:rPr sz="1050" b="0">
                          <a:solidFill>
                            <a:srgbClr val="E8F2EC"/>
                          </a:solidFill>
                          <a:latin typeface="Manrope"/>
                        </a:rPr>
                        <a:t>£7k</a:t>
                      </a:r>
                    </a:p>
                  </a:txBody>
                  <a:tcPr marL="45720" marR="45720" marT="18288" marB="18288" anchor="ctr">
                    <a:solidFill>
                      <a:srgbClr val="051412"/>
                    </a:solidFill>
                  </a:tcPr>
                </a:tc>
                <a:tc>
                  <a:txBody>
                    <a:bodyPr wrap="square"/>
                    <a:lstStyle/>
                    <a:p>
                      <a:pPr algn="r"/>
                      <a:r>
                        <a:rPr sz="1050" b="0">
                          <a:solidFill>
                            <a:srgbClr val="E8F2EC"/>
                          </a:solidFill>
                          <a:latin typeface="Manrope"/>
                        </a:rPr>
                        <a:t>£8k</a:t>
                      </a:r>
                    </a:p>
                  </a:txBody>
                  <a:tcPr marL="45720" marR="45720" marT="18288" marB="18288" anchor="ctr">
                    <a:solidFill>
                      <a:srgbClr val="051412"/>
                    </a:solidFill>
                  </a:tcPr>
                </a:tc>
                <a:tc>
                  <a:txBody>
                    <a:bodyPr wrap="square"/>
                    <a:lstStyle/>
                    <a:p>
                      <a:pPr algn="r"/>
                      <a:r>
                        <a:rPr sz="1050" b="0">
                          <a:solidFill>
                            <a:srgbClr val="E8F2EC"/>
                          </a:solidFill>
                          <a:latin typeface="Manrope"/>
                        </a:rPr>
                        <a:t>£10k</a:t>
                      </a:r>
                    </a:p>
                  </a:txBody>
                  <a:tcPr marL="45720" marR="45720" marT="18288" marB="18288" anchor="ctr">
                    <a:solidFill>
                      <a:srgbClr val="051412"/>
                    </a:solidFill>
                  </a:tcPr>
                </a:tc>
                <a:tc>
                  <a:txBody>
                    <a:bodyPr wrap="square"/>
                    <a:lstStyle/>
                    <a:p>
                      <a:pPr algn="r"/>
                      <a:r>
                        <a:rPr sz="1050" b="0">
                          <a:solidFill>
                            <a:srgbClr val="E8F2EC"/>
                          </a:solidFill>
                          <a:latin typeface="Manrope"/>
                        </a:rPr>
                        <a:t>£12k</a:t>
                      </a:r>
                    </a:p>
                  </a:txBody>
                  <a:tcPr marL="45720" marR="45720" marT="18288" marB="18288" anchor="ctr">
                    <a:solidFill>
                      <a:srgbClr val="051412"/>
                    </a:solidFill>
                  </a:tcPr>
                </a:tc>
              </a:tr>
              <a:tr h="283464">
                <a:tc>
                  <a:txBody>
                    <a:bodyPr wrap="square"/>
                    <a:lstStyle/>
                    <a:p>
                      <a:pPr algn="l"/>
                      <a:r>
                        <a:rPr sz="1050" b="0">
                          <a:solidFill>
                            <a:srgbClr val="E8F2EC"/>
                          </a:solidFill>
                          <a:latin typeface="Manrope"/>
                        </a:rPr>
                        <a:t>Specification outbound</a:t>
                      </a:r>
                    </a:p>
                  </a:txBody>
                  <a:tcPr marL="45720" marR="45720" marT="18288" marB="18288" anchor="ctr">
                    <a:solidFill>
                      <a:srgbClr val="051412"/>
                    </a:solidFill>
                  </a:tcPr>
                </a:tc>
                <a:tc>
                  <a:txBody>
                    <a:bodyPr wrap="square"/>
                    <a:lstStyle/>
                    <a:p>
                      <a:pPr algn="r"/>
                      <a:r>
                        <a:rPr sz="1050" b="0">
                          <a:solidFill>
                            <a:srgbClr val="E8F2EC"/>
                          </a:solidFill>
                          <a:latin typeface="Manrope"/>
                        </a:rPr>
                        <a:t>—</a:t>
                      </a:r>
                    </a:p>
                  </a:txBody>
                  <a:tcPr marL="45720" marR="45720" marT="18288" marB="18288" anchor="ctr">
                    <a:solidFill>
                      <a:srgbClr val="051412"/>
                    </a:solidFill>
                  </a:tcPr>
                </a:tc>
                <a:tc>
                  <a:txBody>
                    <a:bodyPr wrap="square"/>
                    <a:lstStyle/>
                    <a:p>
                      <a:pPr algn="r"/>
                      <a:r>
                        <a:rPr sz="1050" b="0">
                          <a:solidFill>
                            <a:srgbClr val="E8F2EC"/>
                          </a:solidFill>
                          <a:latin typeface="Manrope"/>
                        </a:rPr>
                        <a:t>—</a:t>
                      </a:r>
                    </a:p>
                  </a:txBody>
                  <a:tcPr marL="45720" marR="45720" marT="18288" marB="18288" anchor="ctr">
                    <a:solidFill>
                      <a:srgbClr val="051412"/>
                    </a:solidFill>
                  </a:tcPr>
                </a:tc>
                <a:tc>
                  <a:txBody>
                    <a:bodyPr wrap="square"/>
                    <a:lstStyle/>
                    <a:p>
                      <a:pPr algn="r"/>
                      <a:r>
                        <a:rPr sz="1050" b="0">
                          <a:solidFill>
                            <a:srgbClr val="E8F2EC"/>
                          </a:solidFill>
                          <a:latin typeface="Manrope"/>
                        </a:rPr>
                        <a:t>—</a:t>
                      </a:r>
                    </a:p>
                  </a:txBody>
                  <a:tcPr marL="45720" marR="45720" marT="18288" marB="18288" anchor="ctr">
                    <a:solidFill>
                      <a:srgbClr val="051412"/>
                    </a:solidFill>
                  </a:tcPr>
                </a:tc>
                <a:tc>
                  <a:txBody>
                    <a:bodyPr wrap="square"/>
                    <a:lstStyle/>
                    <a:p>
                      <a:pPr algn="r"/>
                      <a:r>
                        <a:rPr sz="1050" b="0">
                          <a:solidFill>
                            <a:srgbClr val="E8F2EC"/>
                          </a:solidFill>
                          <a:latin typeface="Manrope"/>
                        </a:rPr>
                        <a:t>£3k</a:t>
                      </a:r>
                    </a:p>
                  </a:txBody>
                  <a:tcPr marL="45720" marR="45720" marT="18288" marB="18288" anchor="ctr">
                    <a:solidFill>
                      <a:srgbClr val="051412"/>
                    </a:solidFill>
                  </a:tcPr>
                </a:tc>
                <a:tc>
                  <a:txBody>
                    <a:bodyPr wrap="square"/>
                    <a:lstStyle/>
                    <a:p>
                      <a:pPr algn="r"/>
                      <a:r>
                        <a:rPr sz="1050" b="0">
                          <a:solidFill>
                            <a:srgbClr val="E8F2EC"/>
                          </a:solidFill>
                          <a:latin typeface="Manrope"/>
                        </a:rPr>
                        <a:t>£4k</a:t>
                      </a:r>
                    </a:p>
                  </a:txBody>
                  <a:tcPr marL="45720" marR="45720" marT="18288" marB="18288" anchor="ctr">
                    <a:solidFill>
                      <a:srgbClr val="051412"/>
                    </a:solidFill>
                  </a:tcPr>
                </a:tc>
              </a:tr>
              <a:tr h="283464">
                <a:tc>
                  <a:txBody>
                    <a:bodyPr wrap="square"/>
                    <a:lstStyle/>
                    <a:p>
                      <a:pPr algn="l"/>
                      <a:r>
                        <a:rPr sz="1050" b="1">
                          <a:solidFill>
                            <a:srgbClr val="8EFEBB"/>
                          </a:solidFill>
                          <a:latin typeface="Manrope"/>
                        </a:rPr>
                        <a:t>Total monthly media</a:t>
                      </a:r>
                    </a:p>
                  </a:txBody>
                  <a:tcPr marL="45720" marR="45720" marT="18288" marB="18288" anchor="ctr">
                    <a:solidFill>
                      <a:srgbClr val="0B2A24"/>
                    </a:solidFill>
                  </a:tcPr>
                </a:tc>
                <a:tc>
                  <a:txBody>
                    <a:bodyPr wrap="square"/>
                    <a:lstStyle/>
                    <a:p>
                      <a:pPr algn="r"/>
                      <a:r>
                        <a:rPr sz="1050" b="1">
                          <a:solidFill>
                            <a:srgbClr val="8EFEBB"/>
                          </a:solidFill>
                          <a:latin typeface="Manrope"/>
                        </a:rPr>
                        <a:t>£28.5k</a:t>
                      </a:r>
                    </a:p>
                  </a:txBody>
                  <a:tcPr marL="45720" marR="45720" marT="18288" marB="18288" anchor="ctr">
                    <a:solidFill>
                      <a:srgbClr val="0B2A24"/>
                    </a:solidFill>
                  </a:tcPr>
                </a:tc>
                <a:tc>
                  <a:txBody>
                    <a:bodyPr wrap="square"/>
                    <a:lstStyle/>
                    <a:p>
                      <a:pPr algn="r"/>
                      <a:r>
                        <a:rPr sz="1050" b="1">
                          <a:solidFill>
                            <a:srgbClr val="8EFEBB"/>
                          </a:solidFill>
                          <a:latin typeface="Manrope"/>
                        </a:rPr>
                        <a:t>£37.4k</a:t>
                      </a:r>
                    </a:p>
                  </a:txBody>
                  <a:tcPr marL="45720" marR="45720" marT="18288" marB="18288" anchor="ctr">
                    <a:solidFill>
                      <a:srgbClr val="0B2A24"/>
                    </a:solidFill>
                  </a:tcPr>
                </a:tc>
                <a:tc>
                  <a:txBody>
                    <a:bodyPr wrap="square"/>
                    <a:lstStyle/>
                    <a:p>
                      <a:pPr algn="r"/>
                      <a:r>
                        <a:rPr sz="1050" b="1">
                          <a:solidFill>
                            <a:srgbClr val="8EFEBB"/>
                          </a:solidFill>
                          <a:latin typeface="Manrope"/>
                        </a:rPr>
                        <a:t>£42k</a:t>
                      </a:r>
                    </a:p>
                  </a:txBody>
                  <a:tcPr marL="45720" marR="45720" marT="18288" marB="18288" anchor="ctr">
                    <a:solidFill>
                      <a:srgbClr val="0B2A24"/>
                    </a:solidFill>
                  </a:tcPr>
                </a:tc>
                <a:tc>
                  <a:txBody>
                    <a:bodyPr wrap="square"/>
                    <a:lstStyle/>
                    <a:p>
                      <a:pPr algn="r"/>
                      <a:r>
                        <a:rPr sz="1050" b="1">
                          <a:solidFill>
                            <a:srgbClr val="8EFEBB"/>
                          </a:solidFill>
                          <a:latin typeface="Manrope"/>
                        </a:rPr>
                        <a:t>£52k</a:t>
                      </a:r>
                    </a:p>
                  </a:txBody>
                  <a:tcPr marL="45720" marR="45720" marT="18288" marB="18288" anchor="ctr">
                    <a:solidFill>
                      <a:srgbClr val="0B2A24"/>
                    </a:solidFill>
                  </a:tcPr>
                </a:tc>
                <a:tc>
                  <a:txBody>
                    <a:bodyPr wrap="square"/>
                    <a:lstStyle/>
                    <a:p>
                      <a:pPr algn="r"/>
                      <a:r>
                        <a:rPr sz="1050" b="1">
                          <a:solidFill>
                            <a:srgbClr val="8EFEBB"/>
                          </a:solidFill>
                          <a:latin typeface="Manrope"/>
                        </a:rPr>
                        <a:t>£60k</a:t>
                      </a:r>
                    </a:p>
                  </a:txBody>
                  <a:tcPr marL="45720" marR="45720" marT="18288" marB="18288" anchor="ctr">
                    <a:solidFill>
                      <a:srgbClr val="0B2A24"/>
                    </a:solidFill>
                  </a:tcPr>
                </a:tc>
              </a:tr>
              <a:tr h="283464">
                <a:tc>
                  <a:txBody>
                    <a:bodyPr wrap="square"/>
                    <a:lstStyle/>
                    <a:p>
                      <a:pPr algn="l"/>
                      <a:r>
                        <a:rPr sz="1050" b="0">
                          <a:solidFill>
                            <a:srgbClr val="6B7B74"/>
                          </a:solidFill>
                          <a:latin typeface="Manrope"/>
                        </a:rPr>
                        <a:t>62% baseline trend</a:t>
                      </a:r>
                    </a:p>
                  </a:txBody>
                  <a:tcPr marL="45720" marR="45720" marT="18288" marB="18288" anchor="ctr">
                    <a:solidFill>
                      <a:srgbClr val="051412"/>
                    </a:solidFill>
                  </a:tcPr>
                </a:tc>
                <a:tc>
                  <a:txBody>
                    <a:bodyPr wrap="square"/>
                    <a:lstStyle/>
                    <a:p>
                      <a:pPr algn="r"/>
                      <a:r>
                        <a:rPr sz="1050" b="0">
                          <a:solidFill>
                            <a:srgbClr val="6B7B74"/>
                          </a:solidFill>
                          <a:latin typeface="Manrope"/>
                        </a:rPr>
                        <a:t>£285.9k</a:t>
                      </a:r>
                    </a:p>
                  </a:txBody>
                  <a:tcPr marL="45720" marR="45720" marT="18288" marB="18288" anchor="ctr">
                    <a:solidFill>
                      <a:srgbClr val="051412"/>
                    </a:solidFill>
                  </a:tcPr>
                </a:tc>
                <a:tc>
                  <a:txBody>
                    <a:bodyPr wrap="square"/>
                    <a:lstStyle/>
                    <a:p>
                      <a:pPr algn="r"/>
                      <a:r>
                        <a:rPr sz="1050" b="0">
                          <a:solidFill>
                            <a:srgbClr val="6B7B74"/>
                          </a:solidFill>
                          <a:latin typeface="Manrope"/>
                        </a:rPr>
                        <a:t>£320k</a:t>
                      </a:r>
                    </a:p>
                  </a:txBody>
                  <a:tcPr marL="45720" marR="45720" marT="18288" marB="18288" anchor="ctr">
                    <a:solidFill>
                      <a:srgbClr val="051412"/>
                    </a:solidFill>
                  </a:tcPr>
                </a:tc>
                <a:tc>
                  <a:txBody>
                    <a:bodyPr wrap="square"/>
                    <a:lstStyle/>
                    <a:p>
                      <a:pPr algn="r"/>
                      <a:r>
                        <a:rPr sz="1050" b="0">
                          <a:solidFill>
                            <a:srgbClr val="6B7B74"/>
                          </a:solidFill>
                          <a:latin typeface="Manrope"/>
                        </a:rPr>
                        <a:t>£380k</a:t>
                      </a:r>
                    </a:p>
                  </a:txBody>
                  <a:tcPr marL="45720" marR="45720" marT="18288" marB="18288" anchor="ctr">
                    <a:solidFill>
                      <a:srgbClr val="051412"/>
                    </a:solidFill>
                  </a:tcPr>
                </a:tc>
                <a:tc>
                  <a:txBody>
                    <a:bodyPr wrap="square"/>
                    <a:lstStyle/>
                    <a:p>
                      <a:pPr algn="r"/>
                      <a:r>
                        <a:rPr sz="1050" b="0">
                          <a:solidFill>
                            <a:srgbClr val="6B7B74"/>
                          </a:solidFill>
                          <a:latin typeface="Manrope"/>
                        </a:rPr>
                        <a:t>£430k</a:t>
                      </a:r>
                    </a:p>
                  </a:txBody>
                  <a:tcPr marL="45720" marR="45720" marT="18288" marB="18288" anchor="ctr">
                    <a:solidFill>
                      <a:srgbClr val="051412"/>
                    </a:solidFill>
                  </a:tcPr>
                </a:tc>
                <a:tc>
                  <a:txBody>
                    <a:bodyPr wrap="square"/>
                    <a:lstStyle/>
                    <a:p>
                      <a:pPr algn="r"/>
                      <a:r>
                        <a:rPr sz="1050" b="0">
                          <a:solidFill>
                            <a:srgbClr val="6B7B74"/>
                          </a:solidFill>
                          <a:latin typeface="Manrope"/>
                        </a:rPr>
                        <a:t>£485k</a:t>
                      </a:r>
                    </a:p>
                  </a:txBody>
                  <a:tcPr marL="45720" marR="45720" marT="18288" marB="18288" anchor="ctr">
                    <a:solidFill>
                      <a:srgbClr val="051412"/>
                    </a:solidFill>
                  </a:tcPr>
                </a:tc>
              </a:tr>
              <a:tr h="283464">
                <a:tc>
                  <a:txBody>
                    <a:bodyPr wrap="square"/>
                    <a:lstStyle/>
                    <a:p>
                      <a:pPr algn="l"/>
                      <a:r>
                        <a:rPr sz="1050" b="0">
                          <a:solidFill>
                            <a:srgbClr val="E8F2EC"/>
                          </a:solidFill>
                          <a:latin typeface="Manrope"/>
                        </a:rPr>
                        <a:t>Plan target run rate</a:t>
                      </a:r>
                    </a:p>
                  </a:txBody>
                  <a:tcPr marL="45720" marR="45720" marT="18288" marB="18288" anchor="ctr">
                    <a:solidFill>
                      <a:srgbClr val="051412"/>
                    </a:solidFill>
                  </a:tcPr>
                </a:tc>
                <a:tc>
                  <a:txBody>
                    <a:bodyPr wrap="square"/>
                    <a:lstStyle/>
                    <a:p>
                      <a:pPr algn="r"/>
                      <a:r>
                        <a:rPr sz="1050" b="0">
                          <a:solidFill>
                            <a:srgbClr val="E8F2EC"/>
                          </a:solidFill>
                          <a:latin typeface="Manrope"/>
                        </a:rPr>
                        <a:t>£285.9k</a:t>
                      </a:r>
                    </a:p>
                  </a:txBody>
                  <a:tcPr marL="45720" marR="45720" marT="18288" marB="18288" anchor="ctr">
                    <a:solidFill>
                      <a:srgbClr val="051412"/>
                    </a:solidFill>
                  </a:tcPr>
                </a:tc>
                <a:tc>
                  <a:txBody>
                    <a:bodyPr wrap="square"/>
                    <a:lstStyle/>
                    <a:p>
                      <a:pPr algn="r"/>
                      <a:r>
                        <a:rPr sz="1050" b="0">
                          <a:solidFill>
                            <a:srgbClr val="E8F2EC"/>
                          </a:solidFill>
                          <a:latin typeface="Manrope"/>
                        </a:rPr>
                        <a:t>£335k</a:t>
                      </a:r>
                    </a:p>
                  </a:txBody>
                  <a:tcPr marL="45720" marR="45720" marT="18288" marB="18288" anchor="ctr">
                    <a:solidFill>
                      <a:srgbClr val="051412"/>
                    </a:solidFill>
                  </a:tcPr>
                </a:tc>
                <a:tc>
                  <a:txBody>
                    <a:bodyPr wrap="square"/>
                    <a:lstStyle/>
                    <a:p>
                      <a:pPr algn="r"/>
                      <a:r>
                        <a:rPr sz="1050" b="0">
                          <a:solidFill>
                            <a:srgbClr val="E8F2EC"/>
                          </a:solidFill>
                          <a:latin typeface="Manrope"/>
                        </a:rPr>
                        <a:t>£400k</a:t>
                      </a:r>
                    </a:p>
                  </a:txBody>
                  <a:tcPr marL="45720" marR="45720" marT="18288" marB="18288" anchor="ctr">
                    <a:solidFill>
                      <a:srgbClr val="051412"/>
                    </a:solidFill>
                  </a:tcPr>
                </a:tc>
                <a:tc>
                  <a:txBody>
                    <a:bodyPr wrap="square"/>
                    <a:lstStyle/>
                    <a:p>
                      <a:pPr algn="r"/>
                      <a:r>
                        <a:rPr sz="1050" b="0">
                          <a:solidFill>
                            <a:srgbClr val="E8F2EC"/>
                          </a:solidFill>
                          <a:latin typeface="Manrope"/>
                        </a:rPr>
                        <a:t>£460k</a:t>
                      </a:r>
                    </a:p>
                  </a:txBody>
                  <a:tcPr marL="45720" marR="45720" marT="18288" marB="18288" anchor="ctr">
                    <a:solidFill>
                      <a:srgbClr val="051412"/>
                    </a:solidFill>
                  </a:tcPr>
                </a:tc>
                <a:tc>
                  <a:txBody>
                    <a:bodyPr wrap="square"/>
                    <a:lstStyle/>
                    <a:p>
                      <a:pPr algn="r"/>
                      <a:r>
                        <a:rPr sz="1050" b="0">
                          <a:solidFill>
                            <a:srgbClr val="E8F2EC"/>
                          </a:solidFill>
                          <a:latin typeface="Manrope"/>
                        </a:rPr>
                        <a:t>£500k</a:t>
                      </a:r>
                    </a:p>
                  </a:txBody>
                  <a:tcPr marL="45720" marR="45720" marT="18288" marB="18288" anchor="ctr">
                    <a:solidFill>
                      <a:srgbClr val="051412"/>
                    </a:solidFill>
                  </a:tcPr>
                </a:tc>
              </a:tr>
              <a:tr h="283464">
                <a:tc>
                  <a:txBody>
                    <a:bodyPr wrap="square"/>
                    <a:lstStyle/>
                    <a:p>
                      <a:pPr algn="l"/>
                      <a:r>
                        <a:rPr sz="1050" b="0">
                          <a:solidFill>
                            <a:srgbClr val="6B7B74"/>
                          </a:solidFill>
                          <a:latin typeface="Manrope"/>
                        </a:rPr>
                        <a:t>Media as % of revenue</a:t>
                      </a:r>
                    </a:p>
                  </a:txBody>
                  <a:tcPr marL="45720" marR="45720" marT="18288" marB="18288" anchor="ctr">
                    <a:solidFill>
                      <a:srgbClr val="051412"/>
                    </a:solidFill>
                  </a:tcPr>
                </a:tc>
                <a:tc>
                  <a:txBody>
                    <a:bodyPr wrap="square"/>
                    <a:lstStyle/>
                    <a:p>
                      <a:pPr algn="r"/>
                      <a:r>
                        <a:rPr sz="1050" b="0">
                          <a:solidFill>
                            <a:srgbClr val="6B7B74"/>
                          </a:solidFill>
                          <a:latin typeface="Manrope"/>
                        </a:rPr>
                        <a:t>10.0%</a:t>
                      </a:r>
                    </a:p>
                  </a:txBody>
                  <a:tcPr marL="45720" marR="45720" marT="18288" marB="18288" anchor="ctr">
                    <a:solidFill>
                      <a:srgbClr val="051412"/>
                    </a:solidFill>
                  </a:tcPr>
                </a:tc>
                <a:tc>
                  <a:txBody>
                    <a:bodyPr wrap="square"/>
                    <a:lstStyle/>
                    <a:p>
                      <a:pPr algn="r"/>
                      <a:r>
                        <a:rPr sz="1050" b="0">
                          <a:solidFill>
                            <a:srgbClr val="6B7B74"/>
                          </a:solidFill>
                          <a:latin typeface="Manrope"/>
                        </a:rPr>
                        <a:t>11.2%</a:t>
                      </a:r>
                    </a:p>
                  </a:txBody>
                  <a:tcPr marL="45720" marR="45720" marT="18288" marB="18288" anchor="ctr">
                    <a:solidFill>
                      <a:srgbClr val="051412"/>
                    </a:solidFill>
                  </a:tcPr>
                </a:tc>
                <a:tc>
                  <a:txBody>
                    <a:bodyPr wrap="square"/>
                    <a:lstStyle/>
                    <a:p>
                      <a:pPr algn="r"/>
                      <a:r>
                        <a:rPr sz="1050" b="0">
                          <a:solidFill>
                            <a:srgbClr val="6B7B74"/>
                          </a:solidFill>
                          <a:latin typeface="Manrope"/>
                        </a:rPr>
                        <a:t>10.5%</a:t>
                      </a:r>
                    </a:p>
                  </a:txBody>
                  <a:tcPr marL="45720" marR="45720" marT="18288" marB="18288" anchor="ctr">
                    <a:solidFill>
                      <a:srgbClr val="051412"/>
                    </a:solidFill>
                  </a:tcPr>
                </a:tc>
                <a:tc>
                  <a:txBody>
                    <a:bodyPr wrap="square"/>
                    <a:lstStyle/>
                    <a:p>
                      <a:pPr algn="r"/>
                      <a:r>
                        <a:rPr sz="1050" b="0">
                          <a:solidFill>
                            <a:srgbClr val="6B7B74"/>
                          </a:solidFill>
                          <a:latin typeface="Manrope"/>
                        </a:rPr>
                        <a:t>11.3%</a:t>
                      </a:r>
                    </a:p>
                  </a:txBody>
                  <a:tcPr marL="45720" marR="45720" marT="18288" marB="18288" anchor="ctr">
                    <a:solidFill>
                      <a:srgbClr val="051412"/>
                    </a:solidFill>
                  </a:tcPr>
                </a:tc>
                <a:tc>
                  <a:txBody>
                    <a:bodyPr wrap="square"/>
                    <a:lstStyle/>
                    <a:p>
                      <a:pPr algn="r"/>
                      <a:r>
                        <a:rPr sz="1050" b="0">
                          <a:solidFill>
                            <a:srgbClr val="6B7B74"/>
                          </a:solidFill>
                          <a:latin typeface="Manrope"/>
                        </a:rPr>
                        <a:t>12.0%</a:t>
                      </a:r>
                    </a:p>
                  </a:txBody>
                  <a:tcPr marL="45720" marR="45720" marT="18288" marB="18288" anchor="ctr">
                    <a:solidFill>
                      <a:srgbClr val="051412"/>
                    </a:solidFill>
                  </a:tcPr>
                </a:tc>
              </a:tr>
            </a:tbl>
          </a:graphicData>
        </a:graphic>
      </p:graphicFrame>
      <p:sp>
        <p:nvSpPr>
          <p:cNvPr id="10" name="TextBox 9"/>
          <p:cNvSpPr txBox="1"/>
          <p:nvPr/>
        </p:nvSpPr>
        <p:spPr>
          <a:xfrm>
            <a:off x="566928" y="4681728"/>
            <a:ext cx="6766560" cy="502920"/>
          </a:xfrm>
          <a:prstGeom prst="rect">
            <a:avLst/>
          </a:prstGeom>
          <a:noFill/>
        </p:spPr>
        <p:txBody>
          <a:bodyPr wrap="square" lIns="0" rIns="0" tIns="0" bIns="0">
            <a:spAutoFit/>
          </a:bodyPr>
          <a:lstStyle/>
          <a:p>
            <a:pPr>
              <a:lnSpc>
                <a:spcPct val="140000"/>
              </a:lnSpc>
              <a:spcAft>
                <a:spcPts val="0"/>
              </a:spcAft>
            </a:pPr>
            <a:r>
              <a:rPr sz="980" b="0" i="0">
                <a:solidFill>
                  <a:srgbClr val="6B7B74"/>
                </a:solidFill>
                <a:latin typeface="Manrope"/>
              </a:rPr>
              <a:t>Google Ads is held flat through Q4 deliberately: the restructure has to prove it lifts return before more money goes in, and the bot traffic has to stop before the platforms learn from clean signal. Microsoft moves first because it already returns 7–8× and is capped, not constrained by structure.</a:t>
            </a:r>
          </a:p>
        </p:txBody>
      </p:sp>
      <p:sp>
        <p:nvSpPr>
          <p:cNvPr id="11" name="Rounded Rectangle 10"/>
          <p:cNvSpPr/>
          <p:nvPr/>
        </p:nvSpPr>
        <p:spPr>
          <a:xfrm>
            <a:off x="7607808" y="2029968"/>
            <a:ext cx="4016959" cy="1298448"/>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45552" y="2194560"/>
            <a:ext cx="3559759" cy="182880"/>
          </a:xfrm>
          <a:prstGeom prst="rect">
            <a:avLst/>
          </a:prstGeom>
          <a:noFill/>
        </p:spPr>
        <p:txBody>
          <a:bodyPr wrap="square" lIns="0" rIns="0" tIns="0" bIns="0" anchor="t">
            <a:spAutoFit/>
          </a:bodyPr>
          <a:lstStyle/>
          <a:p>
            <a:pPr algn="l"/>
            <a:r>
              <a:rPr sz="850" b="1" i="0" spc="160">
                <a:solidFill>
                  <a:srgbClr val="8EFEBB"/>
                </a:solidFill>
                <a:latin typeface="Manrope"/>
              </a:rPr>
              <a:t>INCREMENTAL CASH REQUIRED OVER 12 MONTHS</a:t>
            </a:r>
          </a:p>
        </p:txBody>
      </p:sp>
      <p:sp>
        <p:nvSpPr>
          <p:cNvPr id="13" name="TextBox 12"/>
          <p:cNvSpPr txBox="1"/>
          <p:nvPr/>
        </p:nvSpPr>
        <p:spPr>
          <a:xfrm>
            <a:off x="7845552" y="2432304"/>
            <a:ext cx="3559759" cy="502920"/>
          </a:xfrm>
          <a:prstGeom prst="rect">
            <a:avLst/>
          </a:prstGeom>
          <a:noFill/>
        </p:spPr>
        <p:txBody>
          <a:bodyPr wrap="square" lIns="0" rIns="0" tIns="0" bIns="0" anchor="t">
            <a:spAutoFit/>
          </a:bodyPr>
          <a:lstStyle/>
          <a:p>
            <a:pPr algn="l"/>
            <a:r>
              <a:rPr sz="3400" b="1" i="0" spc="-60">
                <a:solidFill>
                  <a:srgbClr val="8EFEBB"/>
                </a:solidFill>
                <a:latin typeface="Manrope"/>
              </a:rPr>
              <a:t>£232k</a:t>
            </a:r>
          </a:p>
        </p:txBody>
      </p:sp>
      <p:sp>
        <p:nvSpPr>
          <p:cNvPr id="14" name="TextBox 13"/>
          <p:cNvSpPr txBox="1"/>
          <p:nvPr/>
        </p:nvSpPr>
        <p:spPr>
          <a:xfrm>
            <a:off x="7845552" y="2926080"/>
            <a:ext cx="3559759" cy="36576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Cumulative additional media above today's run rate, phased. The monthly step is £8.9k in Q4 rising to £31.5k by Q3 — paid in arrears.</a:t>
            </a:r>
          </a:p>
        </p:txBody>
      </p:sp>
      <p:sp>
        <p:nvSpPr>
          <p:cNvPr id="15" name="Rounded Rectangle 14"/>
          <p:cNvSpPr/>
          <p:nvPr/>
        </p:nvSpPr>
        <p:spPr>
          <a:xfrm>
            <a:off x="7607808" y="3456432"/>
            <a:ext cx="4016959" cy="86868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45552" y="3602736"/>
            <a:ext cx="3559759" cy="182880"/>
          </a:xfrm>
          <a:prstGeom prst="rect">
            <a:avLst/>
          </a:prstGeom>
          <a:noFill/>
        </p:spPr>
        <p:txBody>
          <a:bodyPr wrap="square" lIns="0" rIns="0" tIns="0" bIns="0" anchor="t">
            <a:spAutoFit/>
          </a:bodyPr>
          <a:lstStyle/>
          <a:p>
            <a:pPr algn="l"/>
            <a:r>
              <a:rPr sz="850" b="1" i="0" spc="160">
                <a:solidFill>
                  <a:srgbClr val="6B7B74"/>
                </a:solidFill>
                <a:latin typeface="Manrope"/>
              </a:rPr>
              <a:t>NOT INCLUDED — TO BE QUOTED SEPARATELY</a:t>
            </a:r>
          </a:p>
        </p:txBody>
      </p:sp>
      <p:sp>
        <p:nvSpPr>
          <p:cNvPr id="17" name="TextBox 16"/>
          <p:cNvSpPr txBox="1"/>
          <p:nvPr/>
        </p:nvSpPr>
        <p:spPr>
          <a:xfrm>
            <a:off x="7845552" y="3840480"/>
            <a:ext cx="3559759" cy="41148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NBS Source listing fee, sample box production and fulfilment, CAD and detail drawing production, creator fees and content day costs, photography.</a:t>
            </a:r>
          </a:p>
        </p:txBody>
      </p:sp>
      <p:sp>
        <p:nvSpPr>
          <p:cNvPr id="18" name="Rounded Rectangle 17"/>
          <p:cNvSpPr/>
          <p:nvPr/>
        </p:nvSpPr>
        <p:spPr>
          <a:xfrm>
            <a:off x="7607808" y="4453128"/>
            <a:ext cx="4016959" cy="1325880"/>
          </a:xfrm>
          <a:prstGeom prst="roundRect">
            <a:avLst>
              <a:gd name="adj" fmla="val 4500"/>
            </a:avLst>
          </a:prstGeom>
          <a:solidFill>
            <a:srgbClr val="2A2410"/>
          </a:solidFill>
          <a:ln w="9525">
            <a:solidFill>
              <a:srgbClr val="F5D6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45552" y="4617720"/>
            <a:ext cx="3559759" cy="274320"/>
          </a:xfrm>
          <a:prstGeom prst="rect">
            <a:avLst/>
          </a:prstGeom>
          <a:noFill/>
        </p:spPr>
        <p:txBody>
          <a:bodyPr wrap="square" lIns="0" rIns="0" tIns="0" bIns="0" anchor="t">
            <a:spAutoFit/>
          </a:bodyPr>
          <a:lstStyle/>
          <a:p>
            <a:pPr algn="l"/>
            <a:r>
              <a:rPr sz="1250" b="1" i="0">
                <a:solidFill>
                  <a:srgbClr val="F5D674"/>
                </a:solidFill>
                <a:latin typeface="Manrope"/>
              </a:rPr>
              <a:t>The caveat that matters</a:t>
            </a:r>
          </a:p>
        </p:txBody>
      </p:sp>
      <p:sp>
        <p:nvSpPr>
          <p:cNvPr id="20" name="TextBox 19"/>
          <p:cNvSpPr txBox="1"/>
          <p:nvPr/>
        </p:nvSpPr>
        <p:spPr>
          <a:xfrm>
            <a:off x="7845552" y="4946904"/>
            <a:ext cx="3559759" cy="731520"/>
          </a:xfrm>
          <a:prstGeom prst="rect">
            <a:avLst/>
          </a:prstGeom>
          <a:noFill/>
        </p:spPr>
        <p:txBody>
          <a:bodyPr wrap="square" lIns="0" rIns="0" tIns="0" bIns="0">
            <a:spAutoFit/>
          </a:bodyPr>
          <a:lstStyle/>
          <a:p>
            <a:pPr>
              <a:lnSpc>
                <a:spcPct val="138000"/>
              </a:lnSpc>
              <a:spcAft>
                <a:spcPts val="0"/>
              </a:spcAft>
            </a:pPr>
            <a:r>
              <a:rPr sz="1019" b="0" i="0">
                <a:solidFill>
                  <a:srgbClr val="B9C7C0"/>
                </a:solidFill>
                <a:latin typeface="Manrope"/>
              </a:rPr>
              <a:t>This table is </a:t>
            </a:r>
            <a:r>
              <a:rPr sz="1019" b="1" i="0">
                <a:solidFill>
                  <a:srgbClr val="FFFFFF"/>
                </a:solidFill>
                <a:latin typeface="Manrope"/>
              </a:rPr>
              <a:t>ROAS-led, not margin-led</a:t>
            </a:r>
            <a:r>
              <a:rPr sz="1019" b="0" i="0">
                <a:solidFill>
                  <a:srgbClr val="B9C7C0"/>
                </a:solidFill>
                <a:latin typeface="Manrope"/>
              </a:rPr>
              <a:t>. Product cost data by category is now the only real blocker left in the whole analysis. The moment it lands, this gets rebuilt on contribution — and the mix will change.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16 · WHAT WE NEED</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Three of the four gaps are now </a:t>
            </a:r>
            <a:r>
              <a:rPr sz="2700" b="1" i="1" spc="-70">
                <a:solidFill>
                  <a:srgbClr val="8EFEBB"/>
                </a:solidFill>
                <a:latin typeface="Instrument Serif"/>
              </a:rPr>
              <a:t>closed</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The re-authorised app on 9 September shut them at a stroke. What remains is short — and two new items came out of the analysis.</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21</a:t>
            </a:r>
          </a:p>
        </p:txBody>
      </p:sp>
      <p:sp>
        <p:nvSpPr>
          <p:cNvPr id="9" name="Rounded Rectangle 8"/>
          <p:cNvSpPr/>
          <p:nvPr/>
        </p:nvSpPr>
        <p:spPr>
          <a:xfrm>
            <a:off x="566928" y="2029968"/>
            <a:ext cx="5852160" cy="77724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4672" y="2212848"/>
            <a:ext cx="5394960" cy="457200"/>
          </a:xfrm>
          <a:prstGeom prst="rect">
            <a:avLst/>
          </a:prstGeom>
          <a:noFill/>
        </p:spPr>
        <p:txBody>
          <a:bodyPr wrap="square" lIns="0" rIns="0" tIns="0" bIns="0">
            <a:spAutoFit/>
          </a:bodyPr>
          <a:lstStyle/>
          <a:p>
            <a:pPr>
              <a:lnSpc>
                <a:spcPct val="135000"/>
              </a:lnSpc>
              <a:spcAft>
                <a:spcPts val="0"/>
              </a:spcAft>
            </a:pPr>
            <a:r>
              <a:rPr sz="1100" b="1" i="0">
                <a:solidFill>
                  <a:srgbClr val="8EFEBB"/>
                </a:solidFill>
                <a:latin typeface="Manrope"/>
              </a:rPr>
              <a:t>Closed since the last pull. </a:t>
            </a:r>
            <a:r>
              <a:rPr sz="1100" b="0" i="0">
                <a:solidFill>
                  <a:srgbClr val="B9C7C0"/>
                </a:solidFill>
                <a:latin typeface="Manrope"/>
              </a:rPr>
              <a:t>The MRM Agent app was re-authorised with 42 scopes on 9 September.</a:t>
            </a:r>
          </a:p>
        </p:txBody>
      </p:sp>
      <p:sp>
        <p:nvSpPr>
          <p:cNvPr id="11" name="Rounded Rectangle 10"/>
          <p:cNvSpPr/>
          <p:nvPr/>
        </p:nvSpPr>
        <p:spPr>
          <a:xfrm>
            <a:off x="566928" y="2944368"/>
            <a:ext cx="5852160" cy="86868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3072384"/>
            <a:ext cx="365760" cy="201168"/>
          </a:xfrm>
          <a:prstGeom prst="rect">
            <a:avLst/>
          </a:prstGeom>
          <a:noFill/>
        </p:spPr>
        <p:txBody>
          <a:bodyPr wrap="square" lIns="0" rIns="0" tIns="0" bIns="0" anchor="t">
            <a:spAutoFit/>
          </a:bodyPr>
          <a:lstStyle/>
          <a:p>
            <a:pPr algn="l"/>
            <a:r>
              <a:rPr sz="900" b="1" i="0">
                <a:solidFill>
                  <a:srgbClr val="8EFEBB"/>
                </a:solidFill>
                <a:latin typeface="Manrope"/>
              </a:rPr>
              <a:t>01</a:t>
            </a:r>
          </a:p>
        </p:txBody>
      </p:sp>
      <p:sp>
        <p:nvSpPr>
          <p:cNvPr id="13" name="TextBox 12"/>
          <p:cNvSpPr txBox="1"/>
          <p:nvPr/>
        </p:nvSpPr>
        <p:spPr>
          <a:xfrm>
            <a:off x="1170432" y="3063240"/>
            <a:ext cx="5029200" cy="219456"/>
          </a:xfrm>
          <a:prstGeom prst="rect">
            <a:avLst/>
          </a:prstGeom>
          <a:noFill/>
        </p:spPr>
        <p:txBody>
          <a:bodyPr wrap="square" lIns="0" rIns="0" tIns="0" bIns="0" anchor="t">
            <a:spAutoFit/>
          </a:bodyPr>
          <a:lstStyle/>
          <a:p>
            <a:pPr algn="l"/>
            <a:r>
              <a:rPr sz="1150" b="1" i="0">
                <a:solidFill>
                  <a:srgbClr val="FFFFFF"/>
                </a:solidFill>
                <a:latin typeface="Manrope"/>
              </a:rPr>
              <a:t>Order history — closed</a:t>
            </a:r>
          </a:p>
        </p:txBody>
      </p:sp>
      <p:sp>
        <p:nvSpPr>
          <p:cNvPr id="14" name="TextBox 13"/>
          <p:cNvSpPr txBox="1"/>
          <p:nvPr/>
        </p:nvSpPr>
        <p:spPr>
          <a:xfrm>
            <a:off x="1170432" y="3328416"/>
            <a:ext cx="5029200" cy="41148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The Admin API is still capped at 60 days, but Shopify's analytics dataset bypasses it entirely. Twenty-four months of sales are in hand — where the 4.36× figure comes from.</a:t>
            </a:r>
          </a:p>
        </p:txBody>
      </p:sp>
      <p:sp>
        <p:nvSpPr>
          <p:cNvPr id="15" name="Rounded Rectangle 14"/>
          <p:cNvSpPr/>
          <p:nvPr/>
        </p:nvSpPr>
        <p:spPr>
          <a:xfrm>
            <a:off x="566928" y="3904488"/>
            <a:ext cx="5852160" cy="86868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6384" y="4032504"/>
            <a:ext cx="365760" cy="201168"/>
          </a:xfrm>
          <a:prstGeom prst="rect">
            <a:avLst/>
          </a:prstGeom>
          <a:noFill/>
        </p:spPr>
        <p:txBody>
          <a:bodyPr wrap="square" lIns="0" rIns="0" tIns="0" bIns="0" anchor="t">
            <a:spAutoFit/>
          </a:bodyPr>
          <a:lstStyle/>
          <a:p>
            <a:pPr algn="l"/>
            <a:r>
              <a:rPr sz="900" b="1" i="0">
                <a:solidFill>
                  <a:srgbClr val="8EFEBB"/>
                </a:solidFill>
                <a:latin typeface="Manrope"/>
              </a:rPr>
              <a:t>02</a:t>
            </a:r>
          </a:p>
        </p:txBody>
      </p:sp>
      <p:sp>
        <p:nvSpPr>
          <p:cNvPr id="17" name="TextBox 16"/>
          <p:cNvSpPr txBox="1"/>
          <p:nvPr/>
        </p:nvSpPr>
        <p:spPr>
          <a:xfrm>
            <a:off x="1170432" y="4023360"/>
            <a:ext cx="5029200" cy="219456"/>
          </a:xfrm>
          <a:prstGeom prst="rect">
            <a:avLst/>
          </a:prstGeom>
          <a:noFill/>
        </p:spPr>
        <p:txBody>
          <a:bodyPr wrap="square" lIns="0" rIns="0" tIns="0" bIns="0" anchor="t">
            <a:spAutoFit/>
          </a:bodyPr>
          <a:lstStyle/>
          <a:p>
            <a:pPr algn="l"/>
            <a:r>
              <a:rPr sz="1150" b="1" i="0">
                <a:solidFill>
                  <a:srgbClr val="FFFFFF"/>
                </a:solidFill>
                <a:latin typeface="Manrope"/>
              </a:rPr>
              <a:t>Customer data — closed</a:t>
            </a:r>
          </a:p>
        </p:txBody>
      </p:sp>
      <p:sp>
        <p:nvSpPr>
          <p:cNvPr id="18" name="TextBox 17"/>
          <p:cNvSpPr txBox="1"/>
          <p:nvPr/>
        </p:nvSpPr>
        <p:spPr>
          <a:xfrm>
            <a:off x="1170432" y="4288536"/>
            <a:ext cx="5029200" cy="41148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All 15,582 records read. Repeat rate, lifetime value and revenue concentration are now measured, not estimated.</a:t>
            </a:r>
          </a:p>
        </p:txBody>
      </p:sp>
      <p:sp>
        <p:nvSpPr>
          <p:cNvPr id="19" name="Rounded Rectangle 18"/>
          <p:cNvSpPr/>
          <p:nvPr/>
        </p:nvSpPr>
        <p:spPr>
          <a:xfrm>
            <a:off x="566928" y="4864608"/>
            <a:ext cx="5852160" cy="868680"/>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6384" y="4992624"/>
            <a:ext cx="365760" cy="201168"/>
          </a:xfrm>
          <a:prstGeom prst="rect">
            <a:avLst/>
          </a:prstGeom>
          <a:noFill/>
        </p:spPr>
        <p:txBody>
          <a:bodyPr wrap="square" lIns="0" rIns="0" tIns="0" bIns="0" anchor="t">
            <a:spAutoFit/>
          </a:bodyPr>
          <a:lstStyle/>
          <a:p>
            <a:pPr algn="l"/>
            <a:r>
              <a:rPr sz="900" b="1" i="0">
                <a:solidFill>
                  <a:srgbClr val="8EFEBB"/>
                </a:solidFill>
                <a:latin typeface="Manrope"/>
              </a:rPr>
              <a:t>03</a:t>
            </a:r>
          </a:p>
        </p:txBody>
      </p:sp>
      <p:sp>
        <p:nvSpPr>
          <p:cNvPr id="21" name="TextBox 20"/>
          <p:cNvSpPr txBox="1"/>
          <p:nvPr/>
        </p:nvSpPr>
        <p:spPr>
          <a:xfrm>
            <a:off x="1170432" y="4983480"/>
            <a:ext cx="5029200" cy="219456"/>
          </a:xfrm>
          <a:prstGeom prst="rect">
            <a:avLst/>
          </a:prstGeom>
          <a:noFill/>
        </p:spPr>
        <p:txBody>
          <a:bodyPr wrap="square" lIns="0" rIns="0" tIns="0" bIns="0" anchor="t">
            <a:spAutoFit/>
          </a:bodyPr>
          <a:lstStyle/>
          <a:p>
            <a:pPr algn="l"/>
            <a:r>
              <a:rPr sz="1150" b="1" i="0">
                <a:solidFill>
                  <a:srgbClr val="FFFFFF"/>
                </a:solidFill>
                <a:latin typeface="Manrope"/>
              </a:rPr>
              <a:t>Conversion rate — closed</a:t>
            </a:r>
          </a:p>
        </p:txBody>
      </p:sp>
      <p:sp>
        <p:nvSpPr>
          <p:cNvPr id="22" name="TextBox 21"/>
          <p:cNvSpPr txBox="1"/>
          <p:nvPr/>
        </p:nvSpPr>
        <p:spPr>
          <a:xfrm>
            <a:off x="1170432" y="5248656"/>
            <a:ext cx="5029200" cy="411480"/>
          </a:xfrm>
          <a:prstGeom prst="rect">
            <a:avLst/>
          </a:prstGeom>
          <a:noFill/>
        </p:spPr>
        <p:txBody>
          <a:bodyPr wrap="square" lIns="0" rIns="0" tIns="0" bIns="0">
            <a:spAutoFit/>
          </a:bodyPr>
          <a:lstStyle/>
          <a:p>
            <a:pPr>
              <a:lnSpc>
                <a:spcPct val="132000"/>
              </a:lnSpc>
              <a:spcAft>
                <a:spcPts val="0"/>
              </a:spcAft>
            </a:pPr>
            <a:r>
              <a:rPr sz="960" b="0" i="0">
                <a:solidFill>
                  <a:srgbClr val="B9C7C0"/>
                </a:solidFill>
                <a:latin typeface="Manrope"/>
              </a:rPr>
              <a:t>Measured at 1.45% across eleven clean months, with the bot contamination that would have corrupted it documented and quantified.</a:t>
            </a:r>
          </a:p>
        </p:txBody>
      </p:sp>
      <p:sp>
        <p:nvSpPr>
          <p:cNvPr id="23" name="Rounded Rectangle 22"/>
          <p:cNvSpPr/>
          <p:nvPr/>
        </p:nvSpPr>
        <p:spPr>
          <a:xfrm>
            <a:off x="6693408" y="2029968"/>
            <a:ext cx="4931359" cy="1371600"/>
          </a:xfrm>
          <a:prstGeom prst="roundRect">
            <a:avLst>
              <a:gd name="adj" fmla="val 4500"/>
            </a:avLst>
          </a:prstGeom>
          <a:solidFill>
            <a:srgbClr val="09221F"/>
          </a:solidFill>
          <a:ln w="95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31152" y="2176272"/>
            <a:ext cx="3675888" cy="214884"/>
          </a:xfrm>
          <a:prstGeom prst="roundRect">
            <a:avLst>
              <a:gd name="adj" fmla="val 50000"/>
            </a:avLst>
          </a:prstGeom>
          <a:solidFill>
            <a:srgbClr val="0E2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750" b="1" spc="140">
                <a:solidFill>
                  <a:srgbClr val="EF4444"/>
                </a:solidFill>
                <a:latin typeface="Manrope"/>
              </a:rPr>
              <a:t>STILL OPEN — THE ONLY REAL BLOCKER</a:t>
            </a:r>
          </a:p>
        </p:txBody>
      </p:sp>
      <p:sp>
        <p:nvSpPr>
          <p:cNvPr id="25" name="TextBox 24"/>
          <p:cNvSpPr txBox="1"/>
          <p:nvPr/>
        </p:nvSpPr>
        <p:spPr>
          <a:xfrm>
            <a:off x="6931152" y="2505456"/>
            <a:ext cx="4474159" cy="256032"/>
          </a:xfrm>
          <a:prstGeom prst="rect">
            <a:avLst/>
          </a:prstGeom>
          <a:noFill/>
        </p:spPr>
        <p:txBody>
          <a:bodyPr wrap="square" lIns="0" rIns="0" tIns="0" bIns="0" anchor="t">
            <a:spAutoFit/>
          </a:bodyPr>
          <a:lstStyle/>
          <a:p>
            <a:pPr algn="l"/>
            <a:r>
              <a:rPr sz="1250" b="1" i="0">
                <a:solidFill>
                  <a:srgbClr val="FFFFFF"/>
                </a:solidFill>
                <a:latin typeface="Manrope"/>
              </a:rPr>
              <a:t>Ad spend and product margin</a:t>
            </a:r>
          </a:p>
        </p:txBody>
      </p:sp>
      <p:sp>
        <p:nvSpPr>
          <p:cNvPr id="26" name="TextBox 25"/>
          <p:cNvSpPr txBox="1"/>
          <p:nvPr/>
        </p:nvSpPr>
        <p:spPr>
          <a:xfrm>
            <a:off x="6931152" y="2798064"/>
            <a:ext cx="4474159" cy="548640"/>
          </a:xfrm>
          <a:prstGeom prst="rect">
            <a:avLst/>
          </a:prstGeom>
          <a:noFill/>
        </p:spPr>
        <p:txBody>
          <a:bodyPr wrap="square" lIns="0" rIns="0" tIns="0" bIns="0">
            <a:spAutoFit/>
          </a:bodyPr>
          <a:lstStyle/>
          <a:p>
            <a:pPr>
              <a:lnSpc>
                <a:spcPct val="135000"/>
              </a:lnSpc>
              <a:spcAft>
                <a:spcPts val="0"/>
              </a:spcAft>
            </a:pPr>
            <a:r>
              <a:rPr sz="1000" b="0" i="0">
                <a:solidFill>
                  <a:srgbClr val="B9C7C0"/>
                </a:solidFill>
                <a:latin typeface="Manrope"/>
              </a:rPr>
              <a:t>No Meta access and no product cost data. Without both there is no true ROAS, no acquisition cost, and no way to convert a revenue target into a budget. </a:t>
            </a:r>
            <a:r>
              <a:rPr sz="1000" b="1" i="0">
                <a:solidFill>
                  <a:srgbClr val="FFFFFF"/>
                </a:solidFill>
                <a:latin typeface="Manrope"/>
              </a:rPr>
              <a:t>Everything else needed to build the forecast is now available.</a:t>
            </a:r>
          </a:p>
        </p:txBody>
      </p:sp>
      <p:sp>
        <p:nvSpPr>
          <p:cNvPr id="27" name="Rounded Rectangle 26"/>
          <p:cNvSpPr/>
          <p:nvPr/>
        </p:nvSpPr>
        <p:spPr>
          <a:xfrm>
            <a:off x="6693408" y="3529584"/>
            <a:ext cx="4931359" cy="1188720"/>
          </a:xfrm>
          <a:prstGeom prst="roundRect">
            <a:avLst>
              <a:gd name="adj" fmla="val 4500"/>
            </a:avLst>
          </a:prstGeom>
          <a:solidFill>
            <a:srgbClr val="2A2410"/>
          </a:solidFill>
          <a:ln w="9525">
            <a:solidFill>
              <a:srgbClr val="F5D6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31152" y="3675888"/>
            <a:ext cx="4474159" cy="256032"/>
          </a:xfrm>
          <a:prstGeom prst="rect">
            <a:avLst/>
          </a:prstGeom>
          <a:noFill/>
        </p:spPr>
        <p:txBody>
          <a:bodyPr wrap="square" lIns="0" rIns="0" tIns="0" bIns="0" anchor="t">
            <a:spAutoFit/>
          </a:bodyPr>
          <a:lstStyle/>
          <a:p>
            <a:pPr algn="l"/>
            <a:r>
              <a:rPr sz="1250" b="1" i="0">
                <a:solidFill>
                  <a:srgbClr val="F5D674"/>
                </a:solidFill>
                <a:latin typeface="Manrope"/>
              </a:rPr>
              <a:t>Two things to add to your own list</a:t>
            </a:r>
          </a:p>
        </p:txBody>
      </p:sp>
      <p:sp>
        <p:nvSpPr>
          <p:cNvPr id="29" name="TextBox 28"/>
          <p:cNvSpPr txBox="1"/>
          <p:nvPr/>
        </p:nvSpPr>
        <p:spPr>
          <a:xfrm>
            <a:off x="6931152" y="3968496"/>
            <a:ext cx="4474159" cy="640080"/>
          </a:xfrm>
          <a:prstGeom prst="rect">
            <a:avLst/>
          </a:prstGeom>
          <a:noFill/>
        </p:spPr>
        <p:txBody>
          <a:bodyPr wrap="square" lIns="0" rIns="0" tIns="0" bIns="0">
            <a:spAutoFit/>
          </a:bodyPr>
          <a:lstStyle/>
          <a:p>
            <a:pPr>
              <a:lnSpc>
                <a:spcPct val="135000"/>
              </a:lnSpc>
              <a:spcAft>
                <a:spcPts val="0"/>
              </a:spcAft>
            </a:pPr>
            <a:r>
              <a:rPr sz="1000" b="1" i="0">
                <a:solidFill>
                  <a:srgbClr val="FFFFFF"/>
                </a:solidFill>
                <a:latin typeface="Manrope"/>
              </a:rPr>
              <a:t>The bot traffic needs stopping before any paid budget is set</a:t>
            </a:r>
            <a:r>
              <a:rPr sz="1000" b="0" i="0">
                <a:solidFill>
                  <a:srgbClr val="B9C7C0"/>
                </a:solidFill>
                <a:latin typeface="Manrope"/>
              </a:rPr>
              <a:t>, because it is corrupting the optimisation signal those platforms learn from. And the absence of any trade or email programme is the cheapest gap on the page to close.</a:t>
            </a:r>
          </a:p>
        </p:txBody>
      </p:sp>
      <p:sp>
        <p:nvSpPr>
          <p:cNvPr id="30" name="Rounded Rectangle 29"/>
          <p:cNvSpPr/>
          <p:nvPr/>
        </p:nvSpPr>
        <p:spPr>
          <a:xfrm>
            <a:off x="6693408" y="4846320"/>
            <a:ext cx="4931359" cy="932688"/>
          </a:xfrm>
          <a:prstGeom prst="roundRect">
            <a:avLst>
              <a:gd name="adj" fmla="val 4500"/>
            </a:avLst>
          </a:prstGeom>
          <a:solidFill>
            <a:srgbClr val="09221F"/>
          </a:solidFill>
          <a:ln w="9525">
            <a:solidFill>
              <a:srgbClr val="143A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931152" y="4974336"/>
            <a:ext cx="4474159" cy="182880"/>
          </a:xfrm>
          <a:prstGeom prst="rect">
            <a:avLst/>
          </a:prstGeom>
          <a:noFill/>
        </p:spPr>
        <p:txBody>
          <a:bodyPr wrap="square" lIns="0" rIns="0" tIns="0" bIns="0" anchor="t">
            <a:spAutoFit/>
          </a:bodyPr>
          <a:lstStyle/>
          <a:p>
            <a:pPr algn="l"/>
            <a:r>
              <a:rPr sz="850" b="1" i="0" spc="160">
                <a:solidFill>
                  <a:srgbClr val="6B7B74"/>
                </a:solidFill>
                <a:latin typeface="Manrope"/>
              </a:rPr>
              <a:t>DECISIONS WE NEED FROM YOU</a:t>
            </a:r>
          </a:p>
        </p:txBody>
      </p:sp>
      <p:sp>
        <p:nvSpPr>
          <p:cNvPr id="32" name="TextBox 31"/>
          <p:cNvSpPr txBox="1"/>
          <p:nvPr/>
        </p:nvSpPr>
        <p:spPr>
          <a:xfrm>
            <a:off x="6931152" y="5175504"/>
            <a:ext cx="4474159" cy="548640"/>
          </a:xfrm>
          <a:prstGeom prst="rect">
            <a:avLst/>
          </a:prstGeom>
          <a:noFill/>
        </p:spPr>
        <p:txBody>
          <a:bodyPr wrap="square" lIns="0" rIns="0" tIns="0" bIns="0">
            <a:spAutoFit/>
          </a:bodyPr>
          <a:lstStyle/>
          <a:p>
            <a:pPr>
              <a:lnSpc>
                <a:spcPct val="132000"/>
              </a:lnSpc>
              <a:spcAft>
                <a:spcPts val="200"/>
              </a:spcAft>
            </a:pPr>
            <a:r>
              <a:rPr sz="919" b="1">
                <a:solidFill>
                  <a:srgbClr val="8EFEBB"/>
                </a:solidFill>
                <a:latin typeface="Manrope"/>
              </a:rPr>
              <a:t>•  </a:t>
            </a:r>
            <a:r>
              <a:rPr sz="919" b="0">
                <a:solidFill>
                  <a:srgbClr val="B9C7C0"/>
                </a:solidFill>
                <a:latin typeface="Manrope"/>
              </a:rPr>
              <a:t>Approve the release of waves 0–4 to production</a:t>
            </a:r>
          </a:p>
          <a:p>
            <a:pPr>
              <a:lnSpc>
                <a:spcPct val="132000"/>
              </a:lnSpc>
              <a:spcAft>
                <a:spcPts val="200"/>
              </a:spcAft>
            </a:pPr>
            <a:r>
              <a:rPr sz="919" b="1">
                <a:solidFill>
                  <a:srgbClr val="8EFEBB"/>
                </a:solidFill>
                <a:latin typeface="Manrope"/>
              </a:rPr>
              <a:t>•  </a:t>
            </a:r>
            <a:r>
              <a:rPr sz="919" b="0">
                <a:solidFill>
                  <a:srgbClr val="B9C7C0"/>
                </a:solidFill>
                <a:latin typeface="Manrope"/>
              </a:rPr>
              <a:t>Sign-off on the range name: Solid Hardwood</a:t>
            </a:r>
          </a:p>
          <a:p>
            <a:pPr>
              <a:lnSpc>
                <a:spcPct val="132000"/>
              </a:lnSpc>
              <a:spcAft>
                <a:spcPts val="200"/>
              </a:spcAft>
            </a:pPr>
            <a:r>
              <a:rPr sz="919" b="1">
                <a:solidFill>
                  <a:srgbClr val="8EFEBB"/>
                </a:solidFill>
                <a:latin typeface="Manrope"/>
              </a:rPr>
              <a:t>•  </a:t>
            </a:r>
            <a:r>
              <a:rPr sz="919" b="0">
                <a:solidFill>
                  <a:srgbClr val="B9C7C0"/>
                </a:solidFill>
                <a:latin typeface="Manrope"/>
              </a:rPr>
              <a:t>Final product images for the 79 products in draft</a:t>
            </a:r>
          </a:p>
          <a:p>
            <a:pPr>
              <a:lnSpc>
                <a:spcPct val="132000"/>
              </a:lnSpc>
              <a:spcAft>
                <a:spcPts val="200"/>
              </a:spcAft>
            </a:pPr>
            <a:r>
              <a:rPr sz="919" b="1">
                <a:solidFill>
                  <a:srgbClr val="8EFEBB"/>
                </a:solidFill>
                <a:latin typeface="Manrope"/>
              </a:rPr>
              <a:t>•  </a:t>
            </a:r>
            <a:r>
              <a:rPr sz="919" b="0">
                <a:solidFill>
                  <a:srgbClr val="B9C7C0"/>
                </a:solidFill>
                <a:latin typeface="Manrope"/>
              </a:rPr>
              <a:t>Product cost data by category, and Meta access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20624"/>
            <a:ext cx="11057839" cy="182880"/>
          </a:xfrm>
          <a:prstGeom prst="rect">
            <a:avLst/>
          </a:prstGeom>
          <a:noFill/>
        </p:spPr>
        <p:txBody>
          <a:bodyPr wrap="square" lIns="0" rIns="0" tIns="0" bIns="0" anchor="t">
            <a:spAutoFit/>
          </a:bodyPr>
          <a:lstStyle/>
          <a:p>
            <a:pPr algn="l"/>
            <a:r>
              <a:rPr sz="900" b="1" i="0" spc="160">
                <a:solidFill>
                  <a:srgbClr val="8EFEBB"/>
                </a:solidFill>
                <a:latin typeface="Manrope"/>
              </a:rPr>
              <a:t>17 · NEXT</a:t>
            </a:r>
          </a:p>
        </p:txBody>
      </p:sp>
      <p:sp>
        <p:nvSpPr>
          <p:cNvPr id="4" name="TextBox 3"/>
          <p:cNvSpPr txBox="1"/>
          <p:nvPr/>
        </p:nvSpPr>
        <p:spPr>
          <a:xfrm>
            <a:off x="566928" y="694944"/>
            <a:ext cx="11057839" cy="640080"/>
          </a:xfrm>
          <a:prstGeom prst="rect">
            <a:avLst/>
          </a:prstGeom>
          <a:noFill/>
        </p:spPr>
        <p:txBody>
          <a:bodyPr wrap="square" lIns="0" rIns="0" tIns="0" bIns="0" anchor="t">
            <a:spAutoFit/>
          </a:bodyPr>
          <a:lstStyle/>
          <a:p>
            <a:pPr algn="l"/>
            <a:r>
              <a:rPr sz="2700" b="1" i="0" spc="-70">
                <a:solidFill>
                  <a:srgbClr val="FFFFFF"/>
                </a:solidFill>
                <a:latin typeface="Manrope"/>
              </a:rPr>
              <a:t>The first thirty </a:t>
            </a:r>
            <a:r>
              <a:rPr sz="2700" b="1" i="1" spc="-70">
                <a:solidFill>
                  <a:srgbClr val="8EFEBB"/>
                </a:solidFill>
                <a:latin typeface="Instrument Serif"/>
              </a:rPr>
              <a:t>days</a:t>
            </a:r>
          </a:p>
        </p:txBody>
      </p:sp>
      <p:sp>
        <p:nvSpPr>
          <p:cNvPr id="5" name="TextBox 4"/>
          <p:cNvSpPr txBox="1"/>
          <p:nvPr/>
        </p:nvSpPr>
        <p:spPr>
          <a:xfrm>
            <a:off x="566928" y="1389888"/>
            <a:ext cx="10692079" cy="457200"/>
          </a:xfrm>
          <a:prstGeom prst="rect">
            <a:avLst/>
          </a:prstGeom>
          <a:noFill/>
        </p:spPr>
        <p:txBody>
          <a:bodyPr wrap="square" lIns="0" rIns="0" tIns="0" bIns="0">
            <a:spAutoFit/>
          </a:bodyPr>
          <a:lstStyle/>
          <a:p>
            <a:pPr>
              <a:lnSpc>
                <a:spcPct val="135000"/>
              </a:lnSpc>
              <a:spcAft>
                <a:spcPts val="0"/>
              </a:spcAft>
            </a:pPr>
            <a:r>
              <a:rPr sz="1200" b="0" i="0">
                <a:solidFill>
                  <a:srgbClr val="B9C7C0"/>
                </a:solidFill>
                <a:latin typeface="Manrope"/>
              </a:rPr>
              <a:t>Owners and dates. The first two actions cost nothing and are worth more than everything below them.</a:t>
            </a:r>
          </a:p>
        </p:txBody>
      </p:sp>
      <p:sp>
        <p:nvSpPr>
          <p:cNvPr id="6" name="Rectangle 5"/>
          <p:cNvSpPr/>
          <p:nvPr/>
        </p:nvSpPr>
        <p:spPr>
          <a:xfrm>
            <a:off x="566928" y="6254496"/>
            <a:ext cx="11057839" cy="10058"/>
          </a:xfrm>
          <a:prstGeom prst="rect">
            <a:avLst/>
          </a:prstGeom>
          <a:solidFill>
            <a:srgbClr val="143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82512"/>
            <a:ext cx="5486400" cy="219456"/>
          </a:xfrm>
          <a:prstGeom prst="rect">
            <a:avLst/>
          </a:prstGeom>
          <a:noFill/>
        </p:spPr>
        <p:txBody>
          <a:bodyPr wrap="square" lIns="0" rIns="0" tIns="0" bIns="0" anchor="t">
            <a:spAutoFit/>
          </a:bodyPr>
          <a:lstStyle/>
          <a:p>
            <a:pPr algn="l"/>
            <a:r>
              <a:rPr sz="800" b="1" i="0" spc="180">
                <a:solidFill>
                  <a:srgbClr val="6B7B74"/>
                </a:solidFill>
                <a:latin typeface="Manrope"/>
              </a:rPr>
              <a:t>MR MOULDINGS × VENDO DIGITAL</a:t>
            </a:r>
          </a:p>
        </p:txBody>
      </p:sp>
      <p:sp>
        <p:nvSpPr>
          <p:cNvPr id="8" name="TextBox 7"/>
          <p:cNvSpPr txBox="1"/>
          <p:nvPr/>
        </p:nvSpPr>
        <p:spPr>
          <a:xfrm>
            <a:off x="10527487" y="6382512"/>
            <a:ext cx="1097280" cy="219456"/>
          </a:xfrm>
          <a:prstGeom prst="rect">
            <a:avLst/>
          </a:prstGeom>
          <a:noFill/>
        </p:spPr>
        <p:txBody>
          <a:bodyPr wrap="square" lIns="0" rIns="0" tIns="0" bIns="0" anchor="t">
            <a:spAutoFit/>
          </a:bodyPr>
          <a:lstStyle/>
          <a:p>
            <a:pPr algn="r"/>
            <a:r>
              <a:rPr sz="800" b="1" i="0" spc="100">
                <a:solidFill>
                  <a:srgbClr val="6B7B74"/>
                </a:solidFill>
                <a:latin typeface="Manrope"/>
              </a:rPr>
              <a:t>22</a:t>
            </a:r>
          </a:p>
        </p:txBody>
      </p:sp>
      <p:graphicFrame>
        <p:nvGraphicFramePr>
          <p:cNvPr id="9" name="Table 8"/>
          <p:cNvGraphicFramePr>
            <a:graphicFrameLocks noGrp="1"/>
          </p:cNvGraphicFramePr>
          <p:nvPr/>
        </p:nvGraphicFramePr>
        <p:xfrm>
          <a:off x="566928" y="2029968"/>
          <a:ext cx="7315198" cy="3337560"/>
        </p:xfrm>
        <a:graphic>
          <a:graphicData uri="http://schemas.openxmlformats.org/drawingml/2006/table">
            <a:tbl>
              <a:tblPr firstRow="1" bandRow="1">
                <a:tableStyleId>{5C22544A-7EE6-4342-B048-85BDC9FD1C3A}</a:tableStyleId>
              </a:tblPr>
              <a:tblGrid>
                <a:gridCol w="385010"/>
                <a:gridCol w="4427621"/>
                <a:gridCol w="1443789"/>
                <a:gridCol w="1058778"/>
              </a:tblGrid>
              <a:tr h="274320">
                <a:tc>
                  <a:txBody>
                    <a:bodyPr wrap="square"/>
                    <a:lstStyle/>
                    <a:p>
                      <a:pPr algn="l"/>
                      <a:r>
                        <a:rPr sz="780" b="1">
                          <a:solidFill>
                            <a:srgbClr val="6B7B74"/>
                          </a:solidFill>
                          <a:latin typeface="Manrope"/>
                        </a:rPr>
                        <a:t/>
                      </a:r>
                    </a:p>
                  </a:txBody>
                  <a:tcPr marL="45720" marR="45720" marT="18288" marB="18288" anchor="ctr">
                    <a:solidFill>
                      <a:srgbClr val="051412"/>
                    </a:solidFill>
                  </a:tcPr>
                </a:tc>
                <a:tc>
                  <a:txBody>
                    <a:bodyPr wrap="square"/>
                    <a:lstStyle/>
                    <a:p>
                      <a:pPr algn="r"/>
                      <a:r>
                        <a:rPr sz="780" b="1">
                          <a:solidFill>
                            <a:srgbClr val="6B7B74"/>
                          </a:solidFill>
                          <a:latin typeface="Manrope"/>
                        </a:rPr>
                        <a:t>ACTION</a:t>
                      </a:r>
                    </a:p>
                  </a:txBody>
                  <a:tcPr marL="45720" marR="45720" marT="18288" marB="18288" anchor="ctr">
                    <a:solidFill>
                      <a:srgbClr val="051412"/>
                    </a:solidFill>
                  </a:tcPr>
                </a:tc>
                <a:tc>
                  <a:txBody>
                    <a:bodyPr wrap="square"/>
                    <a:lstStyle/>
                    <a:p>
                      <a:pPr algn="r"/>
                      <a:r>
                        <a:rPr sz="780" b="1">
                          <a:solidFill>
                            <a:srgbClr val="6B7B74"/>
                          </a:solidFill>
                          <a:latin typeface="Manrope"/>
                        </a:rPr>
                        <a:t>OWNER</a:t>
                      </a:r>
                    </a:p>
                  </a:txBody>
                  <a:tcPr marL="45720" marR="45720" marT="18288" marB="18288" anchor="ctr">
                    <a:solidFill>
                      <a:srgbClr val="051412"/>
                    </a:solidFill>
                  </a:tcPr>
                </a:tc>
                <a:tc>
                  <a:txBody>
                    <a:bodyPr wrap="square"/>
                    <a:lstStyle/>
                    <a:p>
                      <a:pPr algn="r"/>
                      <a:r>
                        <a:rPr sz="780" b="1">
                          <a:solidFill>
                            <a:srgbClr val="6B7B74"/>
                          </a:solidFill>
                          <a:latin typeface="Manrope"/>
                        </a:rPr>
                        <a:t>WHEN</a:t>
                      </a:r>
                    </a:p>
                  </a:txBody>
                  <a:tcPr marL="45720" marR="45720" marT="18288" marB="18288" anchor="ctr">
                    <a:solidFill>
                      <a:srgbClr val="051412"/>
                    </a:solidFill>
                  </a:tcPr>
                </a:tc>
              </a:tr>
              <a:tr h="306324">
                <a:tc>
                  <a:txBody>
                    <a:bodyPr wrap="square"/>
                    <a:lstStyle/>
                    <a:p>
                      <a:pPr algn="l"/>
                      <a:r>
                        <a:rPr sz="980" b="1">
                          <a:solidFill>
                            <a:srgbClr val="8EFEBB"/>
                          </a:solidFill>
                          <a:latin typeface="Manrope"/>
                        </a:rPr>
                        <a:t>01</a:t>
                      </a:r>
                    </a:p>
                  </a:txBody>
                  <a:tcPr marL="45720" marR="45720" marT="18288" marB="18288" anchor="ctr">
                    <a:solidFill>
                      <a:srgbClr val="0B2A24"/>
                    </a:solidFill>
                  </a:tcPr>
                </a:tc>
                <a:tc>
                  <a:txBody>
                    <a:bodyPr wrap="square"/>
                    <a:lstStyle/>
                    <a:p>
                      <a:pPr algn="r"/>
                      <a:r>
                        <a:rPr sz="980" b="1">
                          <a:solidFill>
                            <a:srgbClr val="8EFEBB"/>
                          </a:solidFill>
                          <a:latin typeface="Manrope"/>
                        </a:rPr>
                        <a:t>Stop the bot traffic — identify the source, block it, confirm sessions normalise</a:t>
                      </a:r>
                    </a:p>
                  </a:txBody>
                  <a:tcPr marL="45720" marR="45720" marT="18288" marB="18288" anchor="ctr">
                    <a:solidFill>
                      <a:srgbClr val="0B2A24"/>
                    </a:solidFill>
                  </a:tcPr>
                </a:tc>
                <a:tc>
                  <a:txBody>
                    <a:bodyPr wrap="square"/>
                    <a:lstStyle/>
                    <a:p>
                      <a:pPr algn="r"/>
                      <a:r>
                        <a:rPr sz="980" b="1">
                          <a:solidFill>
                            <a:srgbClr val="8EFEBB"/>
                          </a:solidFill>
                          <a:latin typeface="Manrope"/>
                        </a:rPr>
                        <a:t>Vendo · Toby</a:t>
                      </a:r>
                    </a:p>
                  </a:txBody>
                  <a:tcPr marL="45720" marR="45720" marT="18288" marB="18288" anchor="ctr">
                    <a:solidFill>
                      <a:srgbClr val="0B2A24"/>
                    </a:solidFill>
                  </a:tcPr>
                </a:tc>
                <a:tc>
                  <a:txBody>
                    <a:bodyPr wrap="square"/>
                    <a:lstStyle/>
                    <a:p>
                      <a:pPr algn="r"/>
                      <a:r>
                        <a:rPr sz="980" b="1">
                          <a:solidFill>
                            <a:srgbClr val="8EFEBB"/>
                          </a:solidFill>
                          <a:latin typeface="Manrope"/>
                        </a:rPr>
                        <a:t>This week</a:t>
                      </a:r>
                    </a:p>
                  </a:txBody>
                  <a:tcPr marL="45720" marR="45720" marT="18288" marB="18288" anchor="ctr">
                    <a:solidFill>
                      <a:srgbClr val="0B2A24"/>
                    </a:solidFill>
                  </a:tcPr>
                </a:tc>
              </a:tr>
              <a:tr h="306324">
                <a:tc>
                  <a:txBody>
                    <a:bodyPr wrap="square"/>
                    <a:lstStyle/>
                    <a:p>
                      <a:pPr algn="l"/>
                      <a:r>
                        <a:rPr sz="980" b="1">
                          <a:solidFill>
                            <a:srgbClr val="8EFEBB"/>
                          </a:solidFill>
                          <a:latin typeface="Manrope"/>
                        </a:rPr>
                        <a:t>02</a:t>
                      </a:r>
                    </a:p>
                  </a:txBody>
                  <a:tcPr marL="45720" marR="45720" marT="18288" marB="18288" anchor="ctr">
                    <a:solidFill>
                      <a:srgbClr val="0B2A24"/>
                    </a:solidFill>
                  </a:tcPr>
                </a:tc>
                <a:tc>
                  <a:txBody>
                    <a:bodyPr wrap="square"/>
                    <a:lstStyle/>
                    <a:p>
                      <a:pPr algn="r"/>
                      <a:r>
                        <a:rPr sz="980" b="1">
                          <a:solidFill>
                            <a:srgbClr val="8EFEBB"/>
                          </a:solidFill>
                          <a:latin typeface="Manrope"/>
                        </a:rPr>
                        <a:t>Approve the release of waves 0–4 to production, then verify in Search Console</a:t>
                      </a:r>
                    </a:p>
                  </a:txBody>
                  <a:tcPr marL="45720" marR="45720" marT="18288" marB="18288" anchor="ctr">
                    <a:solidFill>
                      <a:srgbClr val="0B2A24"/>
                    </a:solidFill>
                  </a:tcPr>
                </a:tc>
                <a:tc>
                  <a:txBody>
                    <a:bodyPr wrap="square"/>
                    <a:lstStyle/>
                    <a:p>
                      <a:pPr algn="r"/>
                      <a:r>
                        <a:rPr sz="980" b="1">
                          <a:solidFill>
                            <a:srgbClr val="8EFEBB"/>
                          </a:solidFill>
                          <a:latin typeface="Manrope"/>
                        </a:rPr>
                        <a:t>Adam · then Toby</a:t>
                      </a:r>
                    </a:p>
                  </a:txBody>
                  <a:tcPr marL="45720" marR="45720" marT="18288" marB="18288" anchor="ctr">
                    <a:solidFill>
                      <a:srgbClr val="0B2A24"/>
                    </a:solidFill>
                  </a:tcPr>
                </a:tc>
                <a:tc>
                  <a:txBody>
                    <a:bodyPr wrap="square"/>
                    <a:lstStyle/>
                    <a:p>
                      <a:pPr algn="r"/>
                      <a:r>
                        <a:rPr sz="980" b="1">
                          <a:solidFill>
                            <a:srgbClr val="8EFEBB"/>
                          </a:solidFill>
                          <a:latin typeface="Manrope"/>
                        </a:rPr>
                        <a:t>This week</a:t>
                      </a:r>
                    </a:p>
                  </a:txBody>
                  <a:tcPr marL="45720" marR="45720" marT="18288" marB="18288" anchor="ctr">
                    <a:solidFill>
                      <a:srgbClr val="0B2A24"/>
                    </a:solidFill>
                  </a:tcPr>
                </a:tc>
              </a:tr>
              <a:tr h="306324">
                <a:tc>
                  <a:txBody>
                    <a:bodyPr wrap="square"/>
                    <a:lstStyle/>
                    <a:p>
                      <a:pPr algn="l"/>
                      <a:r>
                        <a:rPr sz="980" b="0">
                          <a:solidFill>
                            <a:srgbClr val="E8F2EC"/>
                          </a:solidFill>
                          <a:latin typeface="Manrope"/>
                        </a:rPr>
                        <a:t>03</a:t>
                      </a:r>
                    </a:p>
                  </a:txBody>
                  <a:tcPr marL="45720" marR="45720" marT="18288" marB="18288" anchor="ctr">
                    <a:solidFill>
                      <a:srgbClr val="051412"/>
                    </a:solidFill>
                  </a:tcPr>
                </a:tc>
                <a:tc>
                  <a:txBody>
                    <a:bodyPr wrap="square"/>
                    <a:lstStyle/>
                    <a:p>
                      <a:pPr algn="r"/>
                      <a:r>
                        <a:rPr sz="980" b="0">
                          <a:solidFill>
                            <a:srgbClr val="E8F2EC"/>
                          </a:solidFill>
                          <a:latin typeface="Manrope"/>
                        </a:rPr>
                        <a:t>Turn on abandoned-checkout email — £65,452 a month unrecovered</a:t>
                      </a:r>
                    </a:p>
                  </a:txBody>
                  <a:tcPr marL="45720" marR="45720" marT="18288" marB="18288" anchor="ctr">
                    <a:solidFill>
                      <a:srgbClr val="051412"/>
                    </a:solidFill>
                  </a:tcPr>
                </a:tc>
                <a:tc>
                  <a:txBody>
                    <a:bodyPr wrap="square"/>
                    <a:lstStyle/>
                    <a:p>
                      <a:pPr algn="r"/>
                      <a:r>
                        <a:rPr sz="980" b="0">
                          <a:solidFill>
                            <a:srgbClr val="E8F2EC"/>
                          </a:solidFill>
                          <a:latin typeface="Manrope"/>
                        </a:rPr>
                        <a:t>Vendo · Helen</a:t>
                      </a:r>
                    </a:p>
                  </a:txBody>
                  <a:tcPr marL="45720" marR="45720" marT="18288" marB="18288" anchor="ctr">
                    <a:solidFill>
                      <a:srgbClr val="051412"/>
                    </a:solidFill>
                  </a:tcPr>
                </a:tc>
                <a:tc>
                  <a:txBody>
                    <a:bodyPr wrap="square"/>
                    <a:lstStyle/>
                    <a:p>
                      <a:pPr algn="r"/>
                      <a:r>
                        <a:rPr sz="980" b="0">
                          <a:solidFill>
                            <a:srgbClr val="E8F2EC"/>
                          </a:solidFill>
                          <a:latin typeface="Manrope"/>
                        </a:rPr>
                        <a:t>w/c 29 Sep</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04</a:t>
                      </a:r>
                    </a:p>
                  </a:txBody>
                  <a:tcPr marL="45720" marR="45720" marT="18288" marB="18288" anchor="ctr">
                    <a:solidFill>
                      <a:srgbClr val="051412"/>
                    </a:solidFill>
                  </a:tcPr>
                </a:tc>
                <a:tc>
                  <a:txBody>
                    <a:bodyPr wrap="square"/>
                    <a:lstStyle/>
                    <a:p>
                      <a:pPr algn="r"/>
                      <a:r>
                        <a:rPr sz="980" b="0">
                          <a:solidFill>
                            <a:srgbClr val="E8F2EC"/>
                          </a:solidFill>
                          <a:latin typeface="Manrope"/>
                        </a:rPr>
                        <a:t>Consolidate Shopping into one campaign; fold the six sub-£500 campaigns</a:t>
                      </a:r>
                    </a:p>
                  </a:txBody>
                  <a:tcPr marL="45720" marR="45720" marT="18288" marB="18288" anchor="ctr">
                    <a:solidFill>
                      <a:srgbClr val="051412"/>
                    </a:solidFill>
                  </a:tcPr>
                </a:tc>
                <a:tc>
                  <a:txBody>
                    <a:bodyPr wrap="square"/>
                    <a:lstStyle/>
                    <a:p>
                      <a:pPr algn="r"/>
                      <a:r>
                        <a:rPr sz="980" b="0">
                          <a:solidFill>
                            <a:srgbClr val="E8F2EC"/>
                          </a:solidFill>
                          <a:latin typeface="Manrope"/>
                        </a:rPr>
                        <a:t>Vendo · Matthew</a:t>
                      </a:r>
                    </a:p>
                  </a:txBody>
                  <a:tcPr marL="45720" marR="45720" marT="18288" marB="18288" anchor="ctr">
                    <a:solidFill>
                      <a:srgbClr val="051412"/>
                    </a:solidFill>
                  </a:tcPr>
                </a:tc>
                <a:tc>
                  <a:txBody>
                    <a:bodyPr wrap="square"/>
                    <a:lstStyle/>
                    <a:p>
                      <a:pPr algn="r"/>
                      <a:r>
                        <a:rPr sz="980" b="0">
                          <a:solidFill>
                            <a:srgbClr val="E8F2EC"/>
                          </a:solidFill>
                          <a:latin typeface="Manrope"/>
                        </a:rPr>
                        <a:t>w/c 29 Sep</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05</a:t>
                      </a:r>
                    </a:p>
                  </a:txBody>
                  <a:tcPr marL="45720" marR="45720" marT="18288" marB="18288" anchor="ctr">
                    <a:solidFill>
                      <a:srgbClr val="051412"/>
                    </a:solidFill>
                  </a:tcPr>
                </a:tc>
                <a:tc>
                  <a:txBody>
                    <a:bodyPr wrap="square"/>
                    <a:lstStyle/>
                    <a:p>
                      <a:pPr algn="r"/>
                      <a:r>
                        <a:rPr sz="980" b="0">
                          <a:solidFill>
                            <a:srgbClr val="E8F2EC"/>
                          </a:solidFill>
                          <a:latin typeface="Manrope"/>
                        </a:rPr>
                        <a:t>Microsoft Ads to the £5.4k ceiling, weighted to panel moulds and cornices</a:t>
                      </a:r>
                    </a:p>
                  </a:txBody>
                  <a:tcPr marL="45720" marR="45720" marT="18288" marB="18288" anchor="ctr">
                    <a:solidFill>
                      <a:srgbClr val="051412"/>
                    </a:solidFill>
                  </a:tcPr>
                </a:tc>
                <a:tc>
                  <a:txBody>
                    <a:bodyPr wrap="square"/>
                    <a:lstStyle/>
                    <a:p>
                      <a:pPr algn="r"/>
                      <a:r>
                        <a:rPr sz="980" b="0">
                          <a:solidFill>
                            <a:srgbClr val="E8F2EC"/>
                          </a:solidFill>
                          <a:latin typeface="Manrope"/>
                        </a:rPr>
                        <a:t>Vendo · Matthew</a:t>
                      </a:r>
                    </a:p>
                  </a:txBody>
                  <a:tcPr marL="45720" marR="45720" marT="18288" marB="18288" anchor="ctr">
                    <a:solidFill>
                      <a:srgbClr val="051412"/>
                    </a:solidFill>
                  </a:tcPr>
                </a:tc>
                <a:tc>
                  <a:txBody>
                    <a:bodyPr wrap="square"/>
                    <a:lstStyle/>
                    <a:p>
                      <a:pPr algn="r"/>
                      <a:r>
                        <a:rPr sz="980" b="0">
                          <a:solidFill>
                            <a:srgbClr val="E8F2EC"/>
                          </a:solidFill>
                          <a:latin typeface="Manrope"/>
                        </a:rPr>
                        <a:t>w/c 29 Sep</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06</a:t>
                      </a:r>
                    </a:p>
                  </a:txBody>
                  <a:tcPr marL="45720" marR="45720" marT="18288" marB="18288" anchor="ctr">
                    <a:solidFill>
                      <a:srgbClr val="051412"/>
                    </a:solidFill>
                  </a:tcPr>
                </a:tc>
                <a:tc>
                  <a:txBody>
                    <a:bodyPr wrap="square"/>
                    <a:lstStyle/>
                    <a:p>
                      <a:pPr algn="r"/>
                      <a:r>
                        <a:rPr sz="980" b="0">
                          <a:solidFill>
                            <a:srgbClr val="E8F2EC"/>
                          </a:solidFill>
                          <a:latin typeface="Manrope"/>
                        </a:rPr>
                        <a:t>Content day — hardwood range, founder-led short form, podcast trial</a:t>
                      </a:r>
                    </a:p>
                  </a:txBody>
                  <a:tcPr marL="45720" marR="45720" marT="18288" marB="18288" anchor="ctr">
                    <a:solidFill>
                      <a:srgbClr val="051412"/>
                    </a:solidFill>
                  </a:tcPr>
                </a:tc>
                <a:tc>
                  <a:txBody>
                    <a:bodyPr wrap="square"/>
                    <a:lstStyle/>
                    <a:p>
                      <a:pPr algn="r"/>
                      <a:r>
                        <a:rPr sz="980" b="0">
                          <a:solidFill>
                            <a:srgbClr val="E8F2EC"/>
                          </a:solidFill>
                          <a:latin typeface="Manrope"/>
                        </a:rPr>
                        <a:t>Joint</a:t>
                      </a:r>
                    </a:p>
                  </a:txBody>
                  <a:tcPr marL="45720" marR="45720" marT="18288" marB="18288" anchor="ctr">
                    <a:solidFill>
                      <a:srgbClr val="051412"/>
                    </a:solidFill>
                  </a:tcPr>
                </a:tc>
                <a:tc>
                  <a:txBody>
                    <a:bodyPr wrap="square"/>
                    <a:lstStyle/>
                    <a:p>
                      <a:pPr algn="r"/>
                      <a:r>
                        <a:rPr sz="980" b="0">
                          <a:solidFill>
                            <a:srgbClr val="E8F2EC"/>
                          </a:solidFill>
                          <a:latin typeface="Manrope"/>
                        </a:rPr>
                        <a:t>30 Sep</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07</a:t>
                      </a:r>
                    </a:p>
                  </a:txBody>
                  <a:tcPr marL="45720" marR="45720" marT="18288" marB="18288" anchor="ctr">
                    <a:solidFill>
                      <a:srgbClr val="051412"/>
                    </a:solidFill>
                  </a:tcPr>
                </a:tc>
                <a:tc>
                  <a:txBody>
                    <a:bodyPr wrap="square"/>
                    <a:lstStyle/>
                    <a:p>
                      <a:pPr algn="r"/>
                      <a:r>
                        <a:rPr sz="980" b="0">
                          <a:solidFill>
                            <a:srgbClr val="E8F2EC"/>
                          </a:solidFill>
                          <a:latin typeface="Manrope"/>
                        </a:rPr>
                        <a:t>Design the trade account structure and first email flows to 6,028 buyers</a:t>
                      </a:r>
                    </a:p>
                  </a:txBody>
                  <a:tcPr marL="45720" marR="45720" marT="18288" marB="18288" anchor="ctr">
                    <a:solidFill>
                      <a:srgbClr val="051412"/>
                    </a:solidFill>
                  </a:tcPr>
                </a:tc>
                <a:tc>
                  <a:txBody>
                    <a:bodyPr wrap="square"/>
                    <a:lstStyle/>
                    <a:p>
                      <a:pPr algn="r"/>
                      <a:r>
                        <a:rPr sz="980" b="0">
                          <a:solidFill>
                            <a:srgbClr val="E8F2EC"/>
                          </a:solidFill>
                          <a:latin typeface="Manrope"/>
                        </a:rPr>
                        <a:t>Joint</a:t>
                      </a:r>
                    </a:p>
                  </a:txBody>
                  <a:tcPr marL="45720" marR="45720" marT="18288" marB="18288" anchor="ctr">
                    <a:solidFill>
                      <a:srgbClr val="051412"/>
                    </a:solidFill>
                  </a:tcPr>
                </a:tc>
                <a:tc>
                  <a:txBody>
                    <a:bodyPr wrap="square"/>
                    <a:lstStyle/>
                    <a:p>
                      <a:pPr algn="r"/>
                      <a:r>
                        <a:rPr sz="980" b="0">
                          <a:solidFill>
                            <a:srgbClr val="E8F2EC"/>
                          </a:solidFill>
                          <a:latin typeface="Manrope"/>
                        </a:rPr>
                        <a:t>Oct</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08</a:t>
                      </a:r>
                    </a:p>
                  </a:txBody>
                  <a:tcPr marL="45720" marR="45720" marT="18288" marB="18288" anchor="ctr">
                    <a:solidFill>
                      <a:srgbClr val="051412"/>
                    </a:solidFill>
                  </a:tcPr>
                </a:tc>
                <a:tc>
                  <a:txBody>
                    <a:bodyPr wrap="square"/>
                    <a:lstStyle/>
                    <a:p>
                      <a:pPr algn="r"/>
                      <a:r>
                        <a:rPr sz="980" b="0">
                          <a:solidFill>
                            <a:srgbClr val="E8F2EC"/>
                          </a:solidFill>
                          <a:latin typeface="Manrope"/>
                        </a:rPr>
                        <a:t>Final images; fix naming, handles, priming and size options</a:t>
                      </a:r>
                    </a:p>
                  </a:txBody>
                  <a:tcPr marL="45720" marR="45720" marT="18288" marB="18288" anchor="ctr">
                    <a:solidFill>
                      <a:srgbClr val="051412"/>
                    </a:solidFill>
                  </a:tcPr>
                </a:tc>
                <a:tc>
                  <a:txBody>
                    <a:bodyPr wrap="square"/>
                    <a:lstStyle/>
                    <a:p>
                      <a:pPr algn="r"/>
                      <a:r>
                        <a:rPr sz="980" b="0">
                          <a:solidFill>
                            <a:srgbClr val="E8F2EC"/>
                          </a:solidFill>
                          <a:latin typeface="Manrope"/>
                        </a:rPr>
                        <a:t>Adam · then Vendo</a:t>
                      </a:r>
                    </a:p>
                  </a:txBody>
                  <a:tcPr marL="45720" marR="45720" marT="18288" marB="18288" anchor="ctr">
                    <a:solidFill>
                      <a:srgbClr val="051412"/>
                    </a:solidFill>
                  </a:tcPr>
                </a:tc>
                <a:tc>
                  <a:txBody>
                    <a:bodyPr wrap="square"/>
                    <a:lstStyle/>
                    <a:p>
                      <a:pPr algn="r"/>
                      <a:r>
                        <a:rPr sz="980" b="0">
                          <a:solidFill>
                            <a:srgbClr val="E8F2EC"/>
                          </a:solidFill>
                          <a:latin typeface="Manrope"/>
                        </a:rPr>
                        <a:t>Late Sep</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09</a:t>
                      </a:r>
                    </a:p>
                  </a:txBody>
                  <a:tcPr marL="45720" marR="45720" marT="18288" marB="18288" anchor="ctr">
                    <a:solidFill>
                      <a:srgbClr val="051412"/>
                    </a:solidFill>
                  </a:tcPr>
                </a:tc>
                <a:tc>
                  <a:txBody>
                    <a:bodyPr wrap="square"/>
                    <a:lstStyle/>
                    <a:p>
                      <a:pPr algn="r"/>
                      <a:r>
                        <a:rPr sz="980" b="0">
                          <a:solidFill>
                            <a:srgbClr val="E8F2EC"/>
                          </a:solidFill>
                          <a:latin typeface="Manrope"/>
                        </a:rPr>
                        <a:t>Hardwood wave one live: Georgian set, 16 products, top-level range</a:t>
                      </a:r>
                    </a:p>
                  </a:txBody>
                  <a:tcPr marL="45720" marR="45720" marT="18288" marB="18288" anchor="ctr">
                    <a:solidFill>
                      <a:srgbClr val="051412"/>
                    </a:solidFill>
                  </a:tcPr>
                </a:tc>
                <a:tc>
                  <a:txBody>
                    <a:bodyPr wrap="square"/>
                    <a:lstStyle/>
                    <a:p>
                      <a:pPr algn="r"/>
                      <a:r>
                        <a:rPr sz="980" b="0">
                          <a:solidFill>
                            <a:srgbClr val="E8F2EC"/>
                          </a:solidFill>
                          <a:latin typeface="Manrope"/>
                        </a:rPr>
                        <a:t>Joint</a:t>
                      </a:r>
                    </a:p>
                  </a:txBody>
                  <a:tcPr marL="45720" marR="45720" marT="18288" marB="18288" anchor="ctr">
                    <a:solidFill>
                      <a:srgbClr val="051412"/>
                    </a:solidFill>
                  </a:tcPr>
                </a:tc>
                <a:tc>
                  <a:txBody>
                    <a:bodyPr wrap="square"/>
                    <a:lstStyle/>
                    <a:p>
                      <a:pPr algn="r"/>
                      <a:r>
                        <a:rPr sz="980" b="0">
                          <a:solidFill>
                            <a:srgbClr val="E8F2EC"/>
                          </a:solidFill>
                          <a:latin typeface="Manrope"/>
                        </a:rPr>
                        <a:t>Oct</a:t>
                      </a:r>
                    </a:p>
                  </a:txBody>
                  <a:tcPr marL="45720" marR="45720" marT="18288" marB="18288" anchor="ctr">
                    <a:solidFill>
                      <a:srgbClr val="051412"/>
                    </a:solidFill>
                  </a:tcPr>
                </a:tc>
              </a:tr>
              <a:tr h="306324">
                <a:tc>
                  <a:txBody>
                    <a:bodyPr wrap="square"/>
                    <a:lstStyle/>
                    <a:p>
                      <a:pPr algn="l"/>
                      <a:r>
                        <a:rPr sz="980" b="0">
                          <a:solidFill>
                            <a:srgbClr val="E8F2EC"/>
                          </a:solidFill>
                          <a:latin typeface="Manrope"/>
                        </a:rPr>
                        <a:t>10</a:t>
                      </a:r>
                    </a:p>
                  </a:txBody>
                  <a:tcPr marL="45720" marR="45720" marT="18288" marB="18288" anchor="ctr">
                    <a:solidFill>
                      <a:srgbClr val="051412"/>
                    </a:solidFill>
                  </a:tcPr>
                </a:tc>
                <a:tc>
                  <a:txBody>
                    <a:bodyPr wrap="square"/>
                    <a:lstStyle/>
                    <a:p>
                      <a:pPr algn="r"/>
                      <a:r>
                        <a:rPr sz="980" b="0">
                          <a:solidFill>
                            <a:srgbClr val="E8F2EC"/>
                          </a:solidFill>
                          <a:latin typeface="Manrope"/>
                        </a:rPr>
                        <a:t>Product cost data and Meta access, then rebuild the budget on contribution</a:t>
                      </a:r>
                    </a:p>
                  </a:txBody>
                  <a:tcPr marL="45720" marR="45720" marT="18288" marB="18288" anchor="ctr">
                    <a:solidFill>
                      <a:srgbClr val="051412"/>
                    </a:solidFill>
                  </a:tcPr>
                </a:tc>
                <a:tc>
                  <a:txBody>
                    <a:bodyPr wrap="square"/>
                    <a:lstStyle/>
                    <a:p>
                      <a:pPr algn="r"/>
                      <a:r>
                        <a:rPr sz="980" b="0">
                          <a:solidFill>
                            <a:srgbClr val="E8F2EC"/>
                          </a:solidFill>
                          <a:latin typeface="Manrope"/>
                        </a:rPr>
                        <a:t>Adam · then Vendo</a:t>
                      </a:r>
                    </a:p>
                  </a:txBody>
                  <a:tcPr marL="45720" marR="45720" marT="18288" marB="18288" anchor="ctr">
                    <a:solidFill>
                      <a:srgbClr val="051412"/>
                    </a:solidFill>
                  </a:tcPr>
                </a:tc>
                <a:tc>
                  <a:txBody>
                    <a:bodyPr wrap="square"/>
                    <a:lstStyle/>
                    <a:p>
                      <a:pPr algn="r"/>
                      <a:r>
                        <a:rPr sz="980" b="0">
                          <a:solidFill>
                            <a:srgbClr val="E8F2EC"/>
                          </a:solidFill>
                          <a:latin typeface="Manrope"/>
                        </a:rPr>
                        <a:t>Oct</a:t>
                      </a:r>
                    </a:p>
                  </a:txBody>
                  <a:tcPr marL="45720" marR="45720" marT="18288" marB="18288" anchor="ctr">
                    <a:solidFill>
                      <a:srgbClr val="051412"/>
                    </a:solidFill>
                  </a:tcPr>
                </a:tc>
              </a:tr>
            </a:tbl>
          </a:graphicData>
        </a:graphic>
      </p:graphicFrame>
      <p:sp>
        <p:nvSpPr>
          <p:cNvPr id="10" name="Rounded Rectangle 9"/>
          <p:cNvSpPr/>
          <p:nvPr/>
        </p:nvSpPr>
        <p:spPr>
          <a:xfrm>
            <a:off x="8156448" y="2029968"/>
            <a:ext cx="3468319" cy="3703320"/>
          </a:xfrm>
          <a:prstGeom prst="roundRect">
            <a:avLst>
              <a:gd name="adj" fmla="val 4500"/>
            </a:avLst>
          </a:prstGeom>
          <a:solidFill>
            <a:srgbClr val="0B2A24"/>
          </a:solidFill>
          <a:ln w="9525">
            <a:solidFill>
              <a:srgbClr val="8EFE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30768" y="2286000"/>
            <a:ext cx="2919679" cy="182880"/>
          </a:xfrm>
          <a:prstGeom prst="rect">
            <a:avLst/>
          </a:prstGeom>
          <a:noFill/>
        </p:spPr>
        <p:txBody>
          <a:bodyPr wrap="square" lIns="0" rIns="0" tIns="0" bIns="0" anchor="t">
            <a:spAutoFit/>
          </a:bodyPr>
          <a:lstStyle/>
          <a:p>
            <a:pPr algn="l"/>
            <a:r>
              <a:rPr sz="850" b="1" i="0" spc="160">
                <a:solidFill>
                  <a:srgbClr val="8EFEBB"/>
                </a:solidFill>
                <a:latin typeface="Manrope"/>
              </a:rPr>
              <a:t>THE HEADLINE</a:t>
            </a:r>
          </a:p>
        </p:txBody>
      </p:sp>
      <p:sp>
        <p:nvSpPr>
          <p:cNvPr id="12" name="TextBox 11"/>
          <p:cNvSpPr txBox="1"/>
          <p:nvPr/>
        </p:nvSpPr>
        <p:spPr>
          <a:xfrm>
            <a:off x="8430768" y="2578608"/>
            <a:ext cx="2919679" cy="2926080"/>
          </a:xfrm>
          <a:prstGeom prst="rect">
            <a:avLst/>
          </a:prstGeom>
          <a:noFill/>
        </p:spPr>
        <p:txBody>
          <a:bodyPr wrap="square" lIns="0" rIns="0" tIns="0" bIns="0">
            <a:spAutoFit/>
          </a:bodyPr>
          <a:lstStyle/>
          <a:p>
            <a:pPr>
              <a:lnSpc>
                <a:spcPct val="142000"/>
              </a:lnSpc>
              <a:spcAft>
                <a:spcPts val="1300"/>
              </a:spcAft>
            </a:pPr>
            <a:r>
              <a:rPr sz="1300" b="0" i="0">
                <a:solidFill>
                  <a:srgbClr val="E8F2EC"/>
                </a:solidFill>
                <a:latin typeface="Manrope"/>
              </a:rPr>
              <a:t>£500,000 a month is roughly </a:t>
            </a:r>
            <a:r>
              <a:rPr sz="1300" b="1" i="0">
                <a:solidFill>
                  <a:srgbClr val="FFFFFF"/>
                </a:solidFill>
                <a:latin typeface="Manrope"/>
              </a:rPr>
              <a:t>where the current trajectory already arrives</a:t>
            </a:r>
            <a:r>
              <a:rPr sz="1300" b="0" i="0">
                <a:solidFill>
                  <a:srgbClr val="E8F2EC"/>
                </a:solidFill>
                <a:latin typeface="Manrope"/>
              </a:rPr>
              <a:t> — about 14 months out on the last six months' rate, which is your own timeline.</a:t>
            </a:r>
          </a:p>
          <a:p>
            <a:pPr>
              <a:lnSpc>
                <a:spcPct val="142000"/>
              </a:lnSpc>
              <a:spcAft>
                <a:spcPts val="1300"/>
              </a:spcAft>
            </a:pPr>
            <a:r>
              <a:rPr sz="1150" b="0" i="0">
                <a:solidFill>
                  <a:srgbClr val="B9C7C0"/>
                </a:solidFill>
                <a:latin typeface="Manrope"/>
              </a:rPr>
              <a:t>The business has grown 4.36× year on year. This roadmap's job is insurance against deceleration plus the upside that beats trend, not the invention of 1.76× from nothing.</a:t>
            </a:r>
          </a:p>
          <a:p>
            <a:pPr>
              <a:lnSpc>
                <a:spcPct val="142000"/>
              </a:lnSpc>
              <a:spcAft>
                <a:spcPts val="1300"/>
              </a:spcAft>
            </a:pPr>
            <a:r>
              <a:rPr sz="1150" b="0" i="0">
                <a:solidFill>
                  <a:srgbClr val="B9C7C0"/>
                </a:solidFill>
                <a:latin typeface="Manrope"/>
              </a:rPr>
              <a:t>Three things are cheaper than anything new: </a:t>
            </a:r>
            <a:r>
              <a:rPr sz="1150" b="1" i="0">
                <a:solidFill>
                  <a:srgbClr val="FFFFFF"/>
                </a:solidFill>
                <a:latin typeface="Manrope"/>
              </a:rPr>
              <a:t>releasing the five waves already built</a:t>
            </a:r>
            <a:r>
              <a:rPr sz="1150" b="0" i="0">
                <a:solidFill>
                  <a:srgbClr val="B9C7C0"/>
                </a:solidFill>
                <a:latin typeface="Manrope"/>
              </a:rPr>
              <a:t>, </a:t>
            </a:r>
            <a:r>
              <a:rPr sz="1150" b="1" i="0">
                <a:solidFill>
                  <a:srgbClr val="FFFFFF"/>
                </a:solidFill>
                <a:latin typeface="Manrope"/>
              </a:rPr>
              <a:t>stopping the bot traffic</a:t>
            </a:r>
            <a:r>
              <a:rPr sz="1150" b="0" i="0">
                <a:solidFill>
                  <a:srgbClr val="B9C7C0"/>
                </a:solidFill>
                <a:latin typeface="Manrope"/>
              </a:rPr>
              <a:t> that makes 92% of sessions fictional, and </a:t>
            </a:r>
            <a:r>
              <a:rPr sz="1150" b="1" i="0">
                <a:solidFill>
                  <a:srgbClr val="FFFFFF"/>
                </a:solidFill>
                <a:latin typeface="Manrope"/>
              </a:rPr>
              <a:t>building the trade and email programmes that do not exist</a:t>
            </a:r>
            <a:r>
              <a:rPr sz="1150" b="0" i="0">
                <a:solidFill>
                  <a:srgbClr val="B9C7C0"/>
                </a:solidFill>
                <a:latin typeface="Manrope"/>
              </a:rPr>
              <a:t>, in a business where repeat buyers are worth 3.7× and 38 customers carry a tenth of all revenue.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