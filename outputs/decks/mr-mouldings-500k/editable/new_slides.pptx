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457200"/>
            <a:ext cx="10881360" cy="129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16"/>
              </a:lnSpc>
            </a:pPr>
            <a:r>
              <a:rPr sz="700" b="1" i="0" spc="130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652224"/>
            <a:ext cx="7241143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34"/>
              </a:lnSpc>
            </a:pPr>
            <a:r>
              <a:rPr sz="3100" b="1" i="0" spc="-97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Eight sections, one </a:t>
            </a:r>
            <a:r>
              <a:rPr sz="3100" b="0" i="1" spc="-32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1309330"/>
            <a:ext cx="7272338" cy="198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9"/>
              </a:lnSpc>
            </a:pPr>
            <a:r>
              <a:rPr sz="1100" b="0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Each channel takes its own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560" y="2896791"/>
            <a:ext cx="3545800" cy="693420"/>
          </a:xfrm>
          <a:prstGeom prst="roundRect">
            <a:avLst>
              <a:gd name="adj" fmla="val 15384"/>
            </a:avLst>
          </a:prstGeom>
          <a:solidFill>
            <a:srgbClr val="09221F"/>
          </a:solidFill>
          <a:ln w="762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76300" y="3072051"/>
            <a:ext cx="214193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0"/>
              </a:lnSpc>
            </a:pPr>
            <a:r>
              <a:rPr sz="1950" b="0" i="1">
                <a:solidFill>
                  <a:srgbClr val="8EFEBB"/>
                </a:solidFill>
                <a:latin typeface="Instrument Serif"/>
                <a:ea typeface="Instrument Serif"/>
                <a:cs typeface="Instrument Serif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173" y="3171111"/>
            <a:ext cx="1225987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The opportunity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3040" y="2896791"/>
            <a:ext cx="3545800" cy="693420"/>
          </a:xfrm>
          <a:prstGeom prst="roundRect">
            <a:avLst>
              <a:gd name="adj" fmla="val 15384"/>
            </a:avLst>
          </a:prstGeom>
          <a:solidFill>
            <a:srgbClr val="09221F"/>
          </a:solidFill>
          <a:ln w="762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28780" y="3072051"/>
            <a:ext cx="251579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0"/>
              </a:lnSpc>
            </a:pPr>
            <a:r>
              <a:rPr sz="1950" b="0" i="1">
                <a:solidFill>
                  <a:srgbClr val="8EFEBB"/>
                </a:solidFill>
                <a:latin typeface="Instrument Serif"/>
                <a:ea typeface="Instrument Serif"/>
                <a:cs typeface="Instrument Serif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87039" y="3171111"/>
            <a:ext cx="329446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5521" y="2896791"/>
            <a:ext cx="3545919" cy="693420"/>
          </a:xfrm>
          <a:prstGeom prst="roundRect">
            <a:avLst>
              <a:gd name="adj" fmla="val 15384"/>
            </a:avLst>
          </a:prstGeom>
          <a:solidFill>
            <a:srgbClr val="09221F"/>
          </a:solidFill>
          <a:ln w="762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81261" y="3072051"/>
            <a:ext cx="246578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0"/>
              </a:lnSpc>
            </a:pPr>
            <a:r>
              <a:rPr sz="1950" b="0" i="1">
                <a:solidFill>
                  <a:srgbClr val="8EFEBB"/>
                </a:solidFill>
                <a:latin typeface="Instrument Serif"/>
                <a:ea typeface="Instrument Serif"/>
                <a:cs typeface="Instrument Serif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519" y="3171111"/>
            <a:ext cx="883801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Paid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0560" y="3696891"/>
            <a:ext cx="3545800" cy="693420"/>
          </a:xfrm>
          <a:prstGeom prst="roundRect">
            <a:avLst>
              <a:gd name="adj" fmla="val 15384"/>
            </a:avLst>
          </a:prstGeom>
          <a:solidFill>
            <a:srgbClr val="09221F"/>
          </a:solidFill>
          <a:ln w="762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76300" y="3872151"/>
            <a:ext cx="252055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0"/>
              </a:lnSpc>
            </a:pPr>
            <a:r>
              <a:rPr sz="1950" b="0" i="1">
                <a:solidFill>
                  <a:srgbClr val="8EFEBB"/>
                </a:solidFill>
                <a:latin typeface="Instrument Serif"/>
                <a:ea typeface="Instrument Serif"/>
                <a:cs typeface="Instrument Serif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5035" y="3971211"/>
            <a:ext cx="1646158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Paid creative strategy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3040" y="3696891"/>
            <a:ext cx="3545800" cy="693420"/>
          </a:xfrm>
          <a:prstGeom prst="roundRect">
            <a:avLst>
              <a:gd name="adj" fmla="val 15384"/>
            </a:avLst>
          </a:prstGeom>
          <a:solidFill>
            <a:srgbClr val="09221F"/>
          </a:solidFill>
          <a:ln w="762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28780" y="3872151"/>
            <a:ext cx="250269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0"/>
              </a:lnSpc>
            </a:pPr>
            <a:r>
              <a:rPr sz="1950" b="0" i="1">
                <a:solidFill>
                  <a:srgbClr val="8EFEBB"/>
                </a:solidFill>
                <a:latin typeface="Instrument Serif"/>
                <a:ea typeface="Instrument Serif"/>
                <a:cs typeface="Instrument Serif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5730" y="3971211"/>
            <a:ext cx="1075849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Organic social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5521" y="3696891"/>
            <a:ext cx="3545919" cy="693420"/>
          </a:xfrm>
          <a:prstGeom prst="roundRect">
            <a:avLst>
              <a:gd name="adj" fmla="val 15384"/>
            </a:avLst>
          </a:prstGeom>
          <a:solidFill>
            <a:srgbClr val="09221F"/>
          </a:solidFill>
          <a:ln w="762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81261" y="3872151"/>
            <a:ext cx="256461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0"/>
              </a:lnSpc>
            </a:pPr>
            <a:r>
              <a:rPr sz="1950" b="0" i="1">
                <a:solidFill>
                  <a:srgbClr val="8EFEBB"/>
                </a:solidFill>
                <a:latin typeface="Instrument Serif"/>
                <a:ea typeface="Instrument Serif"/>
                <a:cs typeface="Instrument Serif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4401" y="3971211"/>
            <a:ext cx="1749266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New lines and channels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0560" y="4496991"/>
            <a:ext cx="3545800" cy="693420"/>
          </a:xfrm>
          <a:prstGeom prst="roundRect">
            <a:avLst>
              <a:gd name="adj" fmla="val 15384"/>
            </a:avLst>
          </a:prstGeom>
          <a:solidFill>
            <a:srgbClr val="09221F"/>
          </a:solidFill>
          <a:ln w="762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76300" y="4672251"/>
            <a:ext cx="237292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0"/>
              </a:lnSpc>
            </a:pPr>
            <a:r>
              <a:rPr sz="1950" b="0" i="1">
                <a:solidFill>
                  <a:srgbClr val="8EFEBB"/>
                </a:solidFill>
                <a:latin typeface="Instrument Serif"/>
                <a:ea typeface="Instrument Serif"/>
                <a:cs typeface="Instrument Serif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0272" y="4771311"/>
            <a:ext cx="816292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Paid social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3040" y="4496991"/>
            <a:ext cx="3545800" cy="693420"/>
          </a:xfrm>
          <a:prstGeom prst="roundRect">
            <a:avLst>
              <a:gd name="adj" fmla="val 15384"/>
            </a:avLst>
          </a:prstGeom>
          <a:solidFill>
            <a:srgbClr val="09221F"/>
          </a:solidFill>
          <a:ln w="762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28780" y="4672251"/>
            <a:ext cx="263247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0"/>
              </a:lnSpc>
            </a:pPr>
            <a:r>
              <a:rPr sz="1950" b="0" i="1">
                <a:solidFill>
                  <a:srgbClr val="8EFEBB"/>
                </a:solidFill>
                <a:latin typeface="Instrument Serif"/>
                <a:ea typeface="Instrument Serif"/>
                <a:cs typeface="Instrument Serif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8708" y="4771311"/>
            <a:ext cx="632698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Website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0560" y="6389370"/>
            <a:ext cx="10850880" cy="0"/>
          </a:xfrm>
          <a:prstGeom prst="line">
            <a:avLst/>
          </a:prstGeom>
          <a:ln w="7620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01-Agenda-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6560820"/>
            <a:ext cx="129540" cy="1295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83920" y="6568440"/>
            <a:ext cx="1742480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650" b="1" i="0" spc="106">
                <a:solidFill>
                  <a:srgbClr val="6B7B74"/>
                </a:solidFill>
                <a:latin typeface="Manrope"/>
                <a:ea typeface="Manrope"/>
                <a:cs typeface="Manrope"/>
              </a:rPr>
              <a:t>MR MOULDINGS × VENDO DIGITAL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02854" y="6568440"/>
            <a:ext cx="14906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650" b="1" i="0" spc="53">
                <a:solidFill>
                  <a:srgbClr val="6B7B74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457200"/>
            <a:ext cx="10881360" cy="129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16"/>
              </a:lnSpc>
            </a:pPr>
            <a:r>
              <a:rPr sz="700" b="1" i="0" spc="130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SEO · THE RANKING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652224"/>
            <a:ext cx="7241143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34"/>
              </a:lnSpc>
            </a:pPr>
            <a:r>
              <a:rPr sz="3100" b="1" i="0" spc="-97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Page one is where the </a:t>
            </a:r>
            <a:r>
              <a:rPr sz="3100" b="0" i="1" spc="-32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</a:rPr>
              <a:t>clicks</a:t>
            </a:r>
            <a:r>
              <a:rPr sz="3100" b="1" i="0" spc="-97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1309330"/>
            <a:ext cx="7272338" cy="415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9"/>
              </a:lnSpc>
            </a:pPr>
            <a:r>
              <a:rPr sz="1100" b="0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How often Google showed the site, and how often people clicked, by where it ranked. UK, last 90 days, brand searches excluded.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560" y="1979890"/>
            <a:ext cx="6241613" cy="4344710"/>
          </a:xfrm>
          <a:prstGeom prst="roundRect">
            <a:avLst>
              <a:gd name="adj" fmla="val 2455"/>
            </a:avLst>
          </a:prstGeom>
          <a:solidFill>
            <a:srgbClr val="09221F"/>
          </a:solidFill>
          <a:ln w="762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76300" y="2178010"/>
            <a:ext cx="5860613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3"/>
              </a:lnSpc>
            </a:pPr>
            <a:r>
              <a:rPr sz="650" b="1" i="0" spc="106">
                <a:solidFill>
                  <a:srgbClr val="6B7B74"/>
                </a:solidFill>
                <a:latin typeface="Manrope"/>
                <a:ea typeface="Manrope"/>
                <a:cs typeface="Manrope"/>
              </a:rPr>
              <a:t>SHARE BY POSITION RANGE · UK · 90 DAYS · NON-BRAND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376488"/>
            <a:ext cx="2066092" cy="144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Share of times Google showed the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5272" y="2376488"/>
            <a:ext cx="1474351" cy="144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Share of clicks the site got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6300" y="5451158"/>
            <a:ext cx="5830133" cy="0"/>
          </a:xfrm>
          <a:prstGeom prst="line">
            <a:avLst/>
          </a:prstGeom>
          <a:ln w="762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57419" y="4670108"/>
            <a:ext cx="253127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850" b="1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14%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55382" y="4860608"/>
            <a:ext cx="426720" cy="586740"/>
          </a:xfrm>
          <a:prstGeom prst="roundRect">
            <a:avLst>
              <a:gd name="adj" fmla="val 5357"/>
            </a:avLst>
          </a:prstGeom>
          <a:solidFill>
            <a:srgbClr val="2F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719620" y="4167188"/>
            <a:ext cx="273487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850" b="1" i="0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26%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7822" y="4357688"/>
            <a:ext cx="426720" cy="1089660"/>
          </a:xfrm>
          <a:prstGeom prst="roundRect">
            <a:avLst>
              <a:gd name="adj" fmla="val 5357"/>
            </a:avLst>
          </a:prstGeom>
          <a:solidFill>
            <a:srgbClr val="8EF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706529" y="3367088"/>
            <a:ext cx="270034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850" b="1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45%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12946" y="3557588"/>
            <a:ext cx="426720" cy="1889760"/>
          </a:xfrm>
          <a:prstGeom prst="roundRect">
            <a:avLst>
              <a:gd name="adj" fmla="val 5357"/>
            </a:avLst>
          </a:prstGeom>
          <a:solidFill>
            <a:srgbClr val="2F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179802" y="3031808"/>
            <a:ext cx="268248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850" b="1" i="0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53%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85386" y="3222308"/>
            <a:ext cx="426720" cy="2225040"/>
          </a:xfrm>
          <a:prstGeom prst="roundRect">
            <a:avLst>
              <a:gd name="adj" fmla="val 5357"/>
            </a:avLst>
          </a:prstGeom>
          <a:solidFill>
            <a:srgbClr val="8EF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164330" y="3831908"/>
            <a:ext cx="269438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850" b="1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34%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70509" y="4022408"/>
            <a:ext cx="426720" cy="1424940"/>
          </a:xfrm>
          <a:prstGeom prst="roundRect">
            <a:avLst>
              <a:gd name="adj" fmla="val 5357"/>
            </a:avLst>
          </a:prstGeom>
          <a:solidFill>
            <a:srgbClr val="2F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43318" y="4464368"/>
            <a:ext cx="256342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850" b="1" i="0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19%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42949" y="4654868"/>
            <a:ext cx="426720" cy="792480"/>
          </a:xfrm>
          <a:prstGeom prst="roundRect">
            <a:avLst>
              <a:gd name="adj" fmla="val 5357"/>
            </a:avLst>
          </a:prstGeom>
          <a:solidFill>
            <a:srgbClr val="8EF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659398" y="4967288"/>
            <a:ext cx="194429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850" b="1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7%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28072" y="5157788"/>
            <a:ext cx="426720" cy="289560"/>
          </a:xfrm>
          <a:prstGeom prst="roundRect">
            <a:avLst>
              <a:gd name="adj" fmla="val 7894"/>
            </a:avLst>
          </a:prstGeom>
          <a:solidFill>
            <a:srgbClr val="2F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27909" y="5173028"/>
            <a:ext cx="202406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850" b="1" i="0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00512" y="5363528"/>
            <a:ext cx="426720" cy="83820"/>
          </a:xfrm>
          <a:prstGeom prst="roundRect">
            <a:avLst>
              <a:gd name="adj" fmla="val 27272"/>
            </a:avLst>
          </a:prstGeom>
          <a:solidFill>
            <a:srgbClr val="8EF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1060" y="5538788"/>
            <a:ext cx="1487924" cy="144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02"/>
              </a:lnSpc>
            </a:pPr>
            <a:r>
              <a:rPr sz="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Positions 1–3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060" y="5704046"/>
            <a:ext cx="148792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08"/>
              </a:lnSpc>
            </a:pPr>
            <a:r>
              <a:rPr sz="750" b="0" i="0">
                <a:solidFill>
                  <a:srgbClr val="8FA39B"/>
                </a:solidFill>
                <a:latin typeface="Manrope"/>
                <a:ea typeface="Manrope"/>
                <a:cs typeface="Manrope"/>
              </a:rPr>
              <a:t>Top of page 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18504" y="5538788"/>
            <a:ext cx="1488043" cy="144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02"/>
              </a:lnSpc>
            </a:pPr>
            <a:r>
              <a:rPr sz="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Positions 4–10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18504" y="5704046"/>
            <a:ext cx="1488043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08"/>
              </a:lnSpc>
            </a:pPr>
            <a:r>
              <a:rPr sz="750" b="0" i="0">
                <a:solidFill>
                  <a:srgbClr val="8FA39B"/>
                </a:solidFill>
                <a:latin typeface="Manrope"/>
                <a:ea typeface="Manrope"/>
                <a:cs typeface="Manrope"/>
              </a:rPr>
              <a:t>Rest of page 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6067" y="5538788"/>
            <a:ext cx="1488043" cy="144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02"/>
              </a:lnSpc>
            </a:pPr>
            <a:r>
              <a:rPr sz="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Positions 11–20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6067" y="5704046"/>
            <a:ext cx="1488043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08"/>
              </a:lnSpc>
            </a:pPr>
            <a:r>
              <a:rPr sz="750" b="0" i="0">
                <a:solidFill>
                  <a:srgbClr val="8FA39B"/>
                </a:solidFill>
                <a:latin typeface="Manrope"/>
                <a:ea typeface="Manrope"/>
                <a:cs typeface="Manrope"/>
              </a:rPr>
              <a:t>Page two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3630" y="5538788"/>
            <a:ext cx="1488043" cy="144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02"/>
              </a:lnSpc>
            </a:pPr>
            <a:r>
              <a:rPr sz="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Position 21+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3630" y="5704046"/>
            <a:ext cx="1488043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08"/>
              </a:lnSpc>
            </a:pPr>
            <a:r>
              <a:rPr sz="750" b="0" i="0">
                <a:solidFill>
                  <a:srgbClr val="8FA39B"/>
                </a:solidFill>
                <a:latin typeface="Manrope"/>
                <a:ea typeface="Manrope"/>
                <a:cs typeface="Manrope"/>
              </a:rPr>
              <a:t>Page three onwards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6300" y="5926098"/>
            <a:ext cx="5860613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750" b="0" i="0">
                <a:solidFill>
                  <a:srgbClr val="6B7B74"/>
                </a:solidFill>
                <a:latin typeface="Manrope"/>
                <a:ea typeface="Manrope"/>
                <a:cs typeface="Manrope"/>
              </a:rPr>
              <a:t>Read across each pair: page one gets more than its share of clicks, page two much less.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16973" y="1979890"/>
            <a:ext cx="4304467" cy="2332077"/>
          </a:xfrm>
          <a:prstGeom prst="roundRect">
            <a:avLst>
              <a:gd name="adj" fmla="val 4574"/>
            </a:avLst>
          </a:prstGeom>
          <a:solidFill>
            <a:srgbClr val="8EFEBB">
              <a:alpha val="9000"/>
            </a:srgbClr>
          </a:solidFill>
          <a:ln w="7620">
            <a:solidFill>
              <a:srgbClr val="8EFEBB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422713" y="2178010"/>
            <a:ext cx="3923467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3"/>
              </a:lnSpc>
            </a:pPr>
            <a:r>
              <a:rPr sz="650" b="1" i="0" spc="106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SHARE OF SEARCHERS WHO CLICK, THIS SITE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422713" y="2723198"/>
            <a:ext cx="3892987" cy="0"/>
          </a:xfrm>
          <a:prstGeom prst="line">
            <a:avLst/>
          </a:prstGeom>
          <a:ln w="7620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422713" y="2475548"/>
            <a:ext cx="561499" cy="167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Position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43272" y="2445068"/>
            <a:ext cx="402908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9.4%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422713" y="3073718"/>
            <a:ext cx="3892987" cy="0"/>
          </a:xfrm>
          <a:prstGeom prst="line">
            <a:avLst/>
          </a:prstGeom>
          <a:ln w="7620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422713" y="2826068"/>
            <a:ext cx="581382" cy="167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Position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43272" y="2795588"/>
            <a:ext cx="402908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3.0%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422713" y="3424238"/>
            <a:ext cx="3892987" cy="0"/>
          </a:xfrm>
          <a:prstGeom prst="line">
            <a:avLst/>
          </a:prstGeom>
          <a:ln w="7620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22713" y="3176588"/>
            <a:ext cx="584478" cy="167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Position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43272" y="3146108"/>
            <a:ext cx="402908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1.7%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422713" y="3774758"/>
            <a:ext cx="3892987" cy="0"/>
          </a:xfrm>
          <a:prstGeom prst="line">
            <a:avLst/>
          </a:prstGeom>
          <a:ln w="7620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422713" y="3527108"/>
            <a:ext cx="635913" cy="167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Position 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43272" y="3496628"/>
            <a:ext cx="402908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0.7%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2713" y="3877628"/>
            <a:ext cx="548997" cy="167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Page two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43272" y="3847148"/>
            <a:ext cx="402908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0.5%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16973" y="4464368"/>
            <a:ext cx="4304467" cy="1171575"/>
          </a:xfrm>
          <a:prstGeom prst="roundRect">
            <a:avLst>
              <a:gd name="adj" fmla="val 9105"/>
            </a:avLst>
          </a:prstGeom>
          <a:solidFill>
            <a:srgbClr val="09221F"/>
          </a:solidFill>
          <a:ln w="762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422713" y="4654868"/>
            <a:ext cx="3923467" cy="198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5"/>
              </a:lnSpc>
            </a:pPr>
            <a:r>
              <a:rPr sz="1100" b="1" i="0" spc="-1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Page two is the cheapest traffic in the plan.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2713" y="4921568"/>
            <a:ext cx="3923467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5"/>
              </a:lnSpc>
            </a:pPr>
            <a:r>
              <a:rPr sz="850" b="0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It holds 34% of impressions and earns 19% of clicks. A term that moves from page two to position 5 gets about three times the clicks, from pages that already exist.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70560" y="6389370"/>
            <a:ext cx="10850880" cy="0"/>
          </a:xfrm>
          <a:prstGeom prst="line">
            <a:avLst/>
          </a:prstGeom>
          <a:ln w="7620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54" descr="01-Agenda-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6560820"/>
            <a:ext cx="129540" cy="1295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83920" y="6568440"/>
            <a:ext cx="1742480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650" b="1" i="0" spc="106">
                <a:solidFill>
                  <a:srgbClr val="6B7B74"/>
                </a:solidFill>
                <a:latin typeface="Manrope"/>
                <a:ea typeface="Manrope"/>
                <a:cs typeface="Manrope"/>
              </a:rPr>
              <a:t>MR MOULDINGS × VENDO DIGITAL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4524" y="6568440"/>
            <a:ext cx="11739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650" b="1" i="0" spc="53">
                <a:solidFill>
                  <a:srgbClr val="6B7B74"/>
                </a:solidFill>
                <a:latin typeface="Manrope"/>
                <a:ea typeface="Manrope"/>
                <a:cs typeface="Manrope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457200"/>
            <a:ext cx="10881360" cy="129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16"/>
              </a:lnSpc>
            </a:pPr>
            <a:r>
              <a:rPr sz="700" b="1" i="0" spc="130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SEO · WHAT THE NEW LINES ADD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652224"/>
            <a:ext cx="7241143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34"/>
              </a:lnSpc>
            </a:pPr>
            <a:r>
              <a:rPr sz="3100" b="1" i="0" spc="-97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From searches to </a:t>
            </a:r>
            <a:r>
              <a:rPr sz="3100" b="0" i="1" spc="-32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</a:rPr>
              <a:t>visits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1309330"/>
            <a:ext cx="7272338" cy="415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9"/>
              </a:lnSpc>
            </a:pPr>
            <a:r>
              <a:rPr sz="1100" b="0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Searches a month become visits at the rate this site already earns: 3.0% of searchers click at third place, 9.4% at 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560" y="1979890"/>
            <a:ext cx="6327696" cy="4344710"/>
          </a:xfrm>
          <a:prstGeom prst="roundRect">
            <a:avLst>
              <a:gd name="adj" fmla="val 2455"/>
            </a:avLst>
          </a:prstGeom>
          <a:solidFill>
            <a:srgbClr val="09221F"/>
          </a:solidFill>
          <a:ln w="762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76300" y="2178010"/>
            <a:ext cx="594669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3"/>
              </a:lnSpc>
            </a:pPr>
            <a:r>
              <a:rPr sz="650" b="1" i="0" spc="106">
                <a:solidFill>
                  <a:srgbClr val="6B7B74"/>
                </a:solidFill>
                <a:latin typeface="Manrope"/>
                <a:ea typeface="Manrope"/>
                <a:cs typeface="Manrope"/>
              </a:rPr>
              <a:t>VISITS A MONTH FROM GOOGLE · 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46020" y="2376488"/>
            <a:ext cx="1539240" cy="144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Visits a month at third 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8140" y="2376488"/>
            <a:ext cx="138957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750" b="0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Visits a month at first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728912"/>
            <a:ext cx="1478280" cy="175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</a:pPr>
            <a:r>
              <a:rPr sz="9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Solid Hardwood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944892"/>
            <a:ext cx="147828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8"/>
              </a:lnSpc>
            </a:pPr>
            <a:r>
              <a:rPr sz="750" b="0" i="0">
                <a:solidFill>
                  <a:srgbClr val="8FA39B"/>
                </a:solidFill>
                <a:latin typeface="Manrope"/>
                <a:ea typeface="Manrope"/>
                <a:cs typeface="Manrope"/>
              </a:rPr>
              <a:t>23,400 searches a 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6020" y="2688908"/>
            <a:ext cx="1021080" cy="198120"/>
          </a:xfrm>
          <a:prstGeom prst="roundRect">
            <a:avLst>
              <a:gd name="adj" fmla="val 7692"/>
            </a:avLst>
          </a:prstGeom>
          <a:solidFill>
            <a:srgbClr val="8EF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28060" y="2715578"/>
            <a:ext cx="224909" cy="144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1" i="0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702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46020" y="2925128"/>
            <a:ext cx="3200400" cy="198120"/>
          </a:xfrm>
          <a:prstGeom prst="roundRect">
            <a:avLst>
              <a:gd name="adj" fmla="val 7692"/>
            </a:avLst>
          </a:prstGeom>
          <a:solidFill>
            <a:srgbClr val="2F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707380" y="2951798"/>
            <a:ext cx="330398" cy="144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1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2,200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422332"/>
            <a:ext cx="1478280" cy="175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</a:pPr>
            <a:r>
              <a:rPr sz="9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LED coving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638312"/>
            <a:ext cx="147828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8"/>
              </a:lnSpc>
            </a:pPr>
            <a:r>
              <a:rPr sz="750" b="0" i="0">
                <a:solidFill>
                  <a:srgbClr val="8FA39B"/>
                </a:solidFill>
                <a:latin typeface="Manrope"/>
                <a:ea typeface="Manrope"/>
                <a:cs typeface="Manrope"/>
              </a:rPr>
              <a:t>8,270 searches a month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46020" y="3382328"/>
            <a:ext cx="358140" cy="198120"/>
          </a:xfrm>
          <a:prstGeom prst="roundRect">
            <a:avLst>
              <a:gd name="adj" fmla="val 7692"/>
            </a:avLst>
          </a:prstGeom>
          <a:solidFill>
            <a:srgbClr val="8EF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865120" y="3408998"/>
            <a:ext cx="224909" cy="144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1" i="0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248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46020" y="3618548"/>
            <a:ext cx="1127760" cy="198120"/>
          </a:xfrm>
          <a:prstGeom prst="roundRect">
            <a:avLst>
              <a:gd name="adj" fmla="val 7692"/>
            </a:avLst>
          </a:prstGeom>
          <a:solidFill>
            <a:srgbClr val="2F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634740" y="3645218"/>
            <a:ext cx="202644" cy="144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1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777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4115752"/>
            <a:ext cx="1478280" cy="175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</a:pPr>
            <a:r>
              <a:rPr sz="9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Ceiling roses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4331732"/>
            <a:ext cx="147828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8"/>
              </a:lnSpc>
            </a:pPr>
            <a:r>
              <a:rPr sz="750" b="0" i="0">
                <a:solidFill>
                  <a:srgbClr val="8FA39B"/>
                </a:solidFill>
                <a:latin typeface="Manrope"/>
                <a:ea typeface="Manrope"/>
                <a:cs typeface="Manrope"/>
              </a:rPr>
              <a:t>8,000 searches a month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46020" y="4075748"/>
            <a:ext cx="350520" cy="198120"/>
          </a:xfrm>
          <a:prstGeom prst="roundRect">
            <a:avLst>
              <a:gd name="adj" fmla="val 7692"/>
            </a:avLst>
          </a:prstGeom>
          <a:solidFill>
            <a:srgbClr val="8EF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857500" y="4102418"/>
            <a:ext cx="230386" cy="144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1" i="0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240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46020" y="4311968"/>
            <a:ext cx="1097280" cy="198120"/>
          </a:xfrm>
          <a:prstGeom prst="roundRect">
            <a:avLst>
              <a:gd name="adj" fmla="val 7692"/>
            </a:avLst>
          </a:prstGeom>
          <a:solidFill>
            <a:srgbClr val="2F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604260" y="4338638"/>
            <a:ext cx="210741" cy="144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1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752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" y="4809172"/>
            <a:ext cx="1478280" cy="175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</a:pPr>
            <a:r>
              <a:rPr sz="9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Bobbin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300" y="5025152"/>
            <a:ext cx="147828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8"/>
              </a:lnSpc>
            </a:pPr>
            <a:r>
              <a:rPr sz="750" b="0" i="0">
                <a:solidFill>
                  <a:srgbClr val="8FA39B"/>
                </a:solidFill>
                <a:latin typeface="Manrope"/>
                <a:ea typeface="Manrope"/>
                <a:cs typeface="Manrope"/>
              </a:rPr>
              <a:t>3,040 searches a month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46020" y="4769168"/>
            <a:ext cx="129540" cy="198120"/>
          </a:xfrm>
          <a:prstGeom prst="roundRect">
            <a:avLst>
              <a:gd name="adj" fmla="val 11764"/>
            </a:avLst>
          </a:prstGeom>
          <a:solidFill>
            <a:srgbClr val="8EF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636520" y="4795838"/>
            <a:ext cx="145375" cy="144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1" i="0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91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46020" y="5005388"/>
            <a:ext cx="419100" cy="198120"/>
          </a:xfrm>
          <a:prstGeom prst="roundRect">
            <a:avLst>
              <a:gd name="adj" fmla="val 7692"/>
            </a:avLst>
          </a:prstGeom>
          <a:solidFill>
            <a:srgbClr val="2F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926080" y="5032058"/>
            <a:ext cx="225742" cy="144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1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286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03056" y="1979890"/>
            <a:ext cx="4218384" cy="1398627"/>
          </a:xfrm>
          <a:prstGeom prst="roundRect">
            <a:avLst>
              <a:gd name="adj" fmla="val 7627"/>
            </a:avLst>
          </a:prstGeom>
          <a:solidFill>
            <a:srgbClr val="8EFEBB">
              <a:alpha val="9000"/>
            </a:srgbClr>
          </a:solidFill>
          <a:ln w="7620">
            <a:solidFill>
              <a:srgbClr val="8EFEBB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08796" y="2178010"/>
            <a:ext cx="3837384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3"/>
              </a:lnSpc>
            </a:pPr>
            <a:r>
              <a:rPr sz="650" b="1" i="0" spc="106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ALL FOUR AT THIRD PLACE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8796" y="2307908"/>
            <a:ext cx="3837384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9"/>
              </a:lnSpc>
            </a:pPr>
            <a:r>
              <a:rPr sz="2750" b="1" i="0" spc="-86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+1,281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08796" y="2841308"/>
            <a:ext cx="3837384" cy="3371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5"/>
              </a:lnSpc>
            </a:pPr>
            <a:r>
              <a:rPr sz="850" b="0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visits a month, +21% on the 6,200 UK clicks Google sends the site today. About 4,000 if all four reach first place.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03056" y="3530918"/>
            <a:ext cx="4218384" cy="1295757"/>
          </a:xfrm>
          <a:prstGeom prst="roundRect">
            <a:avLst>
              <a:gd name="adj" fmla="val 8233"/>
            </a:avLst>
          </a:prstGeom>
          <a:solidFill>
            <a:srgbClr val="09221F"/>
          </a:solidFill>
          <a:ln w="762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508796" y="3729038"/>
            <a:ext cx="3837384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3"/>
              </a:lnSpc>
            </a:pPr>
            <a:r>
              <a:rPr sz="650" b="1" i="0" spc="106">
                <a:solidFill>
                  <a:srgbClr val="6B7B74"/>
                </a:solidFill>
                <a:latin typeface="Manrope"/>
                <a:ea typeface="Manrope"/>
                <a:cs typeface="Manrope"/>
              </a:rPr>
              <a:t>THE MATHS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08796" y="3935135"/>
            <a:ext cx="3837384" cy="6915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5"/>
              </a:lnSpc>
            </a:pPr>
            <a:r>
              <a:rPr sz="850" b="0" i="0">
                <a:solidFill>
                  <a:srgbClr val="B9C7C0"/>
                </a:solidFill>
                <a:latin typeface="Manrope"/>
                <a:ea typeface="Manrope"/>
                <a:cs typeface="Manrope"/>
              </a:rPr>
              <a:t>LED coving: 8,270 searches × 3.0% = 248 visits at third place, × 9.4% = 777 at first. The same sum for each line, using the site's own non-brand click-through. Visits, not revenue: pound values follow once the lines sell.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70560" y="6389370"/>
            <a:ext cx="10850880" cy="0"/>
          </a:xfrm>
          <a:prstGeom prst="line">
            <a:avLst/>
          </a:prstGeom>
          <a:ln w="7620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Picture 40" descr="01-Agenda-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6560820"/>
            <a:ext cx="129540" cy="12954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83920" y="6568440"/>
            <a:ext cx="1742480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650" b="1" i="0" spc="106">
                <a:solidFill>
                  <a:srgbClr val="6B7B74"/>
                </a:solidFill>
                <a:latin typeface="Manrope"/>
                <a:ea typeface="Manrope"/>
                <a:cs typeface="Manrope"/>
              </a:rPr>
              <a:t>MR MOULDINGS × VENDO DIGITAL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22142" y="6568440"/>
            <a:ext cx="129778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650" b="1" i="0" spc="53">
                <a:solidFill>
                  <a:srgbClr val="6B7B74"/>
                </a:solidFill>
                <a:latin typeface="Manrope"/>
                <a:ea typeface="Manrope"/>
                <a:cs typeface="Manrope"/>
              </a:rPr>
              <a:t>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457200"/>
            <a:ext cx="10881360" cy="129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16"/>
              </a:lnSpc>
            </a:pPr>
            <a:r>
              <a:rPr sz="700" b="1" i="0" spc="130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SECTION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652224"/>
            <a:ext cx="7241143" cy="563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34"/>
              </a:lnSpc>
            </a:pPr>
            <a:r>
              <a:rPr sz="3100" b="1" i="0" spc="-97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Paid 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3115866"/>
            <a:ext cx="6156960" cy="148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0"/>
              </a:lnSpc>
            </a:pPr>
            <a:r>
              <a:rPr sz="8600" b="0" i="1">
                <a:solidFill>
                  <a:srgbClr val="8EFEBB"/>
                </a:solidFill>
                <a:latin typeface="Instrument Serif"/>
                <a:ea typeface="Instrument Serif"/>
                <a:cs typeface="Instrument Serif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54240" y="3070027"/>
            <a:ext cx="4267200" cy="1585317"/>
          </a:xfrm>
          <a:prstGeom prst="roundRect">
            <a:avLst>
              <a:gd name="adj" fmla="val 6729"/>
            </a:avLst>
          </a:prstGeom>
          <a:solidFill>
            <a:srgbClr val="09221F"/>
          </a:solidFill>
          <a:ln w="762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536180" y="3313867"/>
            <a:ext cx="3733800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3"/>
              </a:lnSpc>
            </a:pPr>
            <a:r>
              <a:rPr sz="650" b="1" i="0" spc="106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IN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36180" y="3542824"/>
            <a:ext cx="373380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59"/>
              </a:lnSpc>
            </a:pPr>
            <a:r>
              <a:rPr sz="11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Meta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6180" y="3870484"/>
            <a:ext cx="373380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59"/>
              </a:lnSpc>
            </a:pPr>
            <a:r>
              <a:rPr sz="11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The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36180" y="4198144"/>
            <a:ext cx="373380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59"/>
              </a:lnSpc>
            </a:pPr>
            <a:r>
              <a:rPr sz="11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The forecast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0560" y="6389370"/>
            <a:ext cx="10850880" cy="0"/>
          </a:xfrm>
          <a:prstGeom prst="line">
            <a:avLst/>
          </a:prstGeom>
          <a:ln w="7620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01-Agenda-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6560820"/>
            <a:ext cx="129540" cy="1295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3920" y="6568440"/>
            <a:ext cx="1742480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650" b="1" i="0" spc="106">
                <a:solidFill>
                  <a:srgbClr val="6B7B74"/>
                </a:solidFill>
                <a:latin typeface="Manrope"/>
                <a:ea typeface="Manrope"/>
                <a:cs typeface="Manrope"/>
              </a:rPr>
              <a:t>MR MOULDINGS × VENDO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07854" y="6568440"/>
            <a:ext cx="14406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650" b="1" i="0" spc="53">
                <a:solidFill>
                  <a:srgbClr val="6B7B74"/>
                </a:solidFill>
                <a:latin typeface="Manrope"/>
                <a:ea typeface="Manrope"/>
                <a:cs typeface="Manrope"/>
              </a:rPr>
              <a:t>54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457200"/>
            <a:ext cx="10881360" cy="129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16"/>
              </a:lnSpc>
            </a:pPr>
            <a:r>
              <a:rPr sz="700" b="1" i="0" spc="130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SECTION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652224"/>
            <a:ext cx="7241143" cy="563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34"/>
              </a:lnSpc>
            </a:pPr>
            <a:r>
              <a:rPr sz="3100" b="1" i="0" spc="-97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3115866"/>
            <a:ext cx="6156960" cy="148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0"/>
              </a:lnSpc>
            </a:pPr>
            <a:r>
              <a:rPr sz="8600" b="0" i="1">
                <a:solidFill>
                  <a:srgbClr val="8EFEBB"/>
                </a:solidFill>
                <a:latin typeface="Instrument Serif"/>
                <a:ea typeface="Instrument Serif"/>
                <a:cs typeface="Instrument Serif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54240" y="2742367"/>
            <a:ext cx="4267200" cy="2240637"/>
          </a:xfrm>
          <a:prstGeom prst="roundRect">
            <a:avLst>
              <a:gd name="adj" fmla="val 4761"/>
            </a:avLst>
          </a:prstGeom>
          <a:solidFill>
            <a:srgbClr val="09221F"/>
          </a:solidFill>
          <a:ln w="762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536180" y="2986207"/>
            <a:ext cx="3733800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3"/>
              </a:lnSpc>
            </a:pPr>
            <a:r>
              <a:rPr sz="650" b="1" i="0" spc="106">
                <a:solidFill>
                  <a:srgbClr val="8EFEBB"/>
                </a:solidFill>
                <a:latin typeface="Manrope"/>
                <a:ea typeface="Manrope"/>
                <a:cs typeface="Manrope"/>
              </a:rPr>
              <a:t>IN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36180" y="3215164"/>
            <a:ext cx="373380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59"/>
              </a:lnSpc>
            </a:pPr>
            <a:r>
              <a:rPr sz="11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Five waves, ready to go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6180" y="3542824"/>
            <a:ext cx="373380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59"/>
              </a:lnSpc>
            </a:pPr>
            <a:r>
              <a:rPr sz="11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Everything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36180" y="3870484"/>
            <a:ext cx="373380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59"/>
              </a:lnSpc>
            </a:pPr>
            <a:r>
              <a:rPr sz="11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What the release is worth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6180" y="4198144"/>
            <a:ext cx="373380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59"/>
              </a:lnSpc>
            </a:pPr>
            <a:r>
              <a:rPr sz="11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The funnel, stage by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36180" y="4525804"/>
            <a:ext cx="373380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59"/>
              </a:lnSpc>
            </a:pPr>
            <a:r>
              <a:rPr sz="11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Recoverable revenue at checkout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0560" y="6389370"/>
            <a:ext cx="10850880" cy="0"/>
          </a:xfrm>
          <a:prstGeom prst="line">
            <a:avLst/>
          </a:prstGeom>
          <a:ln w="7620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01-Agenda-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6560820"/>
            <a:ext cx="129540" cy="1295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3920" y="6568440"/>
            <a:ext cx="1742480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650" b="1" i="0" spc="106">
                <a:solidFill>
                  <a:srgbClr val="6B7B74"/>
                </a:solidFill>
                <a:latin typeface="Manrope"/>
                <a:ea typeface="Manrope"/>
                <a:cs typeface="Manrope"/>
              </a:rPr>
              <a:t>MR MOULDINGS × VENDO DIGITAL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07497" y="6568440"/>
            <a:ext cx="144423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650" b="1" i="0" spc="53">
                <a:solidFill>
                  <a:srgbClr val="6B7B74"/>
                </a:solidFill>
                <a:latin typeface="Manrope"/>
                <a:ea typeface="Manrope"/>
                <a:cs typeface="Manrope"/>
              </a:rPr>
              <a:t>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