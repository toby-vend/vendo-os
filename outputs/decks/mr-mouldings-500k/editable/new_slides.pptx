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457200"/>
            <a:ext cx="1088136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16"/>
              </a:lnSpc>
            </a:pPr>
            <a:r>
              <a:rPr sz="700" b="1" i="0" spc="13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652224"/>
            <a:ext cx="724114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34"/>
              </a:lnSpc>
            </a:pPr>
            <a:r>
              <a:rPr sz="3100" b="1" i="0" spc="-97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Nine sections, one </a:t>
            </a:r>
            <a:r>
              <a:rPr sz="3100" b="0" i="1" spc="-32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</a:rPr>
              <a:t>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1309330"/>
            <a:ext cx="7272338" cy="198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9"/>
              </a:lnSpc>
            </a:pPr>
            <a:r>
              <a:rPr sz="11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Each channel takes its own 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0560" y="2896791"/>
            <a:ext cx="3545800" cy="693420"/>
          </a:xfrm>
          <a:prstGeom prst="roundRect">
            <a:avLst>
              <a:gd name="adj" fmla="val 15384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6300" y="3072051"/>
            <a:ext cx="214193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50"/>
              </a:lnSpc>
            </a:pPr>
            <a:r>
              <a:rPr sz="1950" b="0" i="1">
                <a:solidFill>
                  <a:srgbClr val="8EFEBB"/>
                </a:solidFill>
                <a:latin typeface="Instrument Serif"/>
                <a:ea typeface="Instrument Serif"/>
                <a:cs typeface="Instrument Serif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173" y="3171111"/>
            <a:ext cx="1225987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5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The opportunity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3040" y="2896791"/>
            <a:ext cx="3545800" cy="693420"/>
          </a:xfrm>
          <a:prstGeom prst="roundRect">
            <a:avLst>
              <a:gd name="adj" fmla="val 15384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28780" y="3072051"/>
            <a:ext cx="251579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50"/>
              </a:lnSpc>
            </a:pPr>
            <a:r>
              <a:rPr sz="1950" b="0" i="1">
                <a:solidFill>
                  <a:srgbClr val="8EFEBB"/>
                </a:solidFill>
                <a:latin typeface="Instrument Serif"/>
                <a:ea typeface="Instrument Serif"/>
                <a:cs typeface="Instrument Serif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87039" y="3171111"/>
            <a:ext cx="329446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5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SEO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75521" y="2896791"/>
            <a:ext cx="3545919" cy="693420"/>
          </a:xfrm>
          <a:prstGeom prst="roundRect">
            <a:avLst>
              <a:gd name="adj" fmla="val 15384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181261" y="3072051"/>
            <a:ext cx="246578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50"/>
              </a:lnSpc>
            </a:pPr>
            <a:r>
              <a:rPr sz="1950" b="0" i="1">
                <a:solidFill>
                  <a:srgbClr val="8EFEBB"/>
                </a:solidFill>
                <a:latin typeface="Instrument Serif"/>
                <a:ea typeface="Instrument Serif"/>
                <a:cs typeface="Instrument Serif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4519" y="3171111"/>
            <a:ext cx="883801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5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Paid search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0560" y="3696891"/>
            <a:ext cx="3545800" cy="693420"/>
          </a:xfrm>
          <a:prstGeom prst="roundRect">
            <a:avLst>
              <a:gd name="adj" fmla="val 15384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76300" y="3872151"/>
            <a:ext cx="252055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50"/>
              </a:lnSpc>
            </a:pPr>
            <a:r>
              <a:rPr sz="1950" b="0" i="1">
                <a:solidFill>
                  <a:srgbClr val="8EFEBB"/>
                </a:solidFill>
                <a:latin typeface="Instrument Serif"/>
                <a:ea typeface="Instrument Serif"/>
                <a:cs typeface="Instrument Serif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5035" y="3971211"/>
            <a:ext cx="1646158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5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Paid creative strategy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3040" y="3696891"/>
            <a:ext cx="3545800" cy="693420"/>
          </a:xfrm>
          <a:prstGeom prst="roundRect">
            <a:avLst>
              <a:gd name="adj" fmla="val 15384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28780" y="3872151"/>
            <a:ext cx="250269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50"/>
              </a:lnSpc>
            </a:pPr>
            <a:r>
              <a:rPr sz="1950" b="0" i="1">
                <a:solidFill>
                  <a:srgbClr val="8EFEBB"/>
                </a:solidFill>
                <a:latin typeface="Instrument Serif"/>
                <a:ea typeface="Instrument Serif"/>
                <a:cs typeface="Instrument Serif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85730" y="3971211"/>
            <a:ext cx="1075849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5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Organic social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75521" y="3696891"/>
            <a:ext cx="3545919" cy="693420"/>
          </a:xfrm>
          <a:prstGeom prst="roundRect">
            <a:avLst>
              <a:gd name="adj" fmla="val 15384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181261" y="3872151"/>
            <a:ext cx="256461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50"/>
              </a:lnSpc>
            </a:pPr>
            <a:r>
              <a:rPr sz="1950" b="0" i="1">
                <a:solidFill>
                  <a:srgbClr val="8EFEBB"/>
                </a:solidFill>
                <a:latin typeface="Instrument Serif"/>
                <a:ea typeface="Instrument Serif"/>
                <a:cs typeface="Instrument Serif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4401" y="3971211"/>
            <a:ext cx="1749266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5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New lines and channels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0560" y="4496991"/>
            <a:ext cx="3545800" cy="693420"/>
          </a:xfrm>
          <a:prstGeom prst="roundRect">
            <a:avLst>
              <a:gd name="adj" fmla="val 15384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76300" y="4672251"/>
            <a:ext cx="237292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50"/>
              </a:lnSpc>
            </a:pPr>
            <a:r>
              <a:rPr sz="1950" b="0" i="1">
                <a:solidFill>
                  <a:srgbClr val="8EFEBB"/>
                </a:solidFill>
                <a:latin typeface="Instrument Serif"/>
                <a:ea typeface="Instrument Serif"/>
                <a:cs typeface="Instrument Serif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0272" y="4771311"/>
            <a:ext cx="660321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5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The plan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3040" y="4496991"/>
            <a:ext cx="3545800" cy="693420"/>
          </a:xfrm>
          <a:prstGeom prst="roundRect">
            <a:avLst>
              <a:gd name="adj" fmla="val 15384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528780" y="4672251"/>
            <a:ext cx="263247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50"/>
              </a:lnSpc>
            </a:pPr>
            <a:r>
              <a:rPr sz="1950" b="0" i="1">
                <a:solidFill>
                  <a:srgbClr val="8EFEBB"/>
                </a:solidFill>
                <a:latin typeface="Instrument Serif"/>
                <a:ea typeface="Instrument Serif"/>
                <a:cs typeface="Instrument Serif"/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8708" y="4771311"/>
            <a:ext cx="816292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5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Paid social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75521" y="4496991"/>
            <a:ext cx="3545919" cy="693420"/>
          </a:xfrm>
          <a:prstGeom prst="roundRect">
            <a:avLst>
              <a:gd name="adj" fmla="val 15384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181261" y="4672251"/>
            <a:ext cx="257175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50"/>
              </a:lnSpc>
            </a:pPr>
            <a:r>
              <a:rPr sz="1950" b="0" i="1">
                <a:solidFill>
                  <a:srgbClr val="8EFEBB"/>
                </a:solidFill>
                <a:latin typeface="Instrument Serif"/>
                <a:ea typeface="Instrument Serif"/>
                <a:cs typeface="Instrument Serif"/>
              </a:rPr>
              <a:t>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5116" y="4771311"/>
            <a:ext cx="632698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5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Website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70560" y="6389370"/>
            <a:ext cx="1085088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3" name="Picture 32" descr="01-Agenda-sv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" y="6560820"/>
            <a:ext cx="129540" cy="12954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83920" y="6568440"/>
            <a:ext cx="174248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MR MOULDINGS × VENDO DIGITAL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02854" y="6568440"/>
            <a:ext cx="149066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53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457200"/>
            <a:ext cx="1088136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16"/>
              </a:lnSpc>
            </a:pPr>
            <a:r>
              <a:rPr sz="700" b="1" i="0" spc="13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SECTION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652224"/>
            <a:ext cx="7241143" cy="563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34"/>
              </a:lnSpc>
            </a:pPr>
            <a:r>
              <a:rPr sz="3100" b="1" i="0" spc="-97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The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3115866"/>
            <a:ext cx="6156960" cy="148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0"/>
              </a:lnSpc>
            </a:pPr>
            <a:r>
              <a:rPr sz="8600" b="0" i="1">
                <a:solidFill>
                  <a:srgbClr val="8EFEBB"/>
                </a:solidFill>
                <a:latin typeface="Instrument Serif"/>
                <a:ea typeface="Instrument Serif"/>
                <a:cs typeface="Instrument Serif"/>
              </a:rPr>
              <a:t>01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54240" y="2742367"/>
            <a:ext cx="4267200" cy="2240637"/>
          </a:xfrm>
          <a:prstGeom prst="roundRect">
            <a:avLst>
              <a:gd name="adj" fmla="val 4761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536180" y="2986207"/>
            <a:ext cx="373380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IN THIS SECTION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36180" y="3215164"/>
            <a:ext cx="3733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</a:pPr>
            <a:r>
              <a:rPr sz="11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Where the business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6180" y="3542824"/>
            <a:ext cx="3733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</a:pPr>
            <a:r>
              <a:rPr sz="11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The trajectory to £500k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36180" y="3870484"/>
            <a:ext cx="3733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</a:pPr>
            <a:r>
              <a:rPr sz="11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What the plan is for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36180" y="4198144"/>
            <a:ext cx="3733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</a:pPr>
            <a:r>
              <a:rPr sz="11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Who is buying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36180" y="4525804"/>
            <a:ext cx="3733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</a:pPr>
            <a:r>
              <a:rPr sz="11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Clean measurement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70560" y="6389370"/>
            <a:ext cx="1085088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01-Agenda-sv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" y="6560820"/>
            <a:ext cx="129540" cy="1295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83920" y="6568440"/>
            <a:ext cx="174248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MR MOULDINGS × VENDO DIGITAL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04044" y="6568440"/>
            <a:ext cx="147876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53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03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457200"/>
            <a:ext cx="1088136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16"/>
              </a:lnSpc>
            </a:pPr>
            <a:r>
              <a:rPr sz="700" b="1" i="0" spc="13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SECTION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652224"/>
            <a:ext cx="7241143" cy="563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34"/>
              </a:lnSpc>
            </a:pPr>
            <a:r>
              <a:rPr sz="3100" b="1" i="0" spc="-97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SEO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3115866"/>
            <a:ext cx="6156960" cy="148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0"/>
              </a:lnSpc>
            </a:pPr>
            <a:r>
              <a:rPr sz="8600" b="0" i="1">
                <a:solidFill>
                  <a:srgbClr val="8EFEBB"/>
                </a:solidFill>
                <a:latin typeface="Instrument Serif"/>
                <a:ea typeface="Instrument Serif"/>
                <a:cs typeface="Instrument Serif"/>
              </a:rPr>
              <a:t>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54240" y="2906197"/>
            <a:ext cx="4267200" cy="1912977"/>
          </a:xfrm>
          <a:prstGeom prst="roundRect">
            <a:avLst>
              <a:gd name="adj" fmla="val 5576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536180" y="3150037"/>
            <a:ext cx="373380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IN THIS SECTION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36180" y="3378994"/>
            <a:ext cx="3733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</a:pPr>
            <a:r>
              <a:rPr sz="11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Where organic stands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6180" y="3706654"/>
            <a:ext cx="3733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</a:pPr>
            <a:r>
              <a:rPr sz="11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The ranking gap and page two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36180" y="4034314"/>
            <a:ext cx="3733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</a:pPr>
            <a:r>
              <a:rPr sz="11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Solid hardwood and new categories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36180" y="4361974"/>
            <a:ext cx="3733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</a:pPr>
            <a:r>
              <a:rPr sz="11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The next three months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70560" y="6389370"/>
            <a:ext cx="1085088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01-Agenda-sv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" y="6560820"/>
            <a:ext cx="129540" cy="1295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3920" y="6568440"/>
            <a:ext cx="174248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MR MOULDINGS × VENDO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00711" y="6568440"/>
            <a:ext cx="151209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53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457200"/>
            <a:ext cx="1088136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16"/>
              </a:lnSpc>
            </a:pPr>
            <a:r>
              <a:rPr sz="700" b="1" i="0" spc="13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SECTION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652224"/>
            <a:ext cx="7241143" cy="563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34"/>
              </a:lnSpc>
            </a:pPr>
            <a:r>
              <a:rPr sz="3100" b="1" i="0" spc="-97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Paid 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3115866"/>
            <a:ext cx="6156960" cy="148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0"/>
              </a:lnSpc>
            </a:pPr>
            <a:r>
              <a:rPr sz="8600" b="0" i="1">
                <a:solidFill>
                  <a:srgbClr val="8EFEBB"/>
                </a:solidFill>
                <a:latin typeface="Instrument Serif"/>
                <a:ea typeface="Instrument Serif"/>
                <a:cs typeface="Instrument Serif"/>
              </a:rPr>
              <a:t>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54240" y="2906197"/>
            <a:ext cx="4267200" cy="1912977"/>
          </a:xfrm>
          <a:prstGeom prst="roundRect">
            <a:avLst>
              <a:gd name="adj" fmla="val 5576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536180" y="3150037"/>
            <a:ext cx="373380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IN THIS SECTION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36180" y="3378994"/>
            <a:ext cx="3733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</a:pPr>
            <a:r>
              <a:rPr sz="11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Year-to-date performance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6180" y="3706654"/>
            <a:ext cx="3733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</a:pPr>
            <a:r>
              <a:rPr sz="11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Google Ads and Microsoft Advertising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36180" y="4034314"/>
            <a:ext cx="3733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</a:pPr>
            <a:r>
              <a:rPr sz="11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Where the growth came from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36180" y="4361974"/>
            <a:ext cx="3733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</a:pPr>
            <a:r>
              <a:rPr sz="11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Q4 focus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70560" y="6389370"/>
            <a:ext cx="1085088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01-Agenda-sv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" y="6560820"/>
            <a:ext cx="129540" cy="1295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3920" y="6568440"/>
            <a:ext cx="174248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MR MOULDINGS × VENDO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02854" y="6568440"/>
            <a:ext cx="149066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53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457200"/>
            <a:ext cx="1088136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16"/>
              </a:lnSpc>
            </a:pPr>
            <a:r>
              <a:rPr sz="700" b="1" i="0" spc="13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SECTION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652224"/>
            <a:ext cx="7241143" cy="563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34"/>
              </a:lnSpc>
            </a:pPr>
            <a:r>
              <a:rPr sz="3100" b="1" i="0" spc="-97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Paid creative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3115866"/>
            <a:ext cx="6156960" cy="148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0"/>
              </a:lnSpc>
            </a:pPr>
            <a:r>
              <a:rPr sz="8600" b="0" i="1">
                <a:solidFill>
                  <a:srgbClr val="8EFEBB"/>
                </a:solidFill>
                <a:latin typeface="Instrument Serif"/>
                <a:ea typeface="Instrument Serif"/>
                <a:cs typeface="Instrument Serif"/>
              </a:rPr>
              <a:t>04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54240" y="2742367"/>
            <a:ext cx="4267200" cy="2240637"/>
          </a:xfrm>
          <a:prstGeom prst="roundRect">
            <a:avLst>
              <a:gd name="adj" fmla="val 4761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536180" y="2986207"/>
            <a:ext cx="373380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IN THIS SECTION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36180" y="3215164"/>
            <a:ext cx="3733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</a:pPr>
            <a:r>
              <a:rPr sz="11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Audience division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6180" y="3542824"/>
            <a:ext cx="3733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</a:pPr>
            <a:r>
              <a:rPr sz="11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Eight personas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36180" y="3870484"/>
            <a:ext cx="3733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</a:pPr>
            <a:r>
              <a:rPr sz="11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Personas at a glance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36180" y="4198144"/>
            <a:ext cx="3733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</a:pPr>
            <a:r>
              <a:rPr sz="11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Content formats for 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36180" y="4525804"/>
            <a:ext cx="3733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</a:pPr>
            <a:r>
              <a:rPr sz="11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Format focuses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70560" y="6389370"/>
            <a:ext cx="1085088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01-Agenda-sv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" y="6560820"/>
            <a:ext cx="129540" cy="1295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83920" y="6568440"/>
            <a:ext cx="174248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MR MOULDINGS × VENDO DIGITAL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08092" y="6568440"/>
            <a:ext cx="143828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53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457200"/>
            <a:ext cx="1088136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16"/>
              </a:lnSpc>
            </a:pPr>
            <a:r>
              <a:rPr sz="700" b="1" i="0" spc="13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SECTION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652224"/>
            <a:ext cx="7241143" cy="563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34"/>
              </a:lnSpc>
            </a:pPr>
            <a:r>
              <a:rPr sz="3100" b="1" i="0" spc="-97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Organic social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3115866"/>
            <a:ext cx="6156960" cy="148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0"/>
              </a:lnSpc>
            </a:pPr>
            <a:r>
              <a:rPr sz="8600" b="0" i="1">
                <a:solidFill>
                  <a:srgbClr val="8EFEBB"/>
                </a:solidFill>
                <a:latin typeface="Instrument Serif"/>
                <a:ea typeface="Instrument Serif"/>
                <a:cs typeface="Instrument Serif"/>
              </a:rPr>
              <a:t>05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54240" y="2742367"/>
            <a:ext cx="4267200" cy="2240637"/>
          </a:xfrm>
          <a:prstGeom prst="roundRect">
            <a:avLst>
              <a:gd name="adj" fmla="val 4761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536180" y="2986207"/>
            <a:ext cx="373380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IN THIS SECTION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36180" y="3215164"/>
            <a:ext cx="3733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</a:pPr>
            <a:r>
              <a:rPr sz="11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Where we are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6180" y="3542824"/>
            <a:ext cx="3733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</a:pPr>
            <a:r>
              <a:rPr sz="11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What is working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36180" y="3870484"/>
            <a:ext cx="3733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</a:pPr>
            <a:r>
              <a:rPr sz="11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Mini series and the podcast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36180" y="4198144"/>
            <a:ext cx="3733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</a:pPr>
            <a:r>
              <a:rPr sz="11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The creator programme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36180" y="4525804"/>
            <a:ext cx="3733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</a:pPr>
            <a:r>
              <a:rPr sz="11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The quarter at a glance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70560" y="6389370"/>
            <a:ext cx="1085088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01-Agenda-sv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" y="6560820"/>
            <a:ext cx="129540" cy="1295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83920" y="6568440"/>
            <a:ext cx="174248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MR MOULDINGS × VENDO DIGITAL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07140" y="6568440"/>
            <a:ext cx="14478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53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39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457200"/>
            <a:ext cx="1088136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16"/>
              </a:lnSpc>
            </a:pPr>
            <a:r>
              <a:rPr sz="700" b="1" i="0" spc="13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SECTION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652224"/>
            <a:ext cx="7241143" cy="563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34"/>
              </a:lnSpc>
            </a:pPr>
            <a:r>
              <a:rPr sz="3100" b="1" i="0" spc="-97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New lines and channels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3115866"/>
            <a:ext cx="6156960" cy="148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0"/>
              </a:lnSpc>
            </a:pPr>
            <a:r>
              <a:rPr sz="8600" b="0" i="1">
                <a:solidFill>
                  <a:srgbClr val="8EFEBB"/>
                </a:solidFill>
                <a:latin typeface="Instrument Serif"/>
                <a:ea typeface="Instrument Serif"/>
                <a:cs typeface="Instrument Serif"/>
              </a:rPr>
              <a:t>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54240" y="2906197"/>
            <a:ext cx="4267200" cy="1912977"/>
          </a:xfrm>
          <a:prstGeom prst="roundRect">
            <a:avLst>
              <a:gd name="adj" fmla="val 5576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536180" y="3150037"/>
            <a:ext cx="373380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IN THIS SECTION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36180" y="3378994"/>
            <a:ext cx="3733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</a:pPr>
            <a:r>
              <a:rPr sz="11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Solid hardwood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6180" y="3706654"/>
            <a:ext cx="3733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</a:pPr>
            <a:r>
              <a:rPr sz="11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Launching the 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36180" y="4034314"/>
            <a:ext cx="3733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</a:pPr>
            <a:r>
              <a:rPr sz="11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Specification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36180" y="4361974"/>
            <a:ext cx="3733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</a:pPr>
            <a:r>
              <a:rPr sz="11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High-end renovation builders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70560" y="6389370"/>
            <a:ext cx="1085088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01-Agenda-sv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" y="6560820"/>
            <a:ext cx="129540" cy="1295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3920" y="6568440"/>
            <a:ext cx="174248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MR MOULDINGS × VENDO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06902" y="6568440"/>
            <a:ext cx="145018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53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49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457200"/>
            <a:ext cx="1088136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16"/>
              </a:lnSpc>
            </a:pPr>
            <a:r>
              <a:rPr sz="700" b="1" i="0" spc="13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SECTION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652224"/>
            <a:ext cx="7241143" cy="563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34"/>
              </a:lnSpc>
            </a:pPr>
            <a:r>
              <a:rPr sz="3100" b="1" i="0" spc="-97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3115866"/>
            <a:ext cx="6156960" cy="148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0"/>
              </a:lnSpc>
            </a:pPr>
            <a:r>
              <a:rPr sz="8600" b="0" i="1">
                <a:solidFill>
                  <a:srgbClr val="8EFEBB"/>
                </a:solidFill>
                <a:latin typeface="Instrument Serif"/>
                <a:ea typeface="Instrument Serif"/>
                <a:cs typeface="Instrument Serif"/>
              </a:rPr>
              <a:t>07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54240" y="2906197"/>
            <a:ext cx="4267200" cy="1912977"/>
          </a:xfrm>
          <a:prstGeom prst="roundRect">
            <a:avLst>
              <a:gd name="adj" fmla="val 5576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536180" y="3150037"/>
            <a:ext cx="373380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IN THIS SECTION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36180" y="3378994"/>
            <a:ext cx="3733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</a:pPr>
            <a:r>
              <a:rPr sz="11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Twelve months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6180" y="3706654"/>
            <a:ext cx="3733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</a:pPr>
            <a:r>
              <a:rPr sz="11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Budget and cash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36180" y="4034314"/>
            <a:ext cx="3733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</a:pPr>
            <a:r>
              <a:rPr sz="11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What we need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36180" y="4361974"/>
            <a:ext cx="3733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</a:pPr>
            <a:r>
              <a:rPr sz="11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The first thirty days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70560" y="6389370"/>
            <a:ext cx="1085088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01-Agenda-sv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" y="6560820"/>
            <a:ext cx="129540" cy="1295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3920" y="6568440"/>
            <a:ext cx="174248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MR MOULDINGS × VENDO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07854" y="6568440"/>
            <a:ext cx="144066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53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54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457200"/>
            <a:ext cx="1088136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16"/>
              </a:lnSpc>
            </a:pPr>
            <a:r>
              <a:rPr sz="700" b="1" i="0" spc="13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SECTION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652224"/>
            <a:ext cx="7241143" cy="563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34"/>
              </a:lnSpc>
            </a:pPr>
            <a:r>
              <a:rPr sz="3100" b="1" i="0" spc="-97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Paid social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3115866"/>
            <a:ext cx="6156960" cy="148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0"/>
              </a:lnSpc>
            </a:pPr>
            <a:r>
              <a:rPr sz="8600" b="0" i="1">
                <a:solidFill>
                  <a:srgbClr val="8EFEBB"/>
                </a:solidFill>
                <a:latin typeface="Instrument Serif"/>
                <a:ea typeface="Instrument Serif"/>
                <a:cs typeface="Instrument Serif"/>
              </a:rPr>
              <a:t>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54240" y="3070027"/>
            <a:ext cx="4267200" cy="1585317"/>
          </a:xfrm>
          <a:prstGeom prst="roundRect">
            <a:avLst>
              <a:gd name="adj" fmla="val 6729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536180" y="3313867"/>
            <a:ext cx="373380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IN THIS SECTION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36180" y="3542824"/>
            <a:ext cx="3733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</a:pPr>
            <a:r>
              <a:rPr sz="11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Meta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6180" y="3870484"/>
            <a:ext cx="3733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</a:pPr>
            <a:r>
              <a:rPr sz="11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The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36180" y="4198144"/>
            <a:ext cx="3733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</a:pPr>
            <a:r>
              <a:rPr sz="11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The forecast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70560" y="6389370"/>
            <a:ext cx="1085088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01-Agenda-sv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" y="6560820"/>
            <a:ext cx="129540" cy="1295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3920" y="6568440"/>
            <a:ext cx="174248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MR MOULDINGS × VENDO DIGITAL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06783" y="6568440"/>
            <a:ext cx="145137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53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59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457200"/>
            <a:ext cx="1088136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16"/>
              </a:lnSpc>
            </a:pPr>
            <a:r>
              <a:rPr sz="700" b="1" i="0" spc="13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SECTION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652224"/>
            <a:ext cx="7241143" cy="563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34"/>
              </a:lnSpc>
            </a:pPr>
            <a:r>
              <a:rPr sz="3100" b="1" i="0" spc="-97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Website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3115866"/>
            <a:ext cx="6156960" cy="148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0"/>
              </a:lnSpc>
            </a:pPr>
            <a:r>
              <a:rPr sz="8600" b="0" i="1">
                <a:solidFill>
                  <a:srgbClr val="8EFEBB"/>
                </a:solidFill>
                <a:latin typeface="Instrument Serif"/>
                <a:ea typeface="Instrument Serif"/>
                <a:cs typeface="Instrument Serif"/>
              </a:rPr>
              <a:t>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54240" y="2742367"/>
            <a:ext cx="4267200" cy="2240637"/>
          </a:xfrm>
          <a:prstGeom prst="roundRect">
            <a:avLst>
              <a:gd name="adj" fmla="val 4761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536180" y="2986207"/>
            <a:ext cx="373380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IN THIS SECTION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36180" y="3215164"/>
            <a:ext cx="3733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</a:pPr>
            <a:r>
              <a:rPr sz="11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Five waves, ready to go 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6180" y="3542824"/>
            <a:ext cx="3733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</a:pPr>
            <a:r>
              <a:rPr sz="11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Everything built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36180" y="3870484"/>
            <a:ext cx="3733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</a:pPr>
            <a:r>
              <a:rPr sz="11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What the release is worth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36180" y="4198144"/>
            <a:ext cx="3733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</a:pPr>
            <a:r>
              <a:rPr sz="11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The funnel, stage by stage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36180" y="4525804"/>
            <a:ext cx="3733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</a:pPr>
            <a:r>
              <a:rPr sz="11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Recoverable revenue at checkout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70560" y="6389370"/>
            <a:ext cx="1085088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01-Agenda-sv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" y="6560820"/>
            <a:ext cx="129540" cy="1295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83920" y="6568440"/>
            <a:ext cx="174248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MR MOULDINGS × VENDO DIGITAL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07140" y="6568440"/>
            <a:ext cx="14478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53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63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457200"/>
            <a:ext cx="1088136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16"/>
              </a:lnSpc>
            </a:pPr>
            <a:r>
              <a:rPr sz="700" b="1" i="0" spc="13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SEO · WHERE ORGANIC STANDS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652224"/>
            <a:ext cx="724114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34"/>
              </a:lnSpc>
            </a:pPr>
            <a:r>
              <a:rPr sz="3100" b="1" i="0" spc="-97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Organic clicks have </a:t>
            </a:r>
            <a:r>
              <a:rPr sz="3100" b="0" i="1" spc="-32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</a:rPr>
              <a:t>doubled</a:t>
            </a:r>
            <a:r>
              <a:rPr sz="3100" b="1" i="0" spc="-97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 in a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1309330"/>
            <a:ext cx="7272338" cy="198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9"/>
              </a:lnSpc>
            </a:pPr>
            <a:r>
              <a:rPr sz="11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The same thirty days, a year apart. Google UK, from the site's own Search Console.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0560" y="1762720"/>
            <a:ext cx="2366367" cy="1147167"/>
          </a:xfrm>
          <a:prstGeom prst="roundRect">
            <a:avLst>
              <a:gd name="adj" fmla="val 9299"/>
            </a:avLst>
          </a:prstGeom>
          <a:solidFill>
            <a:srgbClr val="8EFEBB">
              <a:alpha val="9000"/>
            </a:srgbClr>
          </a:solidFill>
          <a:ln w="7620">
            <a:solidFill>
              <a:srgbClr val="8EFEBB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6300" y="1960840"/>
            <a:ext cx="1985367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UK CLICKS, LAST 30 DAYS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2098358"/>
            <a:ext cx="198536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</a:pPr>
            <a:r>
              <a:rPr sz="2500" b="1" i="0" spc="-79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6,200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300" y="2570798"/>
            <a:ext cx="1985367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70"/>
              </a:lnSpc>
            </a:pPr>
            <a:r>
              <a:rPr sz="750" b="0" i="0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2,854 a year ago · 2.17×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43607" y="1762720"/>
            <a:ext cx="2366486" cy="1147167"/>
          </a:xfrm>
          <a:prstGeom prst="roundRect">
            <a:avLst>
              <a:gd name="adj" fmla="val 9299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349347" y="1960840"/>
            <a:ext cx="1985486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ALL COUNTRIES, LAST 30 DAYS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49347" y="2098358"/>
            <a:ext cx="1985486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</a:pPr>
            <a:r>
              <a:rPr sz="2500" b="1" i="0" spc="-79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7,031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9347" y="2570798"/>
            <a:ext cx="1985486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70"/>
              </a:lnSpc>
            </a:pPr>
            <a:r>
              <a:rPr sz="750" b="0" i="0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3,646 a year ago · 1.93×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16773" y="1762720"/>
            <a:ext cx="2366486" cy="1147167"/>
          </a:xfrm>
          <a:prstGeom prst="roundRect">
            <a:avLst>
              <a:gd name="adj" fmla="val 9299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822513" y="1960840"/>
            <a:ext cx="1985486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UK IMPRESSIONS, LAST 30 DAYS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22513" y="2098358"/>
            <a:ext cx="1985486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</a:pPr>
            <a:r>
              <a:rPr sz="2500" b="1" i="0" spc="-79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565,994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22513" y="2570798"/>
            <a:ext cx="1985486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70"/>
              </a:lnSpc>
            </a:pPr>
            <a:r>
              <a:rPr sz="750" b="0" i="0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Not compared: see note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9940" y="1762720"/>
            <a:ext cx="3431500" cy="1147167"/>
          </a:xfrm>
          <a:prstGeom prst="roundRect">
            <a:avLst>
              <a:gd name="adj" fmla="val 9299"/>
            </a:avLst>
          </a:prstGeom>
          <a:solidFill>
            <a:srgbClr val="8EFEBB">
              <a:alpha val="9000"/>
            </a:srgbClr>
          </a:solidFill>
          <a:ln w="7620">
            <a:solidFill>
              <a:srgbClr val="8EFEBB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95680" y="1960840"/>
            <a:ext cx="3050500" cy="563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30"/>
              </a:lnSpc>
            </a:pPr>
            <a:r>
              <a:rPr sz="950" b="1" i="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Clicks are the clean measure.</a:t>
            </a:r>
            <a:r>
              <a:rPr sz="950" b="0" i="0">
                <a:solidFill>
                  <a:srgbClr val="E8F2EC"/>
                </a:solidFill>
                <a:latin typeface="Manrope"/>
                <a:ea typeface="Manrope"/>
                <a:cs typeface="Manrope"/>
              </a:rPr>
              <a:t> </a:t>
            </a:r>
            <a:r>
              <a:rPr sz="9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They count real visits from Google, and they have doubled in a year on the range the site already sells.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0560" y="3016568"/>
            <a:ext cx="108813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70"/>
              </a:lnSpc>
            </a:pPr>
            <a:r>
              <a:rPr sz="750" b="0" i="0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Google changed how Search Console counts impressions and positions in September 2025, so only clicks compare cleanly with last year.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560" y="3271838"/>
            <a:ext cx="10850880" cy="1174194"/>
          </a:xfrm>
          <a:prstGeom prst="roundRect">
            <a:avLst>
              <a:gd name="adj" fmla="val 9085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06780" y="3500438"/>
            <a:ext cx="1173480" cy="24419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WHERE ORGANIC SITS IN THE £500K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6780" y="3752612"/>
            <a:ext cx="1173480" cy="541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20"/>
              </a:lnSpc>
            </a:pPr>
            <a:r>
              <a:rPr sz="3000" b="1" i="0" spc="-94">
                <a:solidFill>
                  <a:srgbClr val="F5D674"/>
                </a:solidFill>
                <a:latin typeface="Manrope"/>
                <a:ea typeface="Manrope"/>
                <a:cs typeface="Manrope"/>
              </a:rPr>
              <a:t>7.6%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54580" y="3677602"/>
            <a:ext cx="3951327" cy="356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88"/>
              </a:lnSpc>
            </a:pPr>
            <a:r>
              <a:rPr sz="9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of site revenue came through organic search in the twelve months to May 2026. Paid search carried 30% and direct 27%.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0227" y="3583067"/>
            <a:ext cx="4735473" cy="5455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88"/>
              </a:lnSpc>
            </a:pPr>
            <a:r>
              <a:rPr sz="90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The room to grow.</a:t>
            </a:r>
            <a:r>
              <a:rPr sz="900" b="0" i="0">
                <a:solidFill>
                  <a:srgbClr val="E8F2EC"/>
                </a:solidFill>
                <a:latin typeface="Manrope"/>
                <a:ea typeface="Manrope"/>
                <a:cs typeface="Manrope"/>
              </a:rPr>
              <a:t> </a:t>
            </a:r>
            <a:r>
              <a:rPr sz="9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Organic clicks have doubled on today's range. The slides that follow show where the next clicks are, and how the new product lines give the site more to rank for.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70560" y="6389370"/>
            <a:ext cx="1085088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6" name="Picture 25" descr="01-Agenda-sv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" y="6560820"/>
            <a:ext cx="129540" cy="1295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83920" y="6568440"/>
            <a:ext cx="174248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MR MOULDINGS × VENDO DIGITAL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16070" y="6568440"/>
            <a:ext cx="13585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53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457200"/>
            <a:ext cx="1088136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16"/>
              </a:lnSpc>
            </a:pPr>
            <a:r>
              <a:rPr sz="700" b="1" i="0" spc="13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SEO · THE RANKING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652224"/>
            <a:ext cx="724114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34"/>
              </a:lnSpc>
            </a:pPr>
            <a:r>
              <a:rPr sz="3100" b="1" i="0" spc="-97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Page one is where the </a:t>
            </a:r>
            <a:r>
              <a:rPr sz="3100" b="0" i="1" spc="-32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</a:rPr>
              <a:t>clicks</a:t>
            </a:r>
            <a:r>
              <a:rPr sz="3100" b="1" i="0" spc="-97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1309330"/>
            <a:ext cx="7272338" cy="198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9"/>
              </a:lnSpc>
            </a:pPr>
            <a:r>
              <a:rPr sz="11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Share of impressions and clicks by Google position. UK, last 90 days, brand searches excluded.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0560" y="1762720"/>
            <a:ext cx="6241613" cy="4561880"/>
          </a:xfrm>
          <a:prstGeom prst="roundRect">
            <a:avLst>
              <a:gd name="adj" fmla="val 2338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6300" y="1960840"/>
            <a:ext cx="5860613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SHARE BY POSITION RANGE · UK · 90 DAYS · NON-BRAND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2159318"/>
            <a:ext cx="1225153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Share of impressions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3373" y="2159318"/>
            <a:ext cx="92475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Share of clicks %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6300" y="5424488"/>
            <a:ext cx="5830133" cy="0"/>
          </a:xfrm>
          <a:prstGeom prst="line">
            <a:avLst/>
          </a:prstGeom>
          <a:ln w="7620">
            <a:solidFill>
              <a:srgbClr val="FFFF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296472" y="4394359"/>
            <a:ext cx="205502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14.3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85862" y="4561999"/>
            <a:ext cx="396240" cy="617220"/>
          </a:xfrm>
          <a:prstGeom prst="roundRect">
            <a:avLst>
              <a:gd name="adj" fmla="val 5769"/>
            </a:avLst>
          </a:prstGeom>
          <a:solidFill>
            <a:srgbClr val="2F5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765578" y="3891439"/>
            <a:ext cx="15109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50" b="1" i="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27822" y="4059079"/>
            <a:ext cx="396240" cy="1120140"/>
          </a:xfrm>
          <a:prstGeom prst="roundRect">
            <a:avLst>
              <a:gd name="adj" fmla="val 5769"/>
            </a:avLst>
          </a:prstGeom>
          <a:solidFill>
            <a:srgbClr val="8EFE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86351" y="5263039"/>
            <a:ext cx="667822" cy="1447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2"/>
              </a:lnSpc>
            </a:pPr>
            <a:r>
              <a:rPr sz="8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Positions 1–3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2248" y="3076099"/>
            <a:ext cx="228957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44.8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43426" y="3243739"/>
            <a:ext cx="396240" cy="1935480"/>
          </a:xfrm>
          <a:prstGeom prst="roundRect">
            <a:avLst>
              <a:gd name="adj" fmla="val 5769"/>
            </a:avLst>
          </a:prstGeom>
          <a:solidFill>
            <a:srgbClr val="2F5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225641" y="2725579"/>
            <a:ext cx="146209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50" b="1" i="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53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085386" y="2893219"/>
            <a:ext cx="396240" cy="2286000"/>
          </a:xfrm>
          <a:prstGeom prst="roundRect">
            <a:avLst>
              <a:gd name="adj" fmla="val 5769"/>
            </a:avLst>
          </a:prstGeom>
          <a:solidFill>
            <a:srgbClr val="8EFE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2710458" y="5263039"/>
            <a:ext cx="734616" cy="1447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2"/>
              </a:lnSpc>
            </a:pPr>
            <a:r>
              <a:rPr sz="8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Positions 4–10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1716" y="3525679"/>
            <a:ext cx="225266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34.4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00989" y="3693319"/>
            <a:ext cx="396240" cy="1485900"/>
          </a:xfrm>
          <a:prstGeom prst="roundRect">
            <a:avLst>
              <a:gd name="adj" fmla="val 5769"/>
            </a:avLst>
          </a:prstGeom>
          <a:solidFill>
            <a:srgbClr val="2F5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643199" y="4211479"/>
            <a:ext cx="226219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50" b="1" i="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18.6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42949" y="4379119"/>
            <a:ext cx="396240" cy="800100"/>
          </a:xfrm>
          <a:prstGeom prst="roundRect">
            <a:avLst>
              <a:gd name="adj" fmla="val 5769"/>
            </a:avLst>
          </a:prstGeom>
          <a:solidFill>
            <a:srgbClr val="8EFE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147185" y="5263039"/>
            <a:ext cx="776288" cy="1447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2"/>
              </a:lnSpc>
            </a:pPr>
            <a:r>
              <a:rPr sz="8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Positions 11–20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82615" y="4729639"/>
            <a:ext cx="17859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6.6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58552" y="4897279"/>
            <a:ext cx="396240" cy="281940"/>
          </a:xfrm>
          <a:prstGeom prst="roundRect">
            <a:avLst>
              <a:gd name="adj" fmla="val 8108"/>
            </a:avLst>
          </a:prstGeom>
          <a:solidFill>
            <a:srgbClr val="2F5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123861" y="4904899"/>
            <a:ext cx="179903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50" b="1" i="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2.4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00512" y="5072539"/>
            <a:ext cx="396240" cy="106680"/>
          </a:xfrm>
          <a:prstGeom prst="roundRect">
            <a:avLst>
              <a:gd name="adj" fmla="val 21428"/>
            </a:avLst>
          </a:prstGeom>
          <a:solidFill>
            <a:srgbClr val="8EFE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656064" y="5263039"/>
            <a:ext cx="673537" cy="1447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2"/>
              </a:lnSpc>
            </a:pPr>
            <a:r>
              <a:rPr sz="8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Positions 21+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16973" y="1762720"/>
            <a:ext cx="4304467" cy="2332077"/>
          </a:xfrm>
          <a:prstGeom prst="roundRect">
            <a:avLst>
              <a:gd name="adj" fmla="val 4574"/>
            </a:avLst>
          </a:prstGeom>
          <a:solidFill>
            <a:srgbClr val="8EFEBB">
              <a:alpha val="9000"/>
            </a:srgbClr>
          </a:solidFill>
          <a:ln w="7620">
            <a:solidFill>
              <a:srgbClr val="8EFEBB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422713" y="1960840"/>
            <a:ext cx="3923467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SHARE OF SEARCHERS WHO CLICK, THIS SITE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422713" y="2506028"/>
            <a:ext cx="3892987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422713" y="2258378"/>
            <a:ext cx="561499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Position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43272" y="2227898"/>
            <a:ext cx="402908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50" b="1" i="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9.4%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422713" y="2856548"/>
            <a:ext cx="3892987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422713" y="2608898"/>
            <a:ext cx="58138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Position 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43272" y="2578418"/>
            <a:ext cx="402908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50" b="1" i="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3.0%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422713" y="3207068"/>
            <a:ext cx="3892987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422713" y="2959418"/>
            <a:ext cx="584478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Position 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43272" y="2928938"/>
            <a:ext cx="402908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50" b="1" i="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1.7%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422713" y="3557588"/>
            <a:ext cx="3892987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422713" y="3309938"/>
            <a:ext cx="635913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Position 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43272" y="3279458"/>
            <a:ext cx="402908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50" b="1" i="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0.7%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22713" y="3660458"/>
            <a:ext cx="548997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Page two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43272" y="3629978"/>
            <a:ext cx="402908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50" b="1" i="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0.5%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16973" y="4247198"/>
            <a:ext cx="4304467" cy="1171575"/>
          </a:xfrm>
          <a:prstGeom prst="roundRect">
            <a:avLst>
              <a:gd name="adj" fmla="val 9105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422713" y="4437698"/>
            <a:ext cx="3923467" cy="198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</a:pPr>
            <a:r>
              <a:rPr sz="1100" b="1" i="0" spc="-1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Page two is the cheapest traffic in the plan.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22713" y="4704398"/>
            <a:ext cx="3923467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5"/>
              </a:lnSpc>
            </a:pPr>
            <a:r>
              <a:rPr sz="8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It holds 34% of impressions and earns 19% of clicks. A term that moves from page two to position 5 gets about three times the clicks, from pages that already exist.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70560" y="6389370"/>
            <a:ext cx="1085088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0" name="Picture 49" descr="01-Agenda-sv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" y="6560820"/>
            <a:ext cx="129540" cy="12954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883920" y="6568440"/>
            <a:ext cx="174248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MR MOULDINGS × VENDO DIGITAL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34524" y="6568440"/>
            <a:ext cx="117396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53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457200"/>
            <a:ext cx="1088136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16"/>
              </a:lnSpc>
            </a:pPr>
            <a:r>
              <a:rPr sz="700" b="1" i="0" spc="13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SEO · PAGE TWO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652224"/>
            <a:ext cx="724114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34"/>
              </a:lnSpc>
            </a:pPr>
            <a:r>
              <a:rPr sz="3100" b="1" i="0" spc="-97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Eight pages one step from </a:t>
            </a:r>
            <a:r>
              <a:rPr sz="3100" b="0" i="1" spc="-32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</a:rPr>
              <a:t>page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1309330"/>
            <a:ext cx="7272338" cy="198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9"/>
              </a:lnSpc>
            </a:pPr>
            <a:r>
              <a:rPr sz="11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Each already ranks on page two for a term with real demand. UK, last 90 days, checked page by page.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70560" y="1854160"/>
            <a:ext cx="413742" cy="0"/>
          </a:xfrm>
          <a:prstGeom prst="line">
            <a:avLst/>
          </a:prstGeom>
          <a:ln w="7620">
            <a:solidFill>
              <a:srgbClr val="FFFFFF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70560" y="1671280"/>
            <a:ext cx="32230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79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WHEN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84302" y="1854160"/>
            <a:ext cx="1828800" cy="0"/>
          </a:xfrm>
          <a:prstGeom prst="line">
            <a:avLst/>
          </a:prstGeom>
          <a:ln w="7620">
            <a:solidFill>
              <a:srgbClr val="FFFFFF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84302" y="1671280"/>
            <a:ext cx="173736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79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PAGE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13102" y="1854160"/>
            <a:ext cx="1905000" cy="0"/>
          </a:xfrm>
          <a:prstGeom prst="line">
            <a:avLst/>
          </a:prstGeom>
          <a:ln w="7620">
            <a:solidFill>
              <a:srgbClr val="FFFFFF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913102" y="1671280"/>
            <a:ext cx="181356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79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SEARCHES A MONTH IT SHOULD WIN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818102" y="1854160"/>
            <a:ext cx="533400" cy="0"/>
          </a:xfrm>
          <a:prstGeom prst="line">
            <a:avLst/>
          </a:prstGeom>
          <a:ln w="7620">
            <a:solidFill>
              <a:srgbClr val="FFFFFF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787622" y="1671280"/>
            <a:ext cx="56388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825"/>
              </a:lnSpc>
            </a:pPr>
            <a:r>
              <a:rPr sz="650" b="1" i="0" spc="79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POSITION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351502" y="1854160"/>
            <a:ext cx="6169938" cy="0"/>
          </a:xfrm>
          <a:prstGeom prst="line">
            <a:avLst/>
          </a:prstGeom>
          <a:ln w="7620">
            <a:solidFill>
              <a:srgbClr val="FFFFFF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8662" y="1671280"/>
            <a:ext cx="5941338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79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WHAT WE WILL DO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70560" y="2200870"/>
            <a:ext cx="413742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70560" y="1899880"/>
            <a:ext cx="352782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00" b="1" i="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Oct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84302" y="2200870"/>
            <a:ext cx="182880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84302" y="1899880"/>
            <a:ext cx="176784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0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/collections/dado-rails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913102" y="2200870"/>
            <a:ext cx="190500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913102" y="1899880"/>
            <a:ext cx="184404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dado rail 33,100 · mdf dado rail 880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18102" y="2200870"/>
            <a:ext cx="53340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787622" y="1899880"/>
            <a:ext cx="47244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75"/>
              </a:lnSpc>
            </a:pPr>
            <a:r>
              <a:rPr sz="700" b="1" i="0">
                <a:solidFill>
                  <a:srgbClr val="F5D674"/>
                </a:solidFill>
                <a:latin typeface="Manrope"/>
                <a:ea typeface="Manrope"/>
                <a:cs typeface="Manrope"/>
              </a:rPr>
              <a:t>11.9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51502" y="2200870"/>
            <a:ext cx="6169938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8662" y="1899880"/>
            <a:ext cx="5971818" cy="2533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The combined dado and picture rail page competes with this one and lists every product on it. Fold it in here (a redirect, so it needs sign-off) and move its 5 rebated trims across.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70560" y="2423755"/>
            <a:ext cx="413742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70560" y="2246590"/>
            <a:ext cx="352782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00" b="1" i="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Oct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84302" y="2423755"/>
            <a:ext cx="182880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084302" y="2246590"/>
            <a:ext cx="176784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0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/collections/picture-rails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913102" y="2423755"/>
            <a:ext cx="190500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913102" y="2246590"/>
            <a:ext cx="184404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picture rail 12,100 (incl. picture rails)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818102" y="2423755"/>
            <a:ext cx="53340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787622" y="2246590"/>
            <a:ext cx="47244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75"/>
              </a:lnSpc>
            </a:pPr>
            <a:r>
              <a:rPr sz="700" b="1" i="0">
                <a:solidFill>
                  <a:srgbClr val="F5D674"/>
                </a:solidFill>
                <a:latin typeface="Manrope"/>
                <a:ea typeface="Manrope"/>
                <a:cs typeface="Manrope"/>
              </a:rPr>
              <a:t>11.4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351502" y="2423755"/>
            <a:ext cx="6169938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88662" y="2246590"/>
            <a:ext cx="5971818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Split today between the combined page and this one. After the fold this is the only picture rail page: title and intro lead with "Picture Rail".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70560" y="2770465"/>
            <a:ext cx="413742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70560" y="2469475"/>
            <a:ext cx="352782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00" b="1" i="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Nov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084302" y="2770465"/>
            <a:ext cx="182880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084302" y="2469475"/>
            <a:ext cx="176784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0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/collections/architrave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2913102" y="2770465"/>
            <a:ext cx="190500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2913102" y="2469475"/>
            <a:ext cx="1844040" cy="2533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door architrave 9,900 (incl. architrave door)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818102" y="2770465"/>
            <a:ext cx="53340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4787622" y="2469475"/>
            <a:ext cx="47244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75"/>
              </a:lnSpc>
            </a:pPr>
            <a:r>
              <a:rPr sz="700" b="1" i="0">
                <a:solidFill>
                  <a:srgbClr val="F5D674"/>
                </a:solidFill>
                <a:latin typeface="Manrope"/>
                <a:ea typeface="Manrope"/>
                <a:cs typeface="Manrope"/>
              </a:rPr>
              <a:t>12–18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351502" y="2770465"/>
            <a:ext cx="6169938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488662" y="2469475"/>
            <a:ext cx="5971818" cy="2533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Three architrave collections share the term: this, thin and modern. Make this the door architrave page with its own title, and link the other two to it.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70560" y="3117175"/>
            <a:ext cx="413742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70560" y="2816185"/>
            <a:ext cx="352782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00" b="1" i="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Nov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4302" y="3117175"/>
            <a:ext cx="182880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1084302" y="2816185"/>
            <a:ext cx="176784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0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/collections/mdf-skirting-boards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913102" y="3117175"/>
            <a:ext cx="190500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2913102" y="2816185"/>
            <a:ext cx="1844040" cy="2533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mdf skirting board 4,400 · mdf skirting 2,400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4818102" y="3117175"/>
            <a:ext cx="53340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4787622" y="2816185"/>
            <a:ext cx="47244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75"/>
              </a:lnSpc>
            </a:pPr>
            <a:r>
              <a:rPr sz="700" b="1" i="0">
                <a:solidFill>
                  <a:srgbClr val="F5D674"/>
                </a:solidFill>
                <a:latin typeface="Manrope"/>
                <a:ea typeface="Manrope"/>
                <a:cs typeface="Manrope"/>
              </a:rPr>
              <a:t>12–14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351502" y="3117175"/>
            <a:ext cx="6169938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488662" y="2816185"/>
            <a:ext cx="5971818" cy="2533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Google shows the homepage and one product; this collection does not appear. Add intro copy and link here from the homepage and every MDF skirting product.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70560" y="3463885"/>
            <a:ext cx="413742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670560" y="3162895"/>
            <a:ext cx="352782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00" b="1" i="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Nov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1084302" y="3463885"/>
            <a:ext cx="182880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1084302" y="3162895"/>
            <a:ext cx="176784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0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/collections/cornices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913102" y="3463885"/>
            <a:ext cx="190500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2913102" y="3162895"/>
            <a:ext cx="184404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cornice 12,100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4818102" y="3463885"/>
            <a:ext cx="53340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4787622" y="3162895"/>
            <a:ext cx="47244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75"/>
              </a:lnSpc>
            </a:pPr>
            <a:r>
              <a:rPr sz="700" b="1" i="0">
                <a:solidFill>
                  <a:srgbClr val="F5D674"/>
                </a:solidFill>
                <a:latin typeface="Manrope"/>
                <a:ea typeface="Manrope"/>
                <a:cs typeface="Manrope"/>
              </a:rPr>
              <a:t>14.4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351502" y="3463885"/>
            <a:ext cx="6169938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488662" y="3162895"/>
            <a:ext cx="5971818" cy="2533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Google already picks this page. A second collection, /cornice, lists the same 46 products: fold it in after sign-off. Most of the gain is copy and links here.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70560" y="3686770"/>
            <a:ext cx="413742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70560" y="3509605"/>
            <a:ext cx="352782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00" b="1" i="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Dec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1084302" y="3686770"/>
            <a:ext cx="182880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1084302" y="3509605"/>
            <a:ext cx="176784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0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/collections/ogee-skirting-boards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2913102" y="3686770"/>
            <a:ext cx="190500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2913102" y="3509605"/>
            <a:ext cx="184404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ogee skirting 6,600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4818102" y="3686770"/>
            <a:ext cx="53340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4787622" y="3509605"/>
            <a:ext cx="47244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75"/>
              </a:lnSpc>
            </a:pPr>
            <a:r>
              <a:rPr sz="700" b="1" i="0">
                <a:solidFill>
                  <a:srgbClr val="F5D674"/>
                </a:solidFill>
                <a:latin typeface="Manrope"/>
                <a:ea typeface="Manrope"/>
                <a:cs typeface="Manrope"/>
              </a:rPr>
              <a:t>15.4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351502" y="3686770"/>
            <a:ext cx="6169938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5488662" y="3509605"/>
            <a:ext cx="5971818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Google already picks this page. It needs buying copy on the profile and sizes, and a link from every ogee product back to it.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670560" y="4033480"/>
            <a:ext cx="413742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670560" y="3732490"/>
            <a:ext cx="352782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00" b="1" i="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Dec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1084302" y="4033480"/>
            <a:ext cx="182880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084302" y="3732490"/>
            <a:ext cx="1767840" cy="2533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0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/collections/torus-skirting-boards</a:t>
            </a:r>
            <a:br/>
            <a:r>
              <a:rPr sz="70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/products/torus-architrave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2913102" y="4033480"/>
            <a:ext cx="190500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2913102" y="3732490"/>
            <a:ext cx="1844040" cy="2533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torus skirting board 4,400 · torus architrave 1,900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4818102" y="4033480"/>
            <a:ext cx="53340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4787622" y="3732490"/>
            <a:ext cx="47244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75"/>
              </a:lnSpc>
            </a:pPr>
            <a:r>
              <a:rPr sz="700" b="1" i="0">
                <a:solidFill>
                  <a:srgbClr val="F5D674"/>
                </a:solidFill>
                <a:latin typeface="Manrope"/>
                <a:ea typeface="Manrope"/>
                <a:cs typeface="Manrope"/>
              </a:rPr>
              <a:t>11–13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5351502" y="4033480"/>
            <a:ext cx="6169938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488662" y="3732490"/>
            <a:ext cx="5971818" cy="2533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Skirting: Google already picks the collection, so copy and links. Architrave: Google picks the Torus product page, so we strengthen that page.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70560" y="4079200"/>
            <a:ext cx="352782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00" b="1" i="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Dec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84302" y="4079200"/>
            <a:ext cx="1767840" cy="2533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0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/collections/ovolo-architrave</a:t>
            </a:r>
            <a:br/>
            <a:r>
              <a:rPr sz="70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/collections/stepped-architrave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913102" y="4079200"/>
            <a:ext cx="1844040" cy="2533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ovolo architrave 720 · stepped architrave 210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787622" y="4079200"/>
            <a:ext cx="47244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75"/>
              </a:lnSpc>
            </a:pPr>
            <a:r>
              <a:rPr sz="700" b="1" i="0">
                <a:solidFill>
                  <a:srgbClr val="F5D674"/>
                </a:solidFill>
                <a:latin typeface="Manrope"/>
                <a:ea typeface="Manrope"/>
                <a:cs typeface="Manrope"/>
              </a:rPr>
              <a:t>14–17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488662" y="4079200"/>
            <a:ext cx="5971818" cy="2533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Ovolo: the collection leads, so copy and links. Stepped: the collection and four stepped products split the term, so the products link to the collection.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70560" y="4471630"/>
            <a:ext cx="4876800" cy="518874"/>
          </a:xfrm>
          <a:prstGeom prst="roundRect">
            <a:avLst>
              <a:gd name="adj" fmla="val 20559"/>
            </a:avLst>
          </a:prstGeom>
          <a:solidFill>
            <a:srgbClr val="8EFEBB">
              <a:alpha val="9000"/>
            </a:srgbClr>
          </a:solidFill>
          <a:ln w="7620">
            <a:solidFill>
              <a:srgbClr val="8EFEBB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845820" y="4616410"/>
            <a:ext cx="45567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5"/>
              </a:lnSpc>
            </a:pPr>
            <a:r>
              <a:rPr sz="1250" b="1" i="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57 → about 1,500</a:t>
            </a:r>
            <a:r>
              <a:rPr sz="850" b="0" i="0">
                <a:solidFill>
                  <a:srgbClr val="E8F2EC"/>
                </a:solidFill>
                <a:latin typeface="Manrope"/>
                <a:ea typeface="Manrope"/>
                <a:cs typeface="Manrope"/>
              </a:rPr>
              <a:t> </a:t>
            </a:r>
            <a:r>
              <a:rPr sz="8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visits a month at position 5, about 2,700 at position 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730240" y="4582478"/>
            <a:ext cx="5821680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70"/>
              </a:lnSpc>
            </a:pPr>
            <a:r>
              <a:rPr sz="750" b="0" i="0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At this site's own click-through: 1.7% at position 5, 3.0% at 3. The largest terms, skirting board (90,500 a month), architrave (27,100) and window sill (27,100), also sit on page two and follow once these land.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670560" y="6389370"/>
            <a:ext cx="1085088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4" name="Picture 93" descr="01-Agenda-sv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" y="6560820"/>
            <a:ext cx="129540" cy="129540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883920" y="6568440"/>
            <a:ext cx="174248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MR MOULDINGS × VENDO DIGITAL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421308" y="6568440"/>
            <a:ext cx="1306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53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457200"/>
            <a:ext cx="1088136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16"/>
              </a:lnSpc>
            </a:pPr>
            <a:r>
              <a:rPr sz="700" b="1" i="0" spc="13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SEO · SOLID HARDWOOD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652224"/>
            <a:ext cx="724114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34"/>
              </a:lnSpc>
            </a:pPr>
            <a:r>
              <a:rPr sz="3100" b="1" i="0" spc="-97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Name the range for how people </a:t>
            </a:r>
            <a:r>
              <a:rPr sz="3100" b="0" i="1" spc="-32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</a:rPr>
              <a:t>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1309330"/>
            <a:ext cx="7272338" cy="198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9"/>
              </a:lnSpc>
            </a:pPr>
            <a:r>
              <a:rPr sz="11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Tulipwood is the range. Hardwood, timber and oak are what people type.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1770340"/>
            <a:ext cx="4635698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UK SEARCHES A MONTH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70560" y="2304098"/>
            <a:ext cx="3374231" cy="0"/>
          </a:xfrm>
          <a:prstGeom prst="line">
            <a:avLst/>
          </a:prstGeom>
          <a:ln w="7620">
            <a:solidFill>
              <a:srgbClr val="FFFFFF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70560" y="2121218"/>
            <a:ext cx="3282791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79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SEARCH TERM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44791" y="2304098"/>
            <a:ext cx="1230987" cy="0"/>
          </a:xfrm>
          <a:prstGeom prst="line">
            <a:avLst/>
          </a:prstGeom>
          <a:ln w="7620">
            <a:solidFill>
              <a:srgbClr val="FFFFFF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014311" y="2121218"/>
            <a:ext cx="1261467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825"/>
              </a:lnSpc>
            </a:pPr>
            <a:r>
              <a:rPr sz="650" b="1" i="0" spc="79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SEARCHES / MO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70560" y="2603182"/>
            <a:ext cx="3374231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70560" y="2372678"/>
            <a:ext cx="3282791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850" b="0" i="0">
                <a:solidFill>
                  <a:srgbClr val="E8F2EC"/>
                </a:solidFill>
                <a:latin typeface="Manrope"/>
                <a:ea typeface="Manrope"/>
                <a:cs typeface="Manrope"/>
              </a:rPr>
              <a:t>tulip mouldings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044791" y="2603182"/>
            <a:ext cx="1230987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014311" y="2372678"/>
            <a:ext cx="1261467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15"/>
              </a:lnSpc>
            </a:pPr>
            <a:r>
              <a:rPr sz="850" b="0" i="0">
                <a:solidFill>
                  <a:srgbClr val="E8F2EC"/>
                </a:solidFill>
                <a:latin typeface="Manrope"/>
                <a:ea typeface="Manrope"/>
                <a:cs typeface="Manrope"/>
              </a:rPr>
              <a:t>10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70560" y="2902268"/>
            <a:ext cx="3374231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70560" y="2671762"/>
            <a:ext cx="3282791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850" b="0" i="0">
                <a:solidFill>
                  <a:srgbClr val="E8F2EC"/>
                </a:solidFill>
                <a:latin typeface="Manrope"/>
                <a:ea typeface="Manrope"/>
                <a:cs typeface="Manrope"/>
              </a:rPr>
              <a:t>tulipwood skirting board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044791" y="2902268"/>
            <a:ext cx="1230987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014311" y="2671762"/>
            <a:ext cx="1261467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15"/>
              </a:lnSpc>
            </a:pPr>
            <a:r>
              <a:rPr sz="850" b="0" i="0">
                <a:solidFill>
                  <a:srgbClr val="E8F2EC"/>
                </a:solidFill>
                <a:latin typeface="Manrope"/>
                <a:ea typeface="Manrope"/>
                <a:cs typeface="Manrope"/>
              </a:rPr>
              <a:t>10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70560" y="3201352"/>
            <a:ext cx="3374231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70560" y="2970848"/>
            <a:ext cx="3282791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850" b="0" i="0">
                <a:solidFill>
                  <a:srgbClr val="E8F2EC"/>
                </a:solidFill>
                <a:latin typeface="Manrope"/>
                <a:ea typeface="Manrope"/>
                <a:cs typeface="Manrope"/>
              </a:rPr>
              <a:t>timber, hardwood and wooden terms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044791" y="3201352"/>
            <a:ext cx="1230987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014311" y="2970848"/>
            <a:ext cx="1261467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15"/>
              </a:lnSpc>
            </a:pPr>
            <a:r>
              <a:rPr sz="850" b="0" i="0">
                <a:solidFill>
                  <a:srgbClr val="E8F2EC"/>
                </a:solidFill>
                <a:latin typeface="Manrope"/>
                <a:ea typeface="Manrope"/>
                <a:cs typeface="Manrope"/>
              </a:rPr>
              <a:t>17,500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70560" y="3500438"/>
            <a:ext cx="3374231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70560" y="3269932"/>
            <a:ext cx="3282791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850" b="0" i="0">
                <a:solidFill>
                  <a:srgbClr val="E8F2EC"/>
                </a:solidFill>
                <a:latin typeface="Manrope"/>
                <a:ea typeface="Manrope"/>
                <a:cs typeface="Manrope"/>
              </a:rPr>
              <a:t>oak skirting and architrave terms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044791" y="3500438"/>
            <a:ext cx="1230987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014311" y="3269932"/>
            <a:ext cx="1261467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15"/>
              </a:lnSpc>
            </a:pPr>
            <a:r>
              <a:rPr sz="850" b="0" i="0">
                <a:solidFill>
                  <a:srgbClr val="E8F2EC"/>
                </a:solidFill>
                <a:latin typeface="Manrope"/>
                <a:ea typeface="Manrope"/>
                <a:cs typeface="Manrope"/>
              </a:rPr>
              <a:t>5,900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0560" y="3569018"/>
            <a:ext cx="3282791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850" b="1" i="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Addressable with Tulipwood and oak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14311" y="3569018"/>
            <a:ext cx="1261467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15"/>
              </a:lnSpc>
            </a:pPr>
            <a:r>
              <a:rPr sz="850" b="1" i="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23,400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12938" y="1762720"/>
            <a:ext cx="2133600" cy="1884402"/>
          </a:xfrm>
          <a:prstGeom prst="roundRect">
            <a:avLst>
              <a:gd name="adj" fmla="val 5661"/>
            </a:avLst>
          </a:prstGeom>
          <a:solidFill>
            <a:srgbClr val="8EFEBB">
              <a:alpha val="9000"/>
            </a:srgbClr>
          </a:solidFill>
          <a:ln w="7620">
            <a:solidFill>
              <a:srgbClr val="8EFEBB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618678" y="1960840"/>
            <a:ext cx="175260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ALREADY SHOWING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18678" y="2098358"/>
            <a:ext cx="17526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</a:pPr>
            <a:r>
              <a:rPr sz="2500" b="1" i="0" spc="-79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~3,200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18678" y="2578418"/>
            <a:ext cx="175260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5"/>
              </a:lnSpc>
            </a:pPr>
            <a:r>
              <a:rPr sz="8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times a month Google shows the site for timber skirting, architrave and moulding searches, before the range exists.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12938" y="3799522"/>
            <a:ext cx="2133600" cy="1266825"/>
          </a:xfrm>
          <a:prstGeom prst="roundRect">
            <a:avLst>
              <a:gd name="adj" fmla="val 8421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618678" y="3997642"/>
            <a:ext cx="175260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5"/>
              </a:lnSpc>
            </a:pPr>
            <a:r>
              <a:rPr sz="85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The demand is on the material.</a:t>
            </a:r>
            <a:r>
              <a:rPr sz="850" b="0" i="0">
                <a:solidFill>
                  <a:srgbClr val="E8F2EC"/>
                </a:solidFill>
                <a:latin typeface="Manrope"/>
                <a:ea typeface="Manrope"/>
                <a:cs typeface="Manrope"/>
              </a:rPr>
              <a:t> </a:t>
            </a:r>
            <a:r>
              <a:rPr sz="8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"Tulip" also means a floral profile elsewhere in the catalogue, so it stays in titles and filters, not page names.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83698" y="1762720"/>
            <a:ext cx="3837742" cy="4561880"/>
          </a:xfrm>
          <a:prstGeom prst="roundRect">
            <a:avLst>
              <a:gd name="adj" fmla="val 2779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889438" y="1953220"/>
            <a:ext cx="3456742" cy="198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</a:pPr>
            <a:r>
              <a:rPr sz="1100" b="1" i="0" spc="-1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How the pages are built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89438" y="2250400"/>
            <a:ext cx="3456742" cy="3371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5"/>
              </a:lnSpc>
            </a:pPr>
            <a:r>
              <a:rPr sz="85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A Solid Hardwood range page</a:t>
            </a:r>
            <a:br/>
            <a:r>
              <a:rPr sz="8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at the top of the menu, named in search language.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89438" y="2696170"/>
            <a:ext cx="3456742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5"/>
              </a:lnSpc>
            </a:pPr>
            <a:r>
              <a:rPr sz="85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Collections by product type</a:t>
            </a:r>
            <a:br/>
            <a:r>
              <a:rPr sz="8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hardwood skirting, architrave, dado and panel mould, where the searches land.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89438" y="3319105"/>
            <a:ext cx="3456742" cy="3371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5"/>
              </a:lnSpc>
            </a:pPr>
            <a:r>
              <a:rPr sz="85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Oak as its own products</a:t>
            </a:r>
            <a:br/>
            <a:r>
              <a:rPr sz="8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not a dropdown, so each species can rank for its own searches.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89438" y="3764875"/>
            <a:ext cx="3456742" cy="3371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5"/>
              </a:lnSpc>
            </a:pPr>
            <a:r>
              <a:rPr sz="85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Periods as the room sets</a:t>
            </a:r>
            <a:br/>
            <a:r>
              <a:rPr sz="8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Georgian first, as the release order and a filter across every page.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70560" y="6389370"/>
            <a:ext cx="1085088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1" name="Picture 40" descr="01-Agenda-sv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" y="6560820"/>
            <a:ext cx="129540" cy="12954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83920" y="6568440"/>
            <a:ext cx="174248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MR MOULDINGS × VENDO DIGITAL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22499" y="6568440"/>
            <a:ext cx="129421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53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457200"/>
            <a:ext cx="1088136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16"/>
              </a:lnSpc>
            </a:pPr>
            <a:r>
              <a:rPr sz="700" b="1" i="0" spc="13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SEO · NEW CATEGORIES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652224"/>
            <a:ext cx="724114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34"/>
              </a:lnSpc>
            </a:pPr>
            <a:r>
              <a:rPr sz="3100" b="1" i="0" spc="-97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Three ideas from Adam, </a:t>
            </a:r>
            <a:r>
              <a:rPr sz="3100" b="0" i="1" spc="-32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</a:rPr>
              <a:t>ranked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1309330"/>
            <a:ext cx="7272338" cy="198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9"/>
              </a:lnSpc>
            </a:pPr>
            <a:r>
              <a:rPr sz="11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Bobbin, LED coving and ceiling roses. UK search demand, the competition, and what each would take.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0560" y="1762720"/>
            <a:ext cx="3545800" cy="4007168"/>
          </a:xfrm>
          <a:prstGeom prst="roundRect">
            <a:avLst>
              <a:gd name="adj" fmla="val 3008"/>
            </a:avLst>
          </a:prstGeom>
          <a:solidFill>
            <a:srgbClr val="8EFEBB">
              <a:alpha val="9000"/>
            </a:srgbClr>
          </a:solidFill>
          <a:ln w="7620">
            <a:solidFill>
              <a:srgbClr val="8EFEBB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876300" y="1953220"/>
            <a:ext cx="3134320" cy="182880"/>
          </a:xfrm>
          <a:prstGeom prst="roundRect">
            <a:avLst>
              <a:gd name="adj" fmla="val 50000"/>
            </a:avLst>
          </a:prstGeom>
          <a:solidFill>
            <a:srgbClr val="8EFEBB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60120" y="1991320"/>
            <a:ext cx="2997160" cy="10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sz="550" b="1" i="0" spc="84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DO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300" y="2242780"/>
            <a:ext cx="3164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50" b="1" i="0" spc="-12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Bobbin mouldings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2448520"/>
            <a:ext cx="31648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</a:pPr>
            <a:r>
              <a:rPr sz="2300" b="1" i="0" spc="-72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3,040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" y="2860000"/>
            <a:ext cx="31648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70"/>
              </a:lnSpc>
            </a:pPr>
            <a:r>
              <a:rPr sz="750" b="0" i="0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searches a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300" y="3138130"/>
            <a:ext cx="3164800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5"/>
              </a:lnSpc>
            </a:pPr>
            <a:r>
              <a:rPr sz="8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Google already shows the site for bobbin searches, with nothing to land on. The top results are small specialists; the big retailers only sell plastic strips.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" y="5057061"/>
            <a:ext cx="316480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WHAT IT NEEDS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6300" y="5232678"/>
            <a:ext cx="3164800" cy="3371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5"/>
              </a:lnSpc>
            </a:pPr>
            <a:r>
              <a:rPr sz="8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Confirmation you can make it, and in which profiles: trim, dado and picture rail.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3040" y="1762720"/>
            <a:ext cx="3545800" cy="4007168"/>
          </a:xfrm>
          <a:prstGeom prst="roundRect">
            <a:avLst>
              <a:gd name="adj" fmla="val 3008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4528780" y="1953220"/>
            <a:ext cx="3134320" cy="182880"/>
          </a:xfrm>
          <a:prstGeom prst="roundRect">
            <a:avLst>
              <a:gd name="adj" fmla="val 50000"/>
            </a:avLst>
          </a:prstGeom>
          <a:solidFill>
            <a:srgbClr val="8EFEBB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612600" y="1991320"/>
            <a:ext cx="2997160" cy="10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sz="550" b="1" i="0" spc="84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DO SECOND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8780" y="2242780"/>
            <a:ext cx="3164800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50" b="1" i="0" spc="-12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LED coving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8780" y="2448520"/>
            <a:ext cx="31648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</a:pPr>
            <a:r>
              <a:rPr sz="2300" b="1" i="0" spc="-72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8,270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8780" y="2860000"/>
            <a:ext cx="31648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70"/>
              </a:lnSpc>
            </a:pPr>
            <a:r>
              <a:rPr sz="750" b="0" i="0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searches a month · "led coving" alone 6,600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8780" y="3138130"/>
            <a:ext cx="3164800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5"/>
              </a:lnSpc>
            </a:pPr>
            <a:r>
              <a:rPr sz="8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The largest of the three. Buyers shop for a coving shape with space for the light strip, and no strong site holds the category.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8780" y="5234226"/>
            <a:ext cx="316480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WHAT IT NEEDS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8780" y="5409843"/>
            <a:ext cx="31648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5"/>
              </a:lnSpc>
            </a:pPr>
            <a:r>
              <a:rPr sz="8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Your pick of the cornice profiles that suit an LED gap.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75521" y="1762720"/>
            <a:ext cx="3545919" cy="4007168"/>
          </a:xfrm>
          <a:prstGeom prst="roundRect">
            <a:avLst>
              <a:gd name="adj" fmla="val 3008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8181261" y="1953220"/>
            <a:ext cx="3134439" cy="182880"/>
          </a:xfrm>
          <a:prstGeom prst="roundRect">
            <a:avLst>
              <a:gd name="adj" fmla="val 50000"/>
            </a:avLst>
          </a:prstGeom>
          <a:solidFill>
            <a:srgbClr val="F5D674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265081" y="1991320"/>
            <a:ext cx="2997279" cy="10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sz="550" b="1" i="0" spc="84">
                <a:solidFill>
                  <a:srgbClr val="F5D674"/>
                </a:solidFill>
                <a:latin typeface="Manrope"/>
                <a:ea typeface="Manrope"/>
                <a:cs typeface="Manrope"/>
              </a:rPr>
              <a:t>COMMERCIAL CALL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1261" y="2242780"/>
            <a:ext cx="3164919" cy="20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50" b="1" i="0" spc="-12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Ceiling roses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1261" y="2448520"/>
            <a:ext cx="3164919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</a:pPr>
            <a:r>
              <a:rPr sz="2300" b="1" i="0" spc="-72">
                <a:solidFill>
                  <a:srgbClr val="F5D674"/>
                </a:solidFill>
                <a:latin typeface="Manrope"/>
                <a:ea typeface="Manrope"/>
                <a:cs typeface="Manrope"/>
              </a:rPr>
              <a:t>8,000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1261" y="2860000"/>
            <a:ext cx="3164919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70"/>
              </a:lnSpc>
            </a:pPr>
            <a:r>
              <a:rPr sz="750" b="0" i="0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decorative searches a month, beside a 22,200 head term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1261" y="3138130"/>
            <a:ext cx="3164919" cy="3371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5"/>
              </a:lnSpc>
            </a:pPr>
            <a:r>
              <a:rPr sz="8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Plaster is not off brand. W M Boyle sells plaster roses beside timber mouldings and ranks for both.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1261" y="5234226"/>
            <a:ext cx="3164919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WHAT IT NEEDS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1261" y="5409843"/>
            <a:ext cx="3164919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5"/>
              </a:lnSpc>
            </a:pPr>
            <a:r>
              <a:rPr sz="8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A decision to stock plaster, as its own range.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0560" y="5876568"/>
            <a:ext cx="10850880" cy="448032"/>
          </a:xfrm>
          <a:prstGeom prst="roundRect">
            <a:avLst>
              <a:gd name="adj" fmla="val 23810"/>
            </a:avLst>
          </a:prstGeom>
          <a:solidFill>
            <a:srgbClr val="8EFEBB">
              <a:alpha val="9000"/>
            </a:srgbClr>
          </a:solidFill>
          <a:ln w="7620">
            <a:solidFill>
              <a:srgbClr val="8EFEBB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45820" y="6013728"/>
            <a:ext cx="10530840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88"/>
              </a:lnSpc>
            </a:pPr>
            <a:r>
              <a:rPr sz="900" b="1" i="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All three sit behind the Solid Hardwood launch.</a:t>
            </a:r>
            <a:r>
              <a:rPr sz="900" b="0" i="0">
                <a:solidFill>
                  <a:srgbClr val="E8F2EC"/>
                </a:solidFill>
                <a:latin typeface="Manrope"/>
                <a:ea typeface="Manrope"/>
                <a:cs typeface="Manrope"/>
              </a:rPr>
              <a:t> </a:t>
            </a:r>
            <a:r>
              <a:rPr sz="9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The hardwood range is built and waiting; none of these three exists yet.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70560" y="6389370"/>
            <a:ext cx="1085088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5" name="Picture 34" descr="01-Agenda-sv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" y="6560820"/>
            <a:ext cx="129540" cy="1295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83920" y="6568440"/>
            <a:ext cx="174248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MR MOULDINGS × VENDO DIGITAL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20237" y="6568440"/>
            <a:ext cx="131683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53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457200"/>
            <a:ext cx="1088136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16"/>
              </a:lnSpc>
            </a:pPr>
            <a:r>
              <a:rPr sz="700" b="1" i="0" spc="13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SEO · WHAT THE NEW LINES ADD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652224"/>
            <a:ext cx="724114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34"/>
              </a:lnSpc>
            </a:pPr>
            <a:r>
              <a:rPr sz="3100" b="1" i="0" spc="-97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From searches to </a:t>
            </a:r>
            <a:r>
              <a:rPr sz="3100" b="0" i="1" spc="-32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</a:rPr>
              <a:t>visits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1309330"/>
            <a:ext cx="7272338" cy="4152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9"/>
              </a:lnSpc>
            </a:pPr>
            <a:r>
              <a:rPr sz="11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Searches a month become visits at the rate this site already earns: 3.0% of searchers click at third place, 9.4% at first.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0560" y="1979890"/>
            <a:ext cx="6327696" cy="4344710"/>
          </a:xfrm>
          <a:prstGeom prst="roundRect">
            <a:avLst>
              <a:gd name="adj" fmla="val 2455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6300" y="2178010"/>
            <a:ext cx="5946696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VISITS A MONTH · UK · SEARCH TOTAL BESIDE EACH 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2376488"/>
            <a:ext cx="76331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At third place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61530" y="2376488"/>
            <a:ext cx="733425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At first place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2643188"/>
            <a:ext cx="5946696" cy="1447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2"/>
              </a:lnSpc>
            </a:pPr>
            <a:r>
              <a:rPr sz="80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Solid Hardwood · 23,400 searches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6300" y="2854166"/>
            <a:ext cx="1264920" cy="121920"/>
          </a:xfrm>
          <a:prstGeom prst="roundRect">
            <a:avLst>
              <a:gd name="adj" fmla="val 12500"/>
            </a:avLst>
          </a:prstGeom>
          <a:solidFill>
            <a:srgbClr val="8EFE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202180" y="2846546"/>
            <a:ext cx="207526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50" b="1" i="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702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6300" y="3021806"/>
            <a:ext cx="3962400" cy="121920"/>
          </a:xfrm>
          <a:prstGeom prst="roundRect">
            <a:avLst>
              <a:gd name="adj" fmla="val 12500"/>
            </a:avLst>
          </a:prstGeom>
          <a:solidFill>
            <a:srgbClr val="2F5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899660" y="3014186"/>
            <a:ext cx="290632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2,200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300" y="3296126"/>
            <a:ext cx="5946696" cy="1447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2"/>
              </a:lnSpc>
            </a:pPr>
            <a:r>
              <a:rPr sz="80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LED coving · 8,270 searches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6300" y="3507105"/>
            <a:ext cx="449580" cy="121920"/>
          </a:xfrm>
          <a:prstGeom prst="roundRect">
            <a:avLst>
              <a:gd name="adj" fmla="val 12500"/>
            </a:avLst>
          </a:prstGeom>
          <a:solidFill>
            <a:srgbClr val="8EFE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386840" y="3499485"/>
            <a:ext cx="20847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50" b="1" i="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248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6300" y="3674745"/>
            <a:ext cx="1402080" cy="121920"/>
          </a:xfrm>
          <a:prstGeom prst="roundRect">
            <a:avLst>
              <a:gd name="adj" fmla="val 12500"/>
            </a:avLst>
          </a:prstGeom>
          <a:solidFill>
            <a:srgbClr val="2F5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339340" y="3667125"/>
            <a:ext cx="185023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777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6300" y="3949065"/>
            <a:ext cx="5946696" cy="1447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2"/>
              </a:lnSpc>
            </a:pPr>
            <a:r>
              <a:rPr sz="80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Ceiling roses · 8,000 searches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6300" y="4160044"/>
            <a:ext cx="434340" cy="121920"/>
          </a:xfrm>
          <a:prstGeom prst="roundRect">
            <a:avLst>
              <a:gd name="adj" fmla="val 12500"/>
            </a:avLst>
          </a:prstGeom>
          <a:solidFill>
            <a:srgbClr val="8EFE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371600" y="4152424"/>
            <a:ext cx="213003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50" b="1" i="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240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6300" y="4327684"/>
            <a:ext cx="1356360" cy="121920"/>
          </a:xfrm>
          <a:prstGeom prst="roundRect">
            <a:avLst>
              <a:gd name="adj" fmla="val 12500"/>
            </a:avLst>
          </a:prstGeom>
          <a:solidFill>
            <a:srgbClr val="2F5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2293620" y="4320064"/>
            <a:ext cx="191095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752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6300" y="4602004"/>
            <a:ext cx="5946696" cy="1447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2"/>
              </a:lnSpc>
            </a:pPr>
            <a:r>
              <a:rPr sz="80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Bobbin · 3,040 searches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6300" y="4812982"/>
            <a:ext cx="167640" cy="121920"/>
          </a:xfrm>
          <a:prstGeom prst="roundRect">
            <a:avLst>
              <a:gd name="adj" fmla="val 12500"/>
            </a:avLst>
          </a:prstGeom>
          <a:solidFill>
            <a:srgbClr val="8EFE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104900" y="4805362"/>
            <a:ext cx="135493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50" b="1" i="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91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6300" y="4980622"/>
            <a:ext cx="518160" cy="121920"/>
          </a:xfrm>
          <a:prstGeom prst="roundRect">
            <a:avLst>
              <a:gd name="adj" fmla="val 12500"/>
            </a:avLst>
          </a:prstGeom>
          <a:solidFill>
            <a:srgbClr val="2F5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455420" y="4973002"/>
            <a:ext cx="20597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7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286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03056" y="1979890"/>
            <a:ext cx="4218384" cy="1398627"/>
          </a:xfrm>
          <a:prstGeom prst="roundRect">
            <a:avLst>
              <a:gd name="adj" fmla="val 7627"/>
            </a:avLst>
          </a:prstGeom>
          <a:solidFill>
            <a:srgbClr val="8EFEBB">
              <a:alpha val="9000"/>
            </a:srgbClr>
          </a:solidFill>
          <a:ln w="7620">
            <a:solidFill>
              <a:srgbClr val="8EFEBB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508796" y="2178010"/>
            <a:ext cx="3837384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ALL FOUR AT THIRD PLACE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08796" y="2307908"/>
            <a:ext cx="3837384" cy="495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79"/>
              </a:lnSpc>
            </a:pPr>
            <a:r>
              <a:rPr sz="2750" b="1" i="0" spc="-86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+1,281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08796" y="2841308"/>
            <a:ext cx="3837384" cy="3371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5"/>
              </a:lnSpc>
            </a:pPr>
            <a:r>
              <a:rPr sz="8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visits a month, +21% on the 6,200 UK clicks Google sends the site today. About 4,000 if all four reach first place.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03056" y="3530918"/>
            <a:ext cx="4218384" cy="1295757"/>
          </a:xfrm>
          <a:prstGeom prst="roundRect">
            <a:avLst>
              <a:gd name="adj" fmla="val 8233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508796" y="3729038"/>
            <a:ext cx="3837384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THE MATHS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08796" y="3935135"/>
            <a:ext cx="3837384" cy="6915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5"/>
              </a:lnSpc>
            </a:pPr>
            <a:r>
              <a:rPr sz="8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LED coving: 8,270 searches × 3.0% = 248 visits at third place, × 9.4% = 777 at first. The same sum for each line, using the site's own non-brand click-through. Visits, not revenue: pound values follow once the lines sell.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70560" y="6389370"/>
            <a:ext cx="1085088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7" name="Picture 36" descr="01-Agenda-sv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" y="6560820"/>
            <a:ext cx="129540" cy="12954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83920" y="6568440"/>
            <a:ext cx="174248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MR MOULDINGS × VENDO DIGITAL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22142" y="6568440"/>
            <a:ext cx="129778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53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457200"/>
            <a:ext cx="1088136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16"/>
              </a:lnSpc>
            </a:pPr>
            <a:r>
              <a:rPr sz="700" b="1" i="0" spc="13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SEO · ACROSS CHANNELS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652224"/>
            <a:ext cx="724114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34"/>
              </a:lnSpc>
            </a:pPr>
            <a:r>
              <a:rPr sz="3100" b="1" i="0" spc="-97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One set of pages, </a:t>
            </a:r>
            <a:r>
              <a:rPr sz="3100" b="0" i="1" spc="-32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</a:rPr>
              <a:t>three</a:t>
            </a:r>
            <a:r>
              <a:rPr sz="3100" b="1" i="0" spc="-97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 channels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1309330"/>
            <a:ext cx="7272338" cy="198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9"/>
              </a:lnSpc>
            </a:pPr>
            <a:r>
              <a:rPr sz="11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Every page SEO specifies is also where paid search and Meta traffic lands.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0560" y="2440424"/>
            <a:ext cx="5372100" cy="1549837"/>
          </a:xfrm>
          <a:prstGeom prst="roundRect">
            <a:avLst>
              <a:gd name="adj" fmla="val 6883"/>
            </a:avLst>
          </a:prstGeom>
          <a:solidFill>
            <a:srgbClr val="8EFEBB">
              <a:alpha val="9000"/>
            </a:srgbClr>
          </a:solidFill>
          <a:ln w="7620">
            <a:solidFill>
              <a:srgbClr val="8EFEBB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891540" y="2653784"/>
            <a:ext cx="776407" cy="182880"/>
          </a:xfrm>
          <a:prstGeom prst="roundRect">
            <a:avLst>
              <a:gd name="adj" fmla="val 50000"/>
            </a:avLst>
          </a:prstGeom>
          <a:solidFill>
            <a:srgbClr val="8EFEBB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75360" y="2691884"/>
            <a:ext cx="639247" cy="10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sz="550" b="1" i="0" spc="84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PAID 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1540" y="2943344"/>
            <a:ext cx="4960620" cy="213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200" b="1" i="0" spc="-13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Product titles feed Shopping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1540" y="3225284"/>
            <a:ext cx="4960620" cy="5455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88"/>
              </a:lnSpc>
            </a:pPr>
            <a:r>
              <a:rPr sz="9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The LED coving results are mostly Shopping listings, so the product titles carry the words buyers search. Search-led collection names give every ad a page that matches its keyword.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49340" y="2440424"/>
            <a:ext cx="5372100" cy="1549837"/>
          </a:xfrm>
          <a:prstGeom prst="roundRect">
            <a:avLst>
              <a:gd name="adj" fmla="val 6883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370320" y="2653784"/>
            <a:ext cx="747474" cy="182880"/>
          </a:xfrm>
          <a:prstGeom prst="roundRect">
            <a:avLst>
              <a:gd name="adj" fmla="val 50000"/>
            </a:avLst>
          </a:prstGeom>
          <a:solidFill>
            <a:srgbClr val="8EFEBB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54140" y="2691884"/>
            <a:ext cx="610314" cy="10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sz="550" b="1" i="0" spc="84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PAID SOCIAL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0320" y="2943344"/>
            <a:ext cx="4960620" cy="213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200" b="1" i="0" spc="-13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Bobbin is a social trend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320" y="3225284"/>
            <a:ext cx="4960620" cy="356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88"/>
              </a:lnSpc>
            </a:pPr>
            <a:r>
              <a:rPr sz="9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Instagram and TikTok videos rank in Google's top ten for "bobbin moulding". Bobbin content made for Meta can also sit on the collection page.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0560" y="4096941"/>
            <a:ext cx="5372100" cy="1549837"/>
          </a:xfrm>
          <a:prstGeom prst="roundRect">
            <a:avLst>
              <a:gd name="adj" fmla="val 6883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91540" y="4310301"/>
            <a:ext cx="587454" cy="182880"/>
          </a:xfrm>
          <a:prstGeom prst="roundRect">
            <a:avLst>
              <a:gd name="adj" fmla="val 50000"/>
            </a:avLst>
          </a:prstGeom>
          <a:solidFill>
            <a:srgbClr val="8EFEBB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75360" y="4348401"/>
            <a:ext cx="450294" cy="10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sz="550" b="1" i="0" spc="84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ORGANIC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" y="4599861"/>
            <a:ext cx="4960620" cy="213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200" b="1" i="0" spc="-13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Search sets the words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" y="4881801"/>
            <a:ext cx="4960620" cy="5455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88"/>
              </a:lnSpc>
            </a:pPr>
            <a:r>
              <a:rPr sz="9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"Tulip mouldings" has no searches; timber and hardwood terms have 17,500 a month. The same names run across ads, pages and the menu, so every channel speaks the buyer's language.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9340" y="4096941"/>
            <a:ext cx="5372100" cy="1549837"/>
          </a:xfrm>
          <a:prstGeom prst="roundRect">
            <a:avLst>
              <a:gd name="adj" fmla="val 6883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370320" y="4310301"/>
            <a:ext cx="854869" cy="182880"/>
          </a:xfrm>
          <a:prstGeom prst="roundRect">
            <a:avLst>
              <a:gd name="adj" fmla="val 50000"/>
            </a:avLst>
          </a:prstGeom>
          <a:solidFill>
            <a:srgbClr val="8EFEBB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54140" y="4348401"/>
            <a:ext cx="717709" cy="10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sz="550" b="1" i="0" spc="84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MEASUREMENT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320" y="4599861"/>
            <a:ext cx="4960620" cy="213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200" b="1" i="0" spc="-13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A baseline before launch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320" y="4881801"/>
            <a:ext cx="4960620" cy="356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88"/>
              </a:lnSpc>
            </a:pPr>
            <a:r>
              <a:rPr sz="9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58 keywords tracked, 21 of them timber terms captured before the range goes live. The launch's effect on search can be shown, not assumed.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70560" y="6389370"/>
            <a:ext cx="1085088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6" name="Picture 25" descr="01-Agenda-sv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" y="6560820"/>
            <a:ext cx="129540" cy="1295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83920" y="6568440"/>
            <a:ext cx="174248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MR MOULDINGS × VENDO DIGITAL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19165" y="6568440"/>
            <a:ext cx="132755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53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457200"/>
            <a:ext cx="1088136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16"/>
              </a:lnSpc>
            </a:pPr>
            <a:r>
              <a:rPr sz="700" b="1" i="0" spc="13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SEO · OCTOBER TO DECEMBER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652224"/>
            <a:ext cx="724114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34"/>
              </a:lnSpc>
            </a:pPr>
            <a:r>
              <a:rPr sz="3100" b="1" i="0" spc="-97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The next </a:t>
            </a:r>
            <a:r>
              <a:rPr sz="3100" b="0" i="1" spc="-32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</a:rPr>
              <a:t>three</a:t>
            </a:r>
            <a:r>
              <a:rPr sz="3100" b="1" i="0" spc="-97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 months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1309330"/>
            <a:ext cx="7272338" cy="198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9"/>
              </a:lnSpc>
            </a:pPr>
            <a:r>
              <a:rPr sz="11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New pages, with their web addresses and the products on them, and the page-two fixes alongside.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0560" y="1762720"/>
            <a:ext cx="4441388" cy="4561880"/>
          </a:xfrm>
          <a:prstGeom prst="roundRect">
            <a:avLst>
              <a:gd name="adj" fmla="val 2401"/>
            </a:avLst>
          </a:prstGeom>
          <a:solidFill>
            <a:srgbClr val="8EFEBB">
              <a:alpha val="9000"/>
            </a:srgbClr>
          </a:solidFill>
          <a:ln w="7620">
            <a:solidFill>
              <a:srgbClr val="8EFEBB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6300" y="1953220"/>
            <a:ext cx="4060388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</a:pPr>
            <a:r>
              <a:rPr sz="1250" b="1" i="0" spc="-13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October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2250400"/>
            <a:ext cx="4060388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NEW PAGES · SOLID HARDWOOD, GEORGIAN SET, 16 PRODUCTS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300" y="2456498"/>
            <a:ext cx="4060388" cy="2965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5"/>
              </a:lnSpc>
            </a:pPr>
            <a:r>
              <a:rPr sz="750" b="1" i="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/collections/timber-mouldings</a:t>
            </a:r>
            <a:br/>
            <a:r>
              <a:rPr sz="7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Range page. Opens with the Georgian set; every period adds to it as it releases.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2851547"/>
            <a:ext cx="4060388" cy="2965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5"/>
              </a:lnSpc>
            </a:pPr>
            <a:r>
              <a:rPr sz="750" b="1" i="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/collections/hardwood-skirting-boards</a:t>
            </a:r>
            <a:br/>
            <a:r>
              <a:rPr sz="7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Aysgarth, Ayton, Beckwithshaw and Helmsley skirting boards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" y="3246596"/>
            <a:ext cx="4060388" cy="2965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5"/>
              </a:lnSpc>
            </a:pPr>
            <a:r>
              <a:rPr sz="750" b="1" i="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/collections/hardwood-architrave</a:t>
            </a:r>
            <a:br/>
            <a:r>
              <a:rPr sz="7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The same four profiles as architrave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300" y="3641646"/>
            <a:ext cx="4060388" cy="2965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5"/>
              </a:lnSpc>
            </a:pPr>
            <a:r>
              <a:rPr sz="750" b="1" i="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/collections/hardwood-dado-rails</a:t>
            </a:r>
            <a:br/>
            <a:r>
              <a:rPr sz="7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The same four as dado rail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" y="4036695"/>
            <a:ext cx="4060388" cy="2965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5"/>
              </a:lnSpc>
            </a:pPr>
            <a:r>
              <a:rPr sz="750" b="1" i="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/collections/hardwood-panel-moulding</a:t>
            </a:r>
            <a:br/>
            <a:r>
              <a:rPr sz="7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The same four as panel moulding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6300" y="4477464"/>
            <a:ext cx="4060388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PAGE TWO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300" y="4637842"/>
            <a:ext cx="4060388" cy="1447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2"/>
              </a:lnSpc>
            </a:pPr>
            <a:r>
              <a:rPr sz="80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Fold the combined dado and picture rail page; dado and picture rail fixes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18628" y="1762720"/>
            <a:ext cx="3098006" cy="4561880"/>
          </a:xfrm>
          <a:prstGeom prst="roundRect">
            <a:avLst>
              <a:gd name="adj" fmla="val 3443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424368" y="1953220"/>
            <a:ext cx="2717006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</a:pPr>
            <a:r>
              <a:rPr sz="1250" b="1" i="0" spc="-13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November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24368" y="2250400"/>
            <a:ext cx="2717006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NEW PAGE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24368" y="2456498"/>
            <a:ext cx="2717006" cy="4560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5"/>
              </a:lnSpc>
            </a:pPr>
            <a:r>
              <a:rPr sz="750" b="1" i="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/collections/bobbin-mouldings</a:t>
            </a:r>
            <a:br/>
            <a:r>
              <a:rPr sz="7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Bobbin trim, bobbin dado rail and bobbin picture rail, in the profiles Adam confirms.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4368" y="3071932"/>
            <a:ext cx="2717006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PAGE TWO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24368" y="3232309"/>
            <a:ext cx="2717006" cy="1447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2"/>
              </a:lnSpc>
            </a:pPr>
            <a:r>
              <a:rPr sz="80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Door architrave, MDF skirting boards, cornice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24368" y="3534728"/>
            <a:ext cx="2717006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24368" y="3695105"/>
            <a:ext cx="2717006" cy="3100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2"/>
              </a:lnSpc>
            </a:pPr>
            <a:r>
              <a:rPr sz="80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Georgian pages indexed and ranking in Search Console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23315" y="1762720"/>
            <a:ext cx="3098125" cy="4561880"/>
          </a:xfrm>
          <a:prstGeom prst="roundRect">
            <a:avLst>
              <a:gd name="adj" fmla="val 3443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629055" y="1953220"/>
            <a:ext cx="271712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</a:pPr>
            <a:r>
              <a:rPr sz="1250" b="1" i="0" spc="-13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December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29055" y="2250400"/>
            <a:ext cx="2717125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SPECS READY FOR JANUARY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29055" y="2410778"/>
            <a:ext cx="2717125" cy="1447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2"/>
              </a:lnSpc>
            </a:pPr>
            <a:r>
              <a:rPr sz="80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Oak products and collections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29055" y="2576036"/>
            <a:ext cx="2717125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5"/>
              </a:lnSpc>
            </a:pPr>
            <a:r>
              <a:rPr sz="7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Named to match the Tulipwood set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29055" y="2765941"/>
            <a:ext cx="2717125" cy="1447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2"/>
              </a:lnSpc>
            </a:pPr>
            <a:r>
              <a:rPr sz="80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LED coving collection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29055" y="2931200"/>
            <a:ext cx="2717125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5"/>
              </a:lnSpc>
            </a:pPr>
            <a:r>
              <a:rPr sz="7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Once Adam picks the cornices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29055" y="3227784"/>
            <a:ext cx="2717125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PAGE TWO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29055" y="3388162"/>
            <a:ext cx="2717125" cy="1447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2"/>
              </a:lnSpc>
            </a:pPr>
            <a:r>
              <a:rPr sz="80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Ogee skirting, torus, ovolo and stepped architrave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29055" y="3690580"/>
            <a:ext cx="2717125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REPORT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29055" y="3850958"/>
            <a:ext cx="2717125" cy="1447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2"/>
              </a:lnSpc>
            </a:pPr>
            <a:r>
              <a:rPr sz="80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The quarter against the pre-launch baseline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70560" y="6389370"/>
            <a:ext cx="1085088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5" name="Picture 34" descr="01-Agenda-sv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" y="6560820"/>
            <a:ext cx="129540" cy="1295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83920" y="6568440"/>
            <a:ext cx="174248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MR MOULDINGS × VENDO DIGITAL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26547" y="6568440"/>
            <a:ext cx="125373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53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457200"/>
            <a:ext cx="1088136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16"/>
              </a:lnSpc>
            </a:pPr>
            <a:r>
              <a:rPr sz="700" b="1" i="0" spc="13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SEO · THE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652224"/>
            <a:ext cx="724114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34"/>
              </a:lnSpc>
            </a:pPr>
            <a:r>
              <a:rPr sz="3100" b="1" i="0" spc="-97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The SEO work, </a:t>
            </a:r>
            <a:r>
              <a:rPr sz="3100" b="0" i="1" spc="-32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</a:rPr>
              <a:t>quarter</a:t>
            </a:r>
            <a:r>
              <a:rPr sz="3100" b="1" i="0" spc="-97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 by quarter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1309330"/>
            <a:ext cx="7272338" cy="198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9"/>
              </a:lnSpc>
            </a:pPr>
            <a:r>
              <a:rPr sz="11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Every item is ours to research, specify and check. Toby builds from our specs once they are signed off.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0560" y="1762720"/>
            <a:ext cx="2632710" cy="4561880"/>
          </a:xfrm>
          <a:prstGeom prst="roundRect">
            <a:avLst>
              <a:gd name="adj" fmla="val 4052"/>
            </a:avLst>
          </a:prstGeom>
          <a:solidFill>
            <a:srgbClr val="8EFEBB">
              <a:alpha val="9000"/>
            </a:srgbClr>
          </a:solidFill>
          <a:ln w="7620">
            <a:solidFill>
              <a:srgbClr val="8EFEBB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6300" y="1960840"/>
            <a:ext cx="225171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Q4 2026 · OCT–DEC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2174558"/>
            <a:ext cx="2251710" cy="4541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</a:pPr>
            <a:r>
              <a:rPr sz="85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Spec the Georgian hardwood pages</a:t>
            </a:r>
            <a:r>
              <a:rPr sz="8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 for an October launch: the range page and four type collections, 16 products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300" y="2729984"/>
            <a:ext cx="2251710" cy="4541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</a:pPr>
            <a:r>
              <a:rPr sz="85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Spec the eight page-two fixes</a:t>
            </a:r>
            <a:r>
              <a:rPr sz="8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 dado and picture rail first, then architrave, skirting, cornice, ogee and torus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3285411"/>
            <a:ext cx="2251710" cy="2994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</a:pPr>
            <a:r>
              <a:rPr sz="85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Spec the bobbin collection</a:t>
            </a:r>
            <a:r>
              <a:rPr sz="8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 for November, once Adam confirms the profiles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" y="3686175"/>
            <a:ext cx="2251710" cy="4541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</a:pPr>
            <a:r>
              <a:rPr sz="85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Check the site release</a:t>
            </a:r>
            <a:r>
              <a:rPr sz="8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 in Search Console: pages indexed, new titles picked up, no ranking drops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9950" y="1762720"/>
            <a:ext cx="2632710" cy="4561880"/>
          </a:xfrm>
          <a:prstGeom prst="roundRect">
            <a:avLst>
              <a:gd name="adj" fmla="val 4052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15690" y="1960840"/>
            <a:ext cx="225171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Q1 2027 · JAN–MAR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5690" y="2174558"/>
            <a:ext cx="2251710" cy="4541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</a:pPr>
            <a:r>
              <a:rPr sz="85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Spec oak as its own products</a:t>
            </a:r>
            <a:r>
              <a:rPr sz="8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 and collections, named to match the Tulipwood 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5690" y="2729984"/>
            <a:ext cx="2251710" cy="4541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</a:pPr>
            <a:r>
              <a:rPr sz="85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Spec the LED coving collection</a:t>
            </a:r>
            <a:r>
              <a:rPr sz="8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 with LED wording in product titles so it reaches Shopping too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5690" y="3285411"/>
            <a:ext cx="2251710" cy="4541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</a:pPr>
            <a:r>
              <a:rPr sz="85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Spec the Victorian and Edwardian sets</a:t>
            </a:r>
            <a:r>
              <a:rPr sz="8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 into the hardwood collections as each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5690" y="3840837"/>
            <a:ext cx="2251710" cy="4541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</a:pPr>
            <a:r>
              <a:rPr sz="85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Rewrite titles and descriptions</a:t>
            </a:r>
            <a:r>
              <a:rPr sz="8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 on terms at positions 4–10, which hold 45% of impressions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49340" y="1762720"/>
            <a:ext cx="2632710" cy="4561880"/>
          </a:xfrm>
          <a:prstGeom prst="roundRect">
            <a:avLst>
              <a:gd name="adj" fmla="val 4052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55080" y="1960840"/>
            <a:ext cx="225171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Q2 2027 · APR–JUN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174558"/>
            <a:ext cx="2251710" cy="2994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</a:pPr>
            <a:r>
              <a:rPr sz="85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Spec the Contemporary set</a:t>
            </a:r>
            <a:r>
              <a:rPr sz="8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 into the hardwood collections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575322"/>
            <a:ext cx="2251710" cy="4541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</a:pPr>
            <a:r>
              <a:rPr sz="85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Take on the largest page-two terms</a:t>
            </a:r>
            <a:r>
              <a:rPr sz="8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 skirting board, architrave and window sill, once the first eight land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3130748"/>
            <a:ext cx="2251710" cy="2994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</a:pPr>
            <a:r>
              <a:rPr sz="85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Spec a ceiling roses range</a:t>
            </a:r>
            <a:r>
              <a:rPr sz="8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 if Adam decides to stock plaster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531513"/>
            <a:ext cx="2251710" cy="2994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</a:pPr>
            <a:r>
              <a:rPr sz="85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Review what ranked</a:t>
            </a:r>
            <a:r>
              <a:rPr sz="8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 since launch and re-order the list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88730" y="1762720"/>
            <a:ext cx="2632710" cy="4561880"/>
          </a:xfrm>
          <a:prstGeom prst="roundRect">
            <a:avLst>
              <a:gd name="adj" fmla="val 4052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094470" y="1960840"/>
            <a:ext cx="225171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Q3 2027 · JUL–SEP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4470" y="2174558"/>
            <a:ext cx="2251710" cy="2994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</a:pPr>
            <a:r>
              <a:rPr sz="85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Build on what reached page one</a:t>
            </a:r>
            <a:r>
              <a:rPr sz="8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 with more profiles and supporting pages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4470" y="2575322"/>
            <a:ext cx="2251710" cy="2994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</a:pPr>
            <a:r>
              <a:rPr sz="85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Research the next categories</a:t>
            </a:r>
            <a:r>
              <a:rPr sz="8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 from searches rising in Search Console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4470" y="2976086"/>
            <a:ext cx="2251710" cy="2994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</a:pPr>
            <a:r>
              <a:rPr sz="85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Report the year</a:t>
            </a:r>
            <a:r>
              <a:rPr sz="8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 rankings, clicks and revenue against the pre-launch baseline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0560" y="6389370"/>
            <a:ext cx="1085088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9" name="Picture 28" descr="01-Agenda-sv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" y="6560820"/>
            <a:ext cx="129540" cy="12954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83920" y="6568440"/>
            <a:ext cx="174248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MR MOULDINGS × VENDO DIGITAL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19880" y="6568440"/>
            <a:ext cx="13204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53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457200"/>
            <a:ext cx="1088136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16"/>
              </a:lnSpc>
            </a:pPr>
            <a:r>
              <a:rPr sz="700" b="1" i="0" spc="13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SEO · HOW THE WORK RUNS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652224"/>
            <a:ext cx="724114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34"/>
              </a:lnSpc>
            </a:pPr>
            <a:r>
              <a:rPr sz="3100" b="1" i="0" spc="-97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From search data to a </a:t>
            </a:r>
            <a:r>
              <a:rPr sz="3100" b="0" i="1" spc="-32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</a:rPr>
              <a:t>live</a:t>
            </a:r>
            <a:r>
              <a:rPr sz="3100" b="1" i="0" spc="-97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1309330"/>
            <a:ext cx="7272338" cy="198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9"/>
              </a:lnSpc>
            </a:pPr>
            <a:r>
              <a:rPr sz="11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The same four steps for every item on the plan, reported monthly.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0560" y="1762720"/>
            <a:ext cx="2632710" cy="1805940"/>
          </a:xfrm>
          <a:prstGeom prst="roundRect">
            <a:avLst>
              <a:gd name="adj" fmla="val 5907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1060" y="1907500"/>
            <a:ext cx="228219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</a:pPr>
            <a:r>
              <a:rPr sz="2300" b="1" i="0" spc="-72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1060" y="2379940"/>
            <a:ext cx="2282190" cy="213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200" b="1" i="0" spc="-13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1060" y="2661880"/>
            <a:ext cx="2282190" cy="6915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5"/>
              </a:lnSpc>
            </a:pPr>
            <a:r>
              <a:rPr sz="8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We pull search demand, competitor rankings and the site's own Search Console data, and size each opportunity in visits.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9950" y="1762720"/>
            <a:ext cx="2632710" cy="1805940"/>
          </a:xfrm>
          <a:prstGeom prst="roundRect">
            <a:avLst>
              <a:gd name="adj" fmla="val 5907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00450" y="1907500"/>
            <a:ext cx="228219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</a:pPr>
            <a:r>
              <a:rPr sz="2300" b="1" i="0" spc="-72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450" y="2379940"/>
            <a:ext cx="2282190" cy="213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200" b="1" i="0" spc="-13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Specify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0450" y="2661880"/>
            <a:ext cx="2282190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5"/>
              </a:lnSpc>
            </a:pPr>
            <a:r>
              <a:rPr sz="8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We write the exact changes: URLs, page titles, headings, copy and internal links, ready to build with nothing left to interpret.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49340" y="1762720"/>
            <a:ext cx="2632710" cy="1805940"/>
          </a:xfrm>
          <a:prstGeom prst="roundRect">
            <a:avLst>
              <a:gd name="adj" fmla="val 5907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39840" y="1907500"/>
            <a:ext cx="228219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</a:pPr>
            <a:r>
              <a:rPr sz="2300" b="1" i="0" spc="-72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9840" y="2379940"/>
            <a:ext cx="2282190" cy="213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200" b="1" i="0" spc="-13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9840" y="2661880"/>
            <a:ext cx="2282190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5"/>
              </a:lnSpc>
            </a:pPr>
            <a:r>
              <a:rPr sz="8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Toby builds from the spec once it is signed off. Nothing reaches the live site any other way.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88730" y="1762720"/>
            <a:ext cx="2632710" cy="1805940"/>
          </a:xfrm>
          <a:prstGeom prst="roundRect">
            <a:avLst>
              <a:gd name="adj" fmla="val 5907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079230" y="1907500"/>
            <a:ext cx="228219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</a:pPr>
            <a:r>
              <a:rPr sz="2300" b="1" i="0" spc="-72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9230" y="2379940"/>
            <a:ext cx="2282190" cy="213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200" b="1" i="0" spc="-13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Check and report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9230" y="2661880"/>
            <a:ext cx="2282190" cy="6915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5"/>
              </a:lnSpc>
            </a:pPr>
            <a:r>
              <a:rPr sz="8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We confirm each change is live and picked up in Search Console, then track rankings and clicks against the baseline every month.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0560" y="3690580"/>
            <a:ext cx="10850880" cy="998220"/>
          </a:xfrm>
          <a:prstGeom prst="roundRect">
            <a:avLst>
              <a:gd name="adj" fmla="val 10687"/>
            </a:avLst>
          </a:prstGeom>
          <a:solidFill>
            <a:srgbClr val="F5D674">
              <a:alpha val="8000"/>
            </a:srgbClr>
          </a:solidFill>
          <a:ln w="7620">
            <a:solidFill>
              <a:srgbClr val="F5D674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76300" y="3865840"/>
            <a:ext cx="10469880" cy="198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</a:pPr>
            <a:r>
              <a:rPr sz="1100" b="1" i="0" spc="-11">
                <a:solidFill>
                  <a:srgbClr val="F5D674"/>
                </a:solidFill>
                <a:latin typeface="Manrope"/>
                <a:ea typeface="Manrope"/>
                <a:cs typeface="Manrope"/>
              </a:rPr>
              <a:t>What we need from Adam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6300" y="4140160"/>
            <a:ext cx="21967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</a:pPr>
            <a:r>
              <a:rPr sz="1250" b="1" i="0">
                <a:solidFill>
                  <a:srgbClr val="F5D674"/>
                </a:solidFill>
                <a:latin typeface="Manrope"/>
                <a:ea typeface="Manrope"/>
                <a:cs typeface="Manrope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6930" y="4193500"/>
            <a:ext cx="1661755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8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Which cornices suit an LED gap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4140160"/>
            <a:ext cx="244792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</a:pPr>
            <a:r>
              <a:rPr sz="1250" b="1" i="0">
                <a:solidFill>
                  <a:srgbClr val="F5D674"/>
                </a:solidFill>
                <a:latin typeface="Manrope"/>
                <a:ea typeface="Manrope"/>
                <a:cs typeface="Manrope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26192" y="4193500"/>
            <a:ext cx="2017871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8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Whether to stock plaster ceiling roses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64580" y="4140160"/>
            <a:ext cx="242649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</a:pPr>
            <a:r>
              <a:rPr sz="1250" b="1" i="0">
                <a:solidFill>
                  <a:srgbClr val="F5D674"/>
                </a:solidFill>
                <a:latin typeface="Manrope"/>
                <a:ea typeface="Manrope"/>
                <a:cs typeface="Manrope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8189" y="4193500"/>
            <a:ext cx="1675567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8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The bobbin profiles you can cut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08720" y="4140160"/>
            <a:ext cx="246578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</a:pPr>
            <a:r>
              <a:rPr sz="1250" b="1" i="0">
                <a:solidFill>
                  <a:srgbClr val="F5D674"/>
                </a:solidFill>
                <a:latin typeface="Manrope"/>
                <a:ea typeface="Manrope"/>
                <a:cs typeface="Manrope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16258" y="4193500"/>
            <a:ext cx="2229922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8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Broughton panel mould confirmed as the 80th product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70560" y="6389370"/>
            <a:ext cx="1085088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 descr="01-Agenda-sv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" y="6560820"/>
            <a:ext cx="129540" cy="12954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83920" y="6568440"/>
            <a:ext cx="174248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MR MOULDINGS × VENDO DIGITAL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19165" y="6568440"/>
            <a:ext cx="132755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53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457200"/>
            <a:ext cx="1088136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16"/>
              </a:lnSpc>
            </a:pPr>
            <a:r>
              <a:rPr sz="700" b="1" i="0" spc="13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WHAT THE PLAN IS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652224"/>
            <a:ext cx="724114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34"/>
              </a:lnSpc>
            </a:pPr>
            <a:r>
              <a:rPr sz="3100" b="1" i="0" spc="-97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Two jobs: hold the trend, then </a:t>
            </a:r>
            <a:r>
              <a:rPr sz="3100" b="0" i="1" spc="-32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</a:rPr>
              <a:t>beat</a:t>
            </a:r>
            <a:r>
              <a:rPr sz="3100" b="1" i="0" spc="-97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1309330"/>
            <a:ext cx="7272338" cy="198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9"/>
              </a:lnSpc>
            </a:pPr>
            <a:r>
              <a:rPr sz="11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Five levers, in order. The first three cost very little because the work is already built or quick to set up.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0560" y="2806779"/>
            <a:ext cx="2084784" cy="1724382"/>
          </a:xfrm>
          <a:prstGeom prst="roundRect">
            <a:avLst>
              <a:gd name="adj" fmla="val 6186"/>
            </a:avLst>
          </a:prstGeom>
          <a:solidFill>
            <a:srgbClr val="09221F"/>
          </a:solidFill>
          <a:ln w="7620">
            <a:solidFill>
              <a:srgbClr val="8EFEBB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845820" y="3012519"/>
            <a:ext cx="703421" cy="182880"/>
          </a:xfrm>
          <a:prstGeom prst="roundRect">
            <a:avLst>
              <a:gd name="adj" fmla="val 50000"/>
            </a:avLst>
          </a:prstGeom>
          <a:solidFill>
            <a:srgbClr val="8EFEBB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29640" y="3050619"/>
            <a:ext cx="566261" cy="10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sz="550" b="1" i="0" spc="84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READY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" y="3302079"/>
            <a:ext cx="1764744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50" b="1" i="0" spc="-1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Release the site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" y="3606879"/>
            <a:ext cx="176474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17"/>
              </a:lnSpc>
            </a:pPr>
            <a:r>
              <a:rPr sz="1500" b="1" i="0" spc="-47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+£147k–194k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" y="4013002"/>
            <a:ext cx="1764744" cy="1447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0"/>
              </a:lnSpc>
            </a:pPr>
            <a:r>
              <a:rPr sz="800" b="0" i="0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Built and tested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62024" y="2806779"/>
            <a:ext cx="2084784" cy="1724382"/>
          </a:xfrm>
          <a:prstGeom prst="roundRect">
            <a:avLst>
              <a:gd name="adj" fmla="val 6186"/>
            </a:avLst>
          </a:prstGeom>
          <a:solidFill>
            <a:srgbClr val="09221F"/>
          </a:solidFill>
          <a:ln w="7620">
            <a:solidFill>
              <a:srgbClr val="8EFEBB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037284" y="3012519"/>
            <a:ext cx="684728" cy="182880"/>
          </a:xfrm>
          <a:prstGeom prst="roundRect">
            <a:avLst>
              <a:gd name="adj" fmla="val 50000"/>
            </a:avLst>
          </a:prstGeom>
          <a:solidFill>
            <a:srgbClr val="8EFEBB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21104" y="3050619"/>
            <a:ext cx="547568" cy="10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sz="550" b="1" i="0" spc="84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FIRST 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7284" y="3302079"/>
            <a:ext cx="1764744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50" b="1" i="0" spc="-1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Clean the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37284" y="3606879"/>
            <a:ext cx="176474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17"/>
              </a:lnSpc>
            </a:pPr>
            <a:r>
              <a:rPr sz="1500" b="1" i="0" spc="-47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Sharper ads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7284" y="4013002"/>
            <a:ext cx="1764744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0"/>
              </a:lnSpc>
            </a:pPr>
            <a:r>
              <a:rPr sz="800" b="0" i="0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Google and Meta learn from real buyers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53489" y="2806779"/>
            <a:ext cx="2084903" cy="1724382"/>
          </a:xfrm>
          <a:prstGeom prst="roundRect">
            <a:avLst>
              <a:gd name="adj" fmla="val 6186"/>
            </a:avLst>
          </a:prstGeom>
          <a:solidFill>
            <a:srgbClr val="09221F"/>
          </a:solidFill>
          <a:ln w="7620">
            <a:solidFill>
              <a:srgbClr val="8EFEBB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5228749" y="3012519"/>
            <a:ext cx="666750" cy="182880"/>
          </a:xfrm>
          <a:prstGeom prst="roundRect">
            <a:avLst>
              <a:gd name="adj" fmla="val 50000"/>
            </a:avLst>
          </a:prstGeom>
          <a:solidFill>
            <a:srgbClr val="8EFEBB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12569" y="3050619"/>
            <a:ext cx="529590" cy="10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sz="550" b="1" i="0" spc="84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QUICK WIN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28749" y="3302079"/>
            <a:ext cx="1764863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50" b="1" i="0" spc="-1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Trade &amp; email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28749" y="3606879"/>
            <a:ext cx="176486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17"/>
              </a:lnSpc>
            </a:pPr>
            <a:r>
              <a:rPr sz="1500" b="1" i="0" spc="-47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6,028 buyers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28749" y="4013002"/>
            <a:ext cx="1764863" cy="1447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0"/>
              </a:lnSpc>
            </a:pPr>
            <a:r>
              <a:rPr sz="800" b="0" i="0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Repeat buyers worth 3.7×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45072" y="2806779"/>
            <a:ext cx="2084784" cy="1724382"/>
          </a:xfrm>
          <a:prstGeom prst="roundRect">
            <a:avLst>
              <a:gd name="adj" fmla="val 6186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7420332" y="3012519"/>
            <a:ext cx="567809" cy="182880"/>
          </a:xfrm>
          <a:prstGeom prst="roundRect">
            <a:avLst>
              <a:gd name="adj" fmla="val 50000"/>
            </a:avLst>
          </a:prstGeom>
          <a:solidFill>
            <a:srgbClr val="8EFEBB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504152" y="3050619"/>
            <a:ext cx="430649" cy="10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sz="550" b="1" i="0" spc="84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FASTEST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20332" y="3302079"/>
            <a:ext cx="1764744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50" b="1" i="0" spc="-1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Search &amp; social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0332" y="3606879"/>
            <a:ext cx="176474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17"/>
              </a:lnSpc>
            </a:pPr>
            <a:r>
              <a:rPr sz="1500" b="1" i="0" spc="-47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+£50k–95k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20332" y="4013002"/>
            <a:ext cx="1764744" cy="1447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0"/>
              </a:lnSpc>
            </a:pPr>
            <a:r>
              <a:rPr sz="800" b="0" i="0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Simpler structure, fresh creative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36537" y="2806779"/>
            <a:ext cx="2084903" cy="1724382"/>
          </a:xfrm>
          <a:prstGeom prst="roundRect">
            <a:avLst>
              <a:gd name="adj" fmla="val 6186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9611797" y="3012519"/>
            <a:ext cx="533519" cy="182880"/>
          </a:xfrm>
          <a:prstGeom prst="roundRect">
            <a:avLst>
              <a:gd name="adj" fmla="val 50000"/>
            </a:avLst>
          </a:prstGeom>
          <a:solidFill>
            <a:srgbClr val="8EFEBB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5617" y="3050619"/>
            <a:ext cx="396359" cy="10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sz="550" b="1" i="0" spc="84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PROVEN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11797" y="3302079"/>
            <a:ext cx="1764863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50" b="1" i="0" spc="-1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Solid hardwood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11797" y="3606879"/>
            <a:ext cx="176486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17"/>
              </a:lnSpc>
            </a:pPr>
            <a:r>
              <a:rPr sz="1500" b="1" i="0" spc="-47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+£30k–60k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11797" y="4013002"/>
            <a:ext cx="1764863" cy="1447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0"/>
              </a:lnSpc>
            </a:pPr>
            <a:r>
              <a:rPr sz="800" b="0" i="0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Already £13.3k a month unmarketed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70560" y="4698802"/>
            <a:ext cx="10850880" cy="581739"/>
          </a:xfrm>
          <a:prstGeom prst="roundRect">
            <a:avLst>
              <a:gd name="adj" fmla="val 18338"/>
            </a:avLst>
          </a:prstGeom>
          <a:solidFill>
            <a:srgbClr val="8EFEBB">
              <a:alpha val="9000"/>
            </a:srgbClr>
          </a:solidFill>
          <a:ln w="7620">
            <a:solidFill>
              <a:srgbClr val="8EFEBB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76300" y="4896922"/>
            <a:ext cx="10469880" cy="175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</a:pPr>
            <a:r>
              <a:rPr sz="950" b="1" i="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Each lever helps deliver the 62% trend and then beat it.</a:t>
            </a:r>
            <a:r>
              <a:rPr sz="950" b="0" i="0">
                <a:solidFill>
                  <a:srgbClr val="E8F2EC"/>
                </a:solidFill>
                <a:latin typeface="Manrope"/>
                <a:ea typeface="Manrope"/>
                <a:cs typeface="Manrope"/>
              </a:rPr>
              <a:t> </a:t>
            </a:r>
            <a:r>
              <a:rPr sz="95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They overlap, so they are not added together.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70560" y="6389370"/>
            <a:ext cx="1085088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8" name="Picture 37" descr="01-Agenda-sv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" y="6560820"/>
            <a:ext cx="129540" cy="12954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83920" y="6568440"/>
            <a:ext cx="174248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MR MOULDINGS × VENDO DIGITAL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00711" y="6568440"/>
            <a:ext cx="151209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53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06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457200"/>
            <a:ext cx="10881360" cy="12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16"/>
              </a:lnSpc>
            </a:pPr>
            <a:r>
              <a:rPr sz="700" b="1" i="0" spc="13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TWELVE MONTHS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652224"/>
            <a:ext cx="724114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34"/>
              </a:lnSpc>
            </a:pPr>
            <a:r>
              <a:rPr sz="3100" b="1" i="0" spc="-97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A sequence, not a shopping </a:t>
            </a:r>
            <a:r>
              <a:rPr sz="3100" b="0" i="1" spc="-32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</a:rPr>
              <a:t>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1309330"/>
            <a:ext cx="7272338" cy="198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9"/>
              </a:lnSpc>
            </a:pPr>
            <a:r>
              <a:rPr sz="1100" b="0" i="0">
                <a:solidFill>
                  <a:srgbClr val="B9C7C0"/>
                </a:solidFill>
                <a:latin typeface="Manrope"/>
                <a:ea typeface="Manrope"/>
                <a:cs typeface="Manrope"/>
              </a:rPr>
              <a:t>Each quarter builds on the last. Clean data and the site release come first, so everything after is measurable.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0560" y="1762720"/>
            <a:ext cx="2621280" cy="4112300"/>
          </a:xfrm>
          <a:prstGeom prst="roundRect">
            <a:avLst>
              <a:gd name="adj" fmla="val 4069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6300" y="1960840"/>
            <a:ext cx="224028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Q4 2026 · OCT – DEC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2159318"/>
            <a:ext cx="2240280" cy="198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</a:pPr>
            <a:r>
              <a:rPr sz="1100" b="1" i="0" spc="-1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Foundation &amp;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300" y="2418398"/>
            <a:ext cx="2240280" cy="25084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2400" indent="-152400">
              <a:lnSpc>
                <a:spcPts val="1439"/>
              </a:lnSpc>
              <a:spcAft>
                <a:spcPts val="540"/>
              </a:spcAft>
              <a:buClr>
                <a:srgbClr val="FFFFFF"/>
              </a:buClr>
              <a:buChar char="•"/>
            </a:pPr>
            <a:r>
              <a:rPr sz="90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Clean the traffic data</a:t>
            </a:r>
            <a:r>
              <a:rPr sz="900" b="0" i="0">
                <a:solidFill>
                  <a:srgbClr val="E8F2EC"/>
                </a:solidFill>
                <a:latin typeface="Manrope"/>
                <a:ea typeface="Manrope"/>
                <a:cs typeface="Manrope"/>
              </a:rPr>
              <a:t> first</a:t>
            </a:r>
          </a:p>
          <a:p>
            <a:pPr algn="l" marL="152400" indent="-152400">
              <a:lnSpc>
                <a:spcPts val="1439"/>
              </a:lnSpc>
              <a:spcAft>
                <a:spcPts val="540"/>
              </a:spcAft>
              <a:buClr>
                <a:srgbClr val="FFFFFF"/>
              </a:buClr>
              <a:buChar char="•"/>
            </a:pPr>
            <a:r>
              <a:rPr sz="90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Release waves 0–4, then wave 5</a:t>
            </a:r>
            <a:r>
              <a:rPr sz="900" b="0" i="0">
                <a:solidFill>
                  <a:srgbClr val="E8F2EC"/>
                </a:solidFill>
                <a:latin typeface="Manrope"/>
                <a:ea typeface="Manrope"/>
                <a:cs typeface="Manrope"/>
              </a:rPr>
              <a:t>, and verify in Search Console</a:t>
            </a:r>
          </a:p>
          <a:p>
            <a:pPr algn="l" marL="152400" indent="-152400">
              <a:lnSpc>
                <a:spcPts val="1439"/>
              </a:lnSpc>
              <a:spcAft>
                <a:spcPts val="540"/>
              </a:spcAft>
              <a:buClr>
                <a:srgbClr val="E8F2EC"/>
              </a:buClr>
              <a:buChar char="•"/>
            </a:pPr>
            <a:r>
              <a:rPr sz="900" b="0" i="0">
                <a:solidFill>
                  <a:srgbClr val="E8F2EC"/>
                </a:solidFill>
                <a:latin typeface="Manrope"/>
                <a:ea typeface="Manrope"/>
                <a:cs typeface="Manrope"/>
              </a:rPr>
              <a:t>Checkout recovery email live</a:t>
            </a:r>
          </a:p>
          <a:p>
            <a:pPr algn="l" marL="152400" indent="-152400">
              <a:lnSpc>
                <a:spcPts val="1439"/>
              </a:lnSpc>
              <a:spcAft>
                <a:spcPts val="540"/>
              </a:spcAft>
              <a:buClr>
                <a:srgbClr val="E8F2EC"/>
              </a:buClr>
              <a:buChar char="•"/>
            </a:pPr>
            <a:r>
              <a:rPr sz="900" b="0" i="0">
                <a:solidFill>
                  <a:srgbClr val="E8F2EC"/>
                </a:solidFill>
                <a:latin typeface="Manrope"/>
                <a:ea typeface="Manrope"/>
                <a:cs typeface="Manrope"/>
              </a:rPr>
              <a:t>Consolidate Shopping; rewrite RSAs</a:t>
            </a:r>
          </a:p>
          <a:p>
            <a:pPr algn="l" marL="152400" indent="-152400">
              <a:lnSpc>
                <a:spcPts val="1439"/>
              </a:lnSpc>
              <a:spcAft>
                <a:spcPts val="540"/>
              </a:spcAft>
              <a:buClr>
                <a:srgbClr val="E8F2EC"/>
              </a:buClr>
              <a:buChar char="•"/>
            </a:pPr>
            <a:r>
              <a:rPr sz="900" b="0" i="0">
                <a:solidFill>
                  <a:srgbClr val="E8F2EC"/>
                </a:solidFill>
                <a:latin typeface="Manrope"/>
                <a:ea typeface="Manrope"/>
                <a:cs typeface="Manrope"/>
              </a:rPr>
              <a:t>Microsoft Ads to its £5.4k ceiling</a:t>
            </a:r>
          </a:p>
          <a:p>
            <a:pPr algn="l" marL="152400" indent="-152400">
              <a:lnSpc>
                <a:spcPts val="1439"/>
              </a:lnSpc>
              <a:spcAft>
                <a:spcPts val="540"/>
              </a:spcAft>
              <a:buClr>
                <a:srgbClr val="E8F2EC"/>
              </a:buClr>
              <a:buChar char="•"/>
            </a:pPr>
            <a:r>
              <a:rPr sz="900" b="0" i="0">
                <a:solidFill>
                  <a:srgbClr val="E8F2EC"/>
                </a:solidFill>
                <a:latin typeface="Manrope"/>
                <a:ea typeface="Manrope"/>
                <a:cs typeface="Manrope"/>
              </a:rPr>
              <a:t>Meta: one campaign, 8–12 new ads a month</a:t>
            </a:r>
          </a:p>
          <a:p>
            <a:pPr algn="l" marL="152400" indent="-152400">
              <a:lnSpc>
                <a:spcPts val="1439"/>
              </a:lnSpc>
              <a:spcAft>
                <a:spcPts val="540"/>
              </a:spcAft>
              <a:buClr>
                <a:srgbClr val="E8F2EC"/>
              </a:buClr>
              <a:buChar char="•"/>
            </a:pPr>
            <a:r>
              <a:rPr sz="900" b="0" i="0">
                <a:solidFill>
                  <a:srgbClr val="E8F2EC"/>
                </a:solidFill>
                <a:latin typeface="Manrope"/>
                <a:ea typeface="Manrope"/>
                <a:cs typeface="Manrope"/>
              </a:rPr>
              <a:t>Hardwood wave one: Georgian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6300" y="5037296"/>
            <a:ext cx="2209800" cy="0"/>
          </a:xfrm>
          <a:prstGeom prst="line">
            <a:avLst/>
          </a:prstGeom>
          <a:ln w="7620">
            <a:solidFill>
              <a:srgbClr val="FFFFFF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76300" y="5155406"/>
            <a:ext cx="224028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TARGET EXIT RUN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300" y="5369123"/>
            <a:ext cx="2240280" cy="28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4"/>
              </a:lnSpc>
            </a:pPr>
            <a:r>
              <a:rPr sz="1600" b="1" i="0" spc="-5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£335k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3760" y="1762720"/>
            <a:ext cx="2621280" cy="4112300"/>
          </a:xfrm>
          <a:prstGeom prst="roundRect">
            <a:avLst>
              <a:gd name="adj" fmla="val 4069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619500" y="1960840"/>
            <a:ext cx="224028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Q1 2027 · JAN – MAR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9500" y="2159318"/>
            <a:ext cx="2240280" cy="198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</a:pPr>
            <a:r>
              <a:rPr sz="1100" b="1" i="0" spc="-1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Capture the earned demand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9500" y="2418398"/>
            <a:ext cx="2240280" cy="25084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2400" indent="-152400">
              <a:lnSpc>
                <a:spcPts val="1439"/>
              </a:lnSpc>
              <a:spcAft>
                <a:spcPts val="540"/>
              </a:spcAft>
              <a:buClr>
                <a:srgbClr val="E8F2EC"/>
              </a:buClr>
              <a:buChar char="•"/>
            </a:pPr>
            <a:r>
              <a:rPr sz="900" b="0" i="0">
                <a:solidFill>
                  <a:srgbClr val="E8F2EC"/>
                </a:solidFill>
                <a:latin typeface="Manrope"/>
                <a:ea typeface="Manrope"/>
                <a:cs typeface="Manrope"/>
              </a:rPr>
              <a:t>Push the 30 page-two head terms onto page one</a:t>
            </a:r>
          </a:p>
          <a:p>
            <a:pPr algn="l" marL="152400" indent="-152400">
              <a:lnSpc>
                <a:spcPts val="1439"/>
              </a:lnSpc>
              <a:spcAft>
                <a:spcPts val="540"/>
              </a:spcAft>
              <a:buClr>
                <a:srgbClr val="E8F2EC"/>
              </a:buClr>
              <a:buChar char="•"/>
            </a:pPr>
            <a:r>
              <a:rPr sz="900" b="0" i="0">
                <a:solidFill>
                  <a:srgbClr val="E8F2EC"/>
                </a:solidFill>
                <a:latin typeface="Manrope"/>
                <a:ea typeface="Manrope"/>
                <a:cs typeface="Manrope"/>
              </a:rPr>
              <a:t>Trade account structure and email programme live</a:t>
            </a:r>
          </a:p>
          <a:p>
            <a:pPr algn="l" marL="152400" indent="-152400">
              <a:lnSpc>
                <a:spcPts val="1439"/>
              </a:lnSpc>
              <a:spcAft>
                <a:spcPts val="540"/>
              </a:spcAft>
              <a:buClr>
                <a:srgbClr val="E8F2EC"/>
              </a:buClr>
              <a:buChar char="•"/>
            </a:pPr>
            <a:r>
              <a:rPr sz="900" b="0" i="0">
                <a:solidFill>
                  <a:srgbClr val="E8F2EC"/>
                </a:solidFill>
                <a:latin typeface="Manrope"/>
                <a:ea typeface="Manrope"/>
                <a:cs typeface="Manrope"/>
              </a:rPr>
              <a:t>Title and meta rewrite on the zero-click terms</a:t>
            </a:r>
          </a:p>
          <a:p>
            <a:pPr algn="l" marL="152400" indent="-152400">
              <a:lnSpc>
                <a:spcPts val="1439"/>
              </a:lnSpc>
              <a:spcAft>
                <a:spcPts val="540"/>
              </a:spcAft>
              <a:buClr>
                <a:srgbClr val="E8F2EC"/>
              </a:buClr>
              <a:buChar char="•"/>
            </a:pPr>
            <a:r>
              <a:rPr sz="900" b="0" i="0">
                <a:solidFill>
                  <a:srgbClr val="E8F2EC"/>
                </a:solidFill>
                <a:latin typeface="Manrope"/>
                <a:ea typeface="Manrope"/>
                <a:cs typeface="Manrope"/>
              </a:rPr>
              <a:t>Hardwood waves two and three: Victorian, then Edwardian</a:t>
            </a:r>
          </a:p>
          <a:p>
            <a:pPr algn="l" marL="152400" indent="-152400">
              <a:lnSpc>
                <a:spcPts val="1439"/>
              </a:lnSpc>
              <a:spcAft>
                <a:spcPts val="540"/>
              </a:spcAft>
              <a:buClr>
                <a:srgbClr val="E8F2EC"/>
              </a:buClr>
              <a:buChar char="•"/>
            </a:pPr>
            <a:r>
              <a:rPr sz="900" b="0" i="0">
                <a:solidFill>
                  <a:srgbClr val="E8F2EC"/>
                </a:solidFill>
                <a:latin typeface="Manrope"/>
                <a:ea typeface="Manrope"/>
                <a:cs typeface="Manrope"/>
              </a:rPr>
              <a:t>NBS listing and sample boxes live</a:t>
            </a:r>
          </a:p>
          <a:p>
            <a:pPr algn="l" marL="152400" indent="-152400">
              <a:lnSpc>
                <a:spcPts val="1439"/>
              </a:lnSpc>
              <a:spcAft>
                <a:spcPts val="540"/>
              </a:spcAft>
              <a:buClr>
                <a:srgbClr val="E8F2EC"/>
              </a:buClr>
              <a:buChar char="•"/>
            </a:pPr>
            <a:r>
              <a:rPr sz="900" b="0" i="0">
                <a:solidFill>
                  <a:srgbClr val="E8F2EC"/>
                </a:solidFill>
                <a:latin typeface="Manrope"/>
                <a:ea typeface="Manrope"/>
                <a:cs typeface="Manrope"/>
              </a:rPr>
              <a:t>Margin data in place; rebuild the model on contribution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619500" y="5037296"/>
            <a:ext cx="2209800" cy="0"/>
          </a:xfrm>
          <a:prstGeom prst="line">
            <a:avLst/>
          </a:prstGeom>
          <a:ln w="7620">
            <a:solidFill>
              <a:srgbClr val="FFFFFF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619500" y="5155406"/>
            <a:ext cx="224028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TARGET EXIT RUN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9500" y="5369123"/>
            <a:ext cx="2240280" cy="28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4"/>
              </a:lnSpc>
            </a:pPr>
            <a:r>
              <a:rPr sz="1600" b="1" i="0" spc="-5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£400k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56960" y="1762720"/>
            <a:ext cx="2621280" cy="4112300"/>
          </a:xfrm>
          <a:prstGeom prst="roundRect">
            <a:avLst>
              <a:gd name="adj" fmla="val 4069"/>
            </a:avLst>
          </a:prstGeom>
          <a:solidFill>
            <a:srgbClr val="09221F"/>
          </a:soli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362700" y="1960840"/>
            <a:ext cx="224028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Q2 2027 · APR – JUN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2159318"/>
            <a:ext cx="2240280" cy="198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</a:pPr>
            <a:r>
              <a:rPr sz="1100" b="1" i="0" spc="-1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Open the premium channel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2700" y="2418398"/>
            <a:ext cx="2240280" cy="25084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2400" indent="-152400">
              <a:lnSpc>
                <a:spcPts val="1439"/>
              </a:lnSpc>
              <a:spcAft>
                <a:spcPts val="540"/>
              </a:spcAft>
              <a:buClr>
                <a:srgbClr val="E8F2EC"/>
              </a:buClr>
              <a:buChar char="•"/>
            </a:pPr>
            <a:r>
              <a:rPr sz="900" b="0" i="0">
                <a:solidFill>
                  <a:srgbClr val="E8F2EC"/>
                </a:solidFill>
                <a:latin typeface="Manrope"/>
                <a:ea typeface="Manrope"/>
                <a:cs typeface="Manrope"/>
              </a:rPr>
              <a:t>Specification outbound at scale: architects and designers</a:t>
            </a:r>
          </a:p>
          <a:p>
            <a:pPr algn="l" marL="152400" indent="-152400">
              <a:lnSpc>
                <a:spcPts val="1439"/>
              </a:lnSpc>
              <a:spcAft>
                <a:spcPts val="540"/>
              </a:spcAft>
              <a:buClr>
                <a:srgbClr val="E8F2EC"/>
              </a:buClr>
              <a:buChar char="•"/>
            </a:pPr>
            <a:r>
              <a:rPr sz="900" b="0" i="0">
                <a:solidFill>
                  <a:srgbClr val="E8F2EC"/>
                </a:solidFill>
                <a:latin typeface="Manrope"/>
                <a:ea typeface="Manrope"/>
                <a:cs typeface="Manrope"/>
              </a:rPr>
              <a:t>CAD and detail drawings per profile</a:t>
            </a:r>
          </a:p>
          <a:p>
            <a:pPr algn="l" marL="152400" indent="-152400">
              <a:lnSpc>
                <a:spcPts val="1439"/>
              </a:lnSpc>
              <a:spcAft>
                <a:spcPts val="540"/>
              </a:spcAft>
              <a:buClr>
                <a:srgbClr val="E8F2EC"/>
              </a:buClr>
              <a:buChar char="•"/>
            </a:pPr>
            <a:r>
              <a:rPr sz="900" b="0" i="0">
                <a:solidFill>
                  <a:srgbClr val="E8F2EC"/>
                </a:solidFill>
                <a:latin typeface="Manrope"/>
                <a:ea typeface="Manrope"/>
                <a:cs typeface="Manrope"/>
              </a:rPr>
              <a:t>Builder content engine running monthly</a:t>
            </a:r>
          </a:p>
          <a:p>
            <a:pPr algn="l" marL="152400" indent="-152400">
              <a:lnSpc>
                <a:spcPts val="1439"/>
              </a:lnSpc>
              <a:spcAft>
                <a:spcPts val="540"/>
              </a:spcAft>
              <a:buClr>
                <a:srgbClr val="E8F2EC"/>
              </a:buClr>
              <a:buChar char="•"/>
            </a:pPr>
            <a:r>
              <a:rPr sz="900" b="0" i="0">
                <a:solidFill>
                  <a:srgbClr val="E8F2EC"/>
                </a:solidFill>
                <a:latin typeface="Manrope"/>
                <a:ea typeface="Manrope"/>
                <a:cs typeface="Manrope"/>
              </a:rPr>
              <a:t>Hardwood wave four: Contemporary, its own campaign</a:t>
            </a:r>
          </a:p>
          <a:p>
            <a:pPr algn="l" marL="152400" indent="-152400">
              <a:lnSpc>
                <a:spcPts val="1439"/>
              </a:lnSpc>
              <a:spcAft>
                <a:spcPts val="540"/>
              </a:spcAft>
              <a:buClr>
                <a:srgbClr val="E8F2EC"/>
              </a:buClr>
              <a:buChar char="•"/>
            </a:pPr>
            <a:r>
              <a:rPr sz="900" b="0" i="0">
                <a:solidFill>
                  <a:srgbClr val="E8F2EC"/>
                </a:solidFill>
                <a:latin typeface="Manrope"/>
                <a:ea typeface="Manrope"/>
                <a:cs typeface="Manrope"/>
              </a:rPr>
              <a:t>CRO programme on collection and product pages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362700" y="5037296"/>
            <a:ext cx="2209800" cy="0"/>
          </a:xfrm>
          <a:prstGeom prst="line">
            <a:avLst/>
          </a:prstGeom>
          <a:ln w="7620">
            <a:solidFill>
              <a:srgbClr val="FFFFFF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362700" y="5155406"/>
            <a:ext cx="224028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TARGET EXIT RUN 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700" y="5369123"/>
            <a:ext cx="2240280" cy="28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4"/>
              </a:lnSpc>
            </a:pPr>
            <a:r>
              <a:rPr sz="1600" b="1" i="0" spc="-5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£460k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00160" y="1762720"/>
            <a:ext cx="2621280" cy="4112300"/>
          </a:xfrm>
          <a:prstGeom prst="roundRect">
            <a:avLst>
              <a:gd name="adj" fmla="val 4069"/>
            </a:avLst>
          </a:prstGeom>
          <a:solidFill>
            <a:srgbClr val="09221F"/>
          </a:solidFill>
          <a:ln w="7620">
            <a:solidFill>
              <a:srgbClr val="8EFEBB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105900" y="1960840"/>
            <a:ext cx="224028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Q3 2027 · JUL – SEP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05900" y="2159318"/>
            <a:ext cx="2240280" cy="198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</a:pPr>
            <a:r>
              <a:rPr sz="1100" b="1" i="0" spc="-1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Scale what proved out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5900" y="2418398"/>
            <a:ext cx="2240280" cy="25084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2400" indent="-152400">
              <a:lnSpc>
                <a:spcPts val="1439"/>
              </a:lnSpc>
              <a:spcAft>
                <a:spcPts val="540"/>
              </a:spcAft>
              <a:buClr>
                <a:srgbClr val="E8F2EC"/>
              </a:buClr>
              <a:buChar char="•"/>
            </a:pPr>
            <a:r>
              <a:rPr sz="900" b="0" i="0">
                <a:solidFill>
                  <a:srgbClr val="E8F2EC"/>
                </a:solidFill>
                <a:latin typeface="Manrope"/>
                <a:ea typeface="Manrope"/>
                <a:cs typeface="Manrope"/>
              </a:rPr>
              <a:t>Double down on the two levers that beat their mid case</a:t>
            </a:r>
          </a:p>
          <a:p>
            <a:pPr algn="l" marL="152400" indent="-152400">
              <a:lnSpc>
                <a:spcPts val="1439"/>
              </a:lnSpc>
              <a:spcAft>
                <a:spcPts val="540"/>
              </a:spcAft>
              <a:buClr>
                <a:srgbClr val="E8F2EC"/>
              </a:buClr>
              <a:buChar char="•"/>
            </a:pPr>
            <a:r>
              <a:rPr sz="900" b="0" i="0">
                <a:solidFill>
                  <a:srgbClr val="E8F2EC"/>
                </a:solidFill>
                <a:latin typeface="Manrope"/>
                <a:ea typeface="Manrope"/>
                <a:cs typeface="Manrope"/>
              </a:rPr>
              <a:t>New profile ranges, Torus first — 5,200 searches a month against the lowest revenue of any major profile</a:t>
            </a:r>
          </a:p>
          <a:p>
            <a:pPr algn="l" marL="152400" indent="-152400">
              <a:lnSpc>
                <a:spcPts val="1439"/>
              </a:lnSpc>
              <a:spcAft>
                <a:spcPts val="540"/>
              </a:spcAft>
              <a:buClr>
                <a:srgbClr val="E8F2EC"/>
              </a:buClr>
              <a:buChar char="•"/>
            </a:pPr>
            <a:r>
              <a:rPr sz="900" b="0" i="0">
                <a:solidFill>
                  <a:srgbClr val="E8F2EC"/>
                </a:solidFill>
                <a:latin typeface="Manrope"/>
                <a:ea typeface="Manrope"/>
                <a:cs typeface="Manrope"/>
              </a:rPr>
              <a:t>Quote-to-order path for the £1,000+ job</a:t>
            </a:r>
          </a:p>
          <a:p>
            <a:pPr algn="l" marL="152400" indent="-152400">
              <a:lnSpc>
                <a:spcPts val="1439"/>
              </a:lnSpc>
              <a:spcAft>
                <a:spcPts val="540"/>
              </a:spcAft>
              <a:buClr>
                <a:srgbClr val="E8F2EC"/>
              </a:buClr>
              <a:buChar char="•"/>
            </a:pPr>
            <a:r>
              <a:rPr sz="900" b="0" i="0">
                <a:solidFill>
                  <a:srgbClr val="E8F2EC"/>
                </a:solidFill>
                <a:latin typeface="Manrope"/>
                <a:ea typeface="Manrope"/>
                <a:cs typeface="Manrope"/>
              </a:rPr>
              <a:t>Repeat-purchase and reactivation programme at scale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05900" y="5037296"/>
            <a:ext cx="2209800" cy="0"/>
          </a:xfrm>
          <a:prstGeom prst="line">
            <a:avLst/>
          </a:prstGeom>
          <a:ln w="7620">
            <a:solidFill>
              <a:srgbClr val="FFFFFF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105900" y="5155406"/>
            <a:ext cx="224028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3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TARGET EXIT RUN RATE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05900" y="5369123"/>
            <a:ext cx="2240280" cy="28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4"/>
              </a:lnSpc>
            </a:pPr>
            <a:r>
              <a:rPr sz="1600" b="1" i="0" spc="-50">
                <a:solidFill>
                  <a:srgbClr val="8EFEBB"/>
                </a:solidFill>
                <a:latin typeface="Manrope"/>
                <a:ea typeface="Manrope"/>
                <a:cs typeface="Manrope"/>
              </a:rPr>
              <a:t>£500k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0560" y="6027420"/>
            <a:ext cx="10881360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70"/>
              </a:lnSpc>
            </a:pPr>
            <a:r>
              <a:rPr sz="750" b="0" i="0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The 62% baseline trend reaches roughly £320k, £380k, £430k and £485k at these four points, arriving at £500k in October 2027. The targets above are set one quarter ahead of that curve — the plan's job is to buy a quarter of time and insure against deceleration.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70560" y="6389370"/>
            <a:ext cx="10850880" cy="0"/>
          </a:xfrm>
          <a:prstGeom prst="line">
            <a:avLst/>
          </a:prstGeom>
          <a:ln w="7620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5" name="Picture 34" descr="01-Agenda-sv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" y="6560820"/>
            <a:ext cx="129540" cy="1295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83920" y="6568440"/>
            <a:ext cx="174248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106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MR MOULDINGS × VENDO DIGITAL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09759" y="6568440"/>
            <a:ext cx="142161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650" b="1" i="0" spc="53">
                <a:solidFill>
                  <a:srgbClr val="6B7B74"/>
                </a:solidFill>
                <a:latin typeface="Manrope"/>
                <a:ea typeface="Manrope"/>
                <a:cs typeface="Manrope"/>
              </a:rPr>
              <a:t>55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